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Meu trabalho é o 07, sobre a NBR 16636-1 e as etapas iniciais do projeto. Para ficar fácil de acompanhar, vou tratar o projeto como uma corrida de revezamento, e o atleta dessa corrida é o meu TCC, o Centro Esportivo Arena Poty.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norma, em uma imagem: o projeto é um revezamento. Cada etapa responde uma pergunta simples e entrega um produto para a próxima. Hoje o foco são as etapas iniciais, do levantamento ao anteprojeto; as finais ficam para o Trabalho 08. A regra é não pular etapa: erro no começo vira retrabalho no fim.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atleta da nossa corrida é o Arena Poty: um centro esportivo em Teresina que junta esporte, lazer, saúde e cultura. São cerca de 14.762 m² de terreno, 10.936 m² de programa em 9 setores e três ruas no entorno. Vamos ver o que ele produziu em cada etapa.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Primeira perna: onde estou? É o levantamento de dados. A norma pede o topográfico cadastral, o físico, o arquitetônico, o fotográfico e a análise do entorno; na prática também entra a legislação. No TCC isso virou este mapa: três ruas, a trajetória do sol e os ventos predominantes de leste.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Ainda no levantamento: a legislação. Na ZOM-4, até 80% do terreno pode ser ocupado, pelo menos 7,5% tem que ficar permeável e o aproveitamento é 6, ou seja, posso construir até seis vezes a área do terreno. Conclusão: espaço sobra. O desafio real é o conforto térmico, e isso vai guiar o partido.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Segunda perna: o que preciso? É o programa de necessidades. O dado que mais chama atenção é que quase 70% do programa é ao ar livre: campo, pista, praças. Só 31% é edificado, cerca de 3.376 m², com o setor esportivo como o maior. Isso já diz que o projeto é, antes de tudo, um projeto de espaços abertos.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Terceira perna: qual é a ideia? O estudo preliminar tem três passos. O conceito: esporte como elemento de conexão. O partido: praça de acesso, pátios, relação com o rio e conforto passivo, que responde ao problema de clima visto no levantamento. E o dimensionamento prévio, que confere se tudo cabe: cabe com folga.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Os produtos gráficos do estudo preliminar no TCC são dois. O fluxograma mostra a praça central como o coração do projeto, distribuindo todos os setores. E o croqui de implantação mostra a ideia no terreno: praça de acesso na esquina, blocos ao longo da rua, pista de corrida contornando tudo, campo e quadras ao fundo.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Quarta perna: como fica de verdade? O anteprojeto pega a ideia e define tudo com medida. O volume esboçado vira volumetria definida, o fluxograma vira solução funcional com rotas acessíveis, as áreas estimadas viram plantas cotadas e o moodboard vira especificação de materiais. Esse é o bastão para o projeto legal, que é tema do Trabalho 08.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Para fechar, quatro perguntas: onde estou, o que preciso, qual é a ideia e como fica de verdade. São as quatro etapas iniciais da NBR 16636-1, e cada uma entregou um produto concreto no Arena Poty. Seguir essa ordem evita retrabalho e deixa o projeto claro para quem projeta, aprova e constrói. Obrigado.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BF9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074920"/>
            <a:ext cx="12191695" cy="1783080"/>
          </a:xfrm>
          <a:prstGeom prst="rect">
            <a:avLst/>
          </a:prstGeom>
          <a:solidFill>
            <a:srgbClr val="B85A40"/>
          </a:solidFill>
          <a:ln w="12700">
            <a:solidFill>
              <a:srgbClr val="B85A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520690"/>
            <a:ext cx="12191695" cy="0"/>
          </a:xfrm>
          <a:prstGeom prst="line">
            <a:avLst/>
          </a:prstGeom>
          <a:noFill/>
          <a:ln w="15875">
            <a:solidFill>
              <a:srgbClr val="FFFFFF">
                <a:alpha val="7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5966460"/>
            <a:ext cx="12191695" cy="0"/>
          </a:xfrm>
          <a:prstGeom prst="line">
            <a:avLst/>
          </a:prstGeom>
          <a:noFill/>
          <a:ln w="15875">
            <a:solidFill>
              <a:srgbClr val="FFFFFF">
                <a:alpha val="7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6412230"/>
            <a:ext cx="12191695" cy="0"/>
          </a:xfrm>
          <a:prstGeom prst="line">
            <a:avLst/>
          </a:prstGeom>
          <a:noFill/>
          <a:ln w="15875">
            <a:solidFill>
              <a:srgbClr val="FFFFFF">
                <a:alpha val="70000"/>
              </a:srgbClr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320040" y="5074920"/>
            <a:ext cx="731520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i="1" dirty="0">
                <a:solidFill>
                  <a:srgbClr val="FFFFFF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LV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320040" y="5520690"/>
            <a:ext cx="731520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i="1" dirty="0">
                <a:solidFill>
                  <a:srgbClr val="FFFFFF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PN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320040" y="5966460"/>
            <a:ext cx="731520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i="1" dirty="0">
                <a:solidFill>
                  <a:srgbClr val="FFFFFF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320040" y="6412230"/>
            <a:ext cx="731520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i="1" dirty="0">
                <a:solidFill>
                  <a:srgbClr val="FFFFFF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</a:t>
            </a:r>
            <a:endParaRPr lang="en-US" sz="1800" dirty="0"/>
          </a:p>
        </p:txBody>
      </p:sp>
      <p:pic>
        <p:nvPicPr>
          <p:cNvPr id="10" name="Image 0" descr="Atleta chutando bol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2514600"/>
            <a:ext cx="2743200" cy="3289945"/>
          </a:xfrm>
          <a:prstGeom prst="rect">
            <a:avLst/>
          </a:prstGeom>
        </p:spPr>
      </p:pic>
      <p:pic>
        <p:nvPicPr>
          <p:cNvPr id="11" name="Image 1" descr="Atleta sacand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64040" y="2103120"/>
            <a:ext cx="2240280" cy="3210343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3291840" y="50292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400" kern="0" dirty="0">
                <a:solidFill>
                  <a:srgbClr val="B057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TRABALHO 07  ·  NBR 16636-1</a:t>
            </a:r>
            <a:endParaRPr lang="en-US" sz="1400" dirty="0"/>
          </a:p>
        </p:txBody>
      </p:sp>
      <p:sp>
        <p:nvSpPr>
          <p:cNvPr id="13" name="Text 9"/>
          <p:cNvSpPr txBox="1"/>
          <p:nvPr/>
        </p:nvSpPr>
        <p:spPr>
          <a:xfrm>
            <a:off x="1463040" y="914400"/>
            <a:ext cx="92354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5400" b="1" i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TERRENO</a:t>
            </a:r>
            <a:endParaRPr lang="en-US" sz="54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5400" b="1" i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AO ANTEPROJETO</a:t>
            </a:r>
            <a:endParaRPr lang="en-US" sz="5400" dirty="0"/>
          </a:p>
        </p:txBody>
      </p:sp>
      <p:sp>
        <p:nvSpPr>
          <p:cNvPr id="14" name="Text 10"/>
          <p:cNvSpPr txBox="1"/>
          <p:nvPr/>
        </p:nvSpPr>
        <p:spPr>
          <a:xfrm>
            <a:off x="3429000" y="2788920"/>
            <a:ext cx="5303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etapas iniciais do projeto explicadas como uma corrida de revezamento, com o meu TCC, o Centro Esportivo Arena Poty, na pista.</a:t>
            </a:r>
            <a:endParaRPr lang="en-US" sz="1700" dirty="0"/>
          </a:p>
        </p:txBody>
      </p:sp>
      <p:sp>
        <p:nvSpPr>
          <p:cNvPr id="15" name="Text 11"/>
          <p:cNvSpPr txBox="1"/>
          <p:nvPr/>
        </p:nvSpPr>
        <p:spPr>
          <a:xfrm>
            <a:off x="3429000" y="3840480"/>
            <a:ext cx="5303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E6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Cláudio Castro de Oliveira Júnior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6E6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Arquitetura e Urbanismo  ·  Prof. Danilo Sérvio  · 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9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B057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NORMA EM UMA IMAGEM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8869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i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PROJETAR É UM REVEZAMENTO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72768"/>
            <a:ext cx="8503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NBR 16636-1 define as diretrizes e a terminologia dos serviços de projeto de arquitetura. Ela divide o trabalho em </a:t>
            </a:r>
            <a:pPr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etapas em sequência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Cada etapa entrega um produto, o </a:t>
            </a:r>
            <a:pPr indent="0" marL="0">
              <a:buNone/>
            </a:pPr>
            <a:r>
              <a:rPr lang="en-US" sz="1600" b="1" dirty="0">
                <a:solidFill>
                  <a:srgbClr val="B05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bastão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que a próxima usa como ponto de partida.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0" y="3063240"/>
            <a:ext cx="12191695" cy="1188720"/>
          </a:xfrm>
          <a:prstGeom prst="rect">
            <a:avLst/>
          </a:prstGeom>
          <a:solidFill>
            <a:srgbClr val="B85A40"/>
          </a:solidFill>
          <a:ln w="12700">
            <a:solidFill>
              <a:srgbClr val="B85A4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3657600"/>
            <a:ext cx="12191695" cy="0"/>
          </a:xfrm>
          <a:prstGeom prst="line">
            <a:avLst/>
          </a:prstGeom>
          <a:noFill/>
          <a:ln w="15875">
            <a:solidFill>
              <a:srgbClr val="FFFFFF">
                <a:alpha val="7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49808" y="3154680"/>
            <a:ext cx="1005840" cy="1005840"/>
          </a:xfrm>
          <a:prstGeom prst="ellipse">
            <a:avLst/>
          </a:prstGeom>
          <a:solidFill>
            <a:srgbClr val="1F2A44"/>
          </a:solidFill>
          <a:ln w="31750">
            <a:solidFill>
              <a:srgbClr val="FFFF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49808" y="315468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LV</a:t>
            </a:r>
            <a:endParaRPr lang="en-US" sz="2600" dirty="0"/>
          </a:p>
        </p:txBody>
      </p:sp>
      <p:sp>
        <p:nvSpPr>
          <p:cNvPr id="9" name="Text 7"/>
          <p:cNvSpPr txBox="1"/>
          <p:nvPr/>
        </p:nvSpPr>
        <p:spPr>
          <a:xfrm>
            <a:off x="502920" y="438912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Levantamento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502920" y="4709160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B05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Onde estou?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171700" y="3154680"/>
            <a:ext cx="1005840" cy="1005840"/>
          </a:xfrm>
          <a:prstGeom prst="ellipse">
            <a:avLst/>
          </a:prstGeom>
          <a:solidFill>
            <a:srgbClr val="1F2A44"/>
          </a:solidFill>
          <a:ln w="3175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171700" y="315468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PN</a:t>
            </a:r>
            <a:endParaRPr lang="en-US" sz="2600" dirty="0"/>
          </a:p>
        </p:txBody>
      </p:sp>
      <p:sp>
        <p:nvSpPr>
          <p:cNvPr id="13" name="Text 11"/>
          <p:cNvSpPr txBox="1"/>
          <p:nvPr/>
        </p:nvSpPr>
        <p:spPr>
          <a:xfrm>
            <a:off x="1924812" y="438912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Programa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1924812" y="4709160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B05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preciso?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593592" y="3154680"/>
            <a:ext cx="1005840" cy="1005840"/>
          </a:xfrm>
          <a:prstGeom prst="ellipse">
            <a:avLst/>
          </a:prstGeom>
          <a:solidFill>
            <a:srgbClr val="1F2A44"/>
          </a:solidFill>
          <a:ln w="3175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593592" y="315468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</a:t>
            </a:r>
            <a:endParaRPr lang="en-US" sz="2600" dirty="0"/>
          </a:p>
        </p:txBody>
      </p:sp>
      <p:sp>
        <p:nvSpPr>
          <p:cNvPr id="17" name="Text 15"/>
          <p:cNvSpPr txBox="1"/>
          <p:nvPr/>
        </p:nvSpPr>
        <p:spPr>
          <a:xfrm>
            <a:off x="3346704" y="438912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Viabilidade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3346704" y="4709160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B05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Dá para fazer?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015484" y="3154680"/>
            <a:ext cx="1005840" cy="1005840"/>
          </a:xfrm>
          <a:prstGeom prst="ellipse">
            <a:avLst/>
          </a:prstGeom>
          <a:solidFill>
            <a:srgbClr val="1F2A44"/>
          </a:solidFill>
          <a:ln w="3175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015484" y="315468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</a:t>
            </a:r>
            <a:endParaRPr lang="en-US" sz="2600" dirty="0"/>
          </a:p>
        </p:txBody>
      </p:sp>
      <p:sp>
        <p:nvSpPr>
          <p:cNvPr id="21" name="Text 19"/>
          <p:cNvSpPr txBox="1"/>
          <p:nvPr/>
        </p:nvSpPr>
        <p:spPr>
          <a:xfrm>
            <a:off x="4768596" y="438912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Estudo preliminar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4768596" y="4709160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B05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 é a ideia?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437376" y="3154680"/>
            <a:ext cx="1005840" cy="1005840"/>
          </a:xfrm>
          <a:prstGeom prst="ellipse">
            <a:avLst/>
          </a:prstGeom>
          <a:solidFill>
            <a:srgbClr val="1F2A44"/>
          </a:solidFill>
          <a:ln w="31750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437376" y="315468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</a:t>
            </a:r>
            <a:endParaRPr lang="en-US" sz="2600" dirty="0"/>
          </a:p>
        </p:txBody>
      </p:sp>
      <p:sp>
        <p:nvSpPr>
          <p:cNvPr id="25" name="Text 23"/>
          <p:cNvSpPr txBox="1"/>
          <p:nvPr/>
        </p:nvSpPr>
        <p:spPr>
          <a:xfrm>
            <a:off x="6190488" y="438912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Anteprojeto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6190488" y="4709160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B05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fica de verdade?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7859268" y="3154680"/>
            <a:ext cx="1005840" cy="1005840"/>
          </a:xfrm>
          <a:prstGeom prst="ellipse">
            <a:avLst/>
          </a:prstGeom>
          <a:solidFill>
            <a:srgbClr val="FBF9F1"/>
          </a:solidFill>
          <a:ln w="31750">
            <a:solidFill>
              <a:srgbClr val="FFFFFF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7859268" y="315468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i="1" dirty="0">
                <a:solidFill>
                  <a:srgbClr val="6E6A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</a:t>
            </a:r>
            <a:endParaRPr lang="en-US" sz="2600" dirty="0"/>
          </a:p>
        </p:txBody>
      </p:sp>
      <p:sp>
        <p:nvSpPr>
          <p:cNvPr id="29" name="Text 27"/>
          <p:cNvSpPr txBox="1"/>
          <p:nvPr/>
        </p:nvSpPr>
        <p:spPr>
          <a:xfrm>
            <a:off x="7612380" y="438912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E6A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Projeto legal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7612380" y="4709160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E6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prefeitura aprova?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9281160" y="3154680"/>
            <a:ext cx="1005840" cy="1005840"/>
          </a:xfrm>
          <a:prstGeom prst="ellipse">
            <a:avLst/>
          </a:prstGeom>
          <a:solidFill>
            <a:srgbClr val="FBF9F1"/>
          </a:solidFill>
          <a:ln w="31750">
            <a:solidFill>
              <a:srgbClr val="FFFFFF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9281160" y="315468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i="1" dirty="0">
                <a:solidFill>
                  <a:srgbClr val="6E6A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PB</a:t>
            </a:r>
            <a:endParaRPr lang="en-US" sz="2600" dirty="0"/>
          </a:p>
        </p:txBody>
      </p:sp>
      <p:sp>
        <p:nvSpPr>
          <p:cNvPr id="33" name="Text 31"/>
          <p:cNvSpPr txBox="1"/>
          <p:nvPr/>
        </p:nvSpPr>
        <p:spPr>
          <a:xfrm>
            <a:off x="9034272" y="438912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E6A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Projeto básico</a:t>
            </a:r>
            <a:endParaRPr lang="en-US" sz="1200" dirty="0"/>
          </a:p>
        </p:txBody>
      </p:sp>
      <p:sp>
        <p:nvSpPr>
          <p:cNvPr id="34" name="Text 32"/>
          <p:cNvSpPr txBox="1"/>
          <p:nvPr/>
        </p:nvSpPr>
        <p:spPr>
          <a:xfrm>
            <a:off x="9034272" y="4709160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E6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Quanto custa?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10703052" y="3154680"/>
            <a:ext cx="1005840" cy="1005840"/>
          </a:xfrm>
          <a:prstGeom prst="ellipse">
            <a:avLst/>
          </a:prstGeom>
          <a:solidFill>
            <a:srgbClr val="FBF9F1"/>
          </a:solidFill>
          <a:ln w="31750">
            <a:solidFill>
              <a:srgbClr val="FFFFFF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10703052" y="315468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i="1" dirty="0">
                <a:solidFill>
                  <a:srgbClr val="6E6A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</a:t>
            </a:r>
            <a:endParaRPr lang="en-US" sz="2600" dirty="0"/>
          </a:p>
        </p:txBody>
      </p:sp>
      <p:sp>
        <p:nvSpPr>
          <p:cNvPr id="37" name="Text 35"/>
          <p:cNvSpPr txBox="1"/>
          <p:nvPr/>
        </p:nvSpPr>
        <p:spPr>
          <a:xfrm>
            <a:off x="10456164" y="438912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E6A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Projeto executivo</a:t>
            </a:r>
            <a:endParaRPr lang="en-US" sz="1200" dirty="0"/>
          </a:p>
        </p:txBody>
      </p:sp>
      <p:sp>
        <p:nvSpPr>
          <p:cNvPr id="38" name="Text 36"/>
          <p:cNvSpPr txBox="1"/>
          <p:nvPr/>
        </p:nvSpPr>
        <p:spPr>
          <a:xfrm>
            <a:off x="10456164" y="4709160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E6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se constrói?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548640" y="2560320"/>
            <a:ext cx="7040880" cy="384048"/>
          </a:xfrm>
          <a:prstGeom prst="roundRect">
            <a:avLst>
              <a:gd name="adj" fmla="val 50000"/>
            </a:avLst>
          </a:prstGeom>
          <a:solidFill>
            <a:srgbClr val="E9CDB8"/>
          </a:solidFill>
          <a:ln w="12700">
            <a:solidFill>
              <a:srgbClr val="E9CDB8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548640" y="2560320"/>
            <a:ext cx="7040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ETAPAS INICIAIS: TEMA DE HOJE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7726680" y="2560320"/>
            <a:ext cx="3931920" cy="384048"/>
          </a:xfrm>
          <a:prstGeom prst="roundRect">
            <a:avLst>
              <a:gd name="adj" fmla="val 50000"/>
            </a:avLst>
          </a:prstGeom>
          <a:solidFill>
            <a:srgbClr val="FBF9F1"/>
          </a:solidFill>
          <a:ln w="12700">
            <a:solidFill>
              <a:srgbClr val="DDD6C6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7726680" y="2560320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6E6A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ETAPAS FINAIS: TRABALHO 08</a:t>
            </a:r>
            <a:endParaRPr lang="en-US" sz="1200" dirty="0"/>
          </a:p>
        </p:txBody>
      </p:sp>
      <p:pic>
        <p:nvPicPr>
          <p:cNvPr id="43" name="Image 0" descr="Atlet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0" y="320040"/>
            <a:ext cx="2103120" cy="2065305"/>
          </a:xfrm>
          <a:prstGeom prst="rect">
            <a:avLst/>
          </a:prstGeom>
        </p:spPr>
      </p:pic>
      <p:sp>
        <p:nvSpPr>
          <p:cNvPr id="44" name="Shape 41"/>
          <p:cNvSpPr/>
          <p:nvPr/>
        </p:nvSpPr>
        <p:spPr>
          <a:xfrm>
            <a:off x="548640" y="5486400"/>
            <a:ext cx="1106424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9525">
            <a:solidFill>
              <a:srgbClr val="DDD6C6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3000"/>
              </a:srgbClr>
            </a:outerShdw>
          </a:effectLst>
        </p:spPr>
      </p:sp>
      <p:sp>
        <p:nvSpPr>
          <p:cNvPr id="45" name="Text 42"/>
          <p:cNvSpPr txBox="1"/>
          <p:nvPr/>
        </p:nvSpPr>
        <p:spPr>
          <a:xfrm>
            <a:off x="822960" y="5486400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05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 da corrida: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ninguém larga antes de receber o bastão. Um erro no levantamento só aparece lá no executivo, quando corrigir já é retrabalho.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F2A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BFA5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ESTUDO DE CASO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NOSSO ATLETA: ARENA POTY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45920"/>
            <a:ext cx="6400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E8E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centro esportivo em Teresina – PI que junta esporte, lazer, saúde, cultura e convivência, aberto para a cidade por uma grande praça de acesso.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60604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200" b="1" i="1" dirty="0">
                <a:solidFill>
                  <a:srgbClr val="E9CD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14.762 m²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15468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FA5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terreno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3657600" y="260604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200" b="1" i="1" dirty="0">
                <a:solidFill>
                  <a:srgbClr val="E9CD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10.936 m²</a:t>
            </a:r>
            <a:endParaRPr lang="en-US" sz="3200" dirty="0"/>
          </a:p>
        </p:txBody>
      </p:sp>
      <p:sp>
        <p:nvSpPr>
          <p:cNvPr id="8" name="Text 6"/>
          <p:cNvSpPr txBox="1"/>
          <p:nvPr/>
        </p:nvSpPr>
        <p:spPr>
          <a:xfrm>
            <a:off x="3657600" y="315468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FA5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programa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356616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200" b="1" i="1" dirty="0">
                <a:solidFill>
                  <a:srgbClr val="E9CD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32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411480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FA5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setores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3657600" y="356616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200" b="1" i="1" dirty="0">
                <a:solidFill>
                  <a:srgbClr val="E9CD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3200" dirty="0"/>
          </a:p>
        </p:txBody>
      </p:sp>
      <p:sp>
        <p:nvSpPr>
          <p:cNvPr id="12" name="Text 10"/>
          <p:cNvSpPr txBox="1"/>
          <p:nvPr/>
        </p:nvSpPr>
        <p:spPr>
          <a:xfrm>
            <a:off x="3657600" y="411480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FA5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ruas em volta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457200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Tema: “Esporte como elemento de conexão”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5029200"/>
            <a:ext cx="4480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9CC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Nos próximos slides, o Arena Poty corre as 4 pernas iniciais da norma. Em cada uma mostro o bastão que o TCC produziu.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7223760" y="1691640"/>
            <a:ext cx="4434840" cy="4663440"/>
          </a:xfrm>
          <a:prstGeom prst="roundRect">
            <a:avLst>
              <a:gd name="adj" fmla="val 3093"/>
            </a:avLst>
          </a:prstGeom>
          <a:solidFill>
            <a:srgbClr val="F3E6DC"/>
          </a:solidFill>
          <a:ln w="12700">
            <a:solidFill>
              <a:srgbClr val="F3E6DC"/>
            </a:solidFill>
            <a:prstDash val="solid"/>
          </a:ln>
        </p:spPr>
      </p:sp>
      <p:pic>
        <p:nvPicPr>
          <p:cNvPr id="16" name="Image 0" descr="Croqui do Arena Poty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0" y="2651760"/>
            <a:ext cx="4251960" cy="2052520"/>
          </a:xfrm>
          <a:prstGeom prst="rect">
            <a:avLst/>
          </a:prstGeom>
        </p:spPr>
      </p:pic>
      <p:sp>
        <p:nvSpPr>
          <p:cNvPr id="17" name="Text 14"/>
          <p:cNvSpPr txBox="1"/>
          <p:nvPr/>
        </p:nvSpPr>
        <p:spPr>
          <a:xfrm>
            <a:off x="7223760" y="5806440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E6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Croqui de implantação do TCC</a:t>
            </a:r>
            <a:endParaRPr lang="en-US" sz="1200" dirty="0"/>
          </a:p>
        </p:txBody>
      </p:sp>
      <p:pic>
        <p:nvPicPr>
          <p:cNvPr id="18" name="Image 1" descr="Atlet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4920" y="4572000"/>
            <a:ext cx="2011680" cy="181310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9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B057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1ª PERNA  ·  LV-ARQ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8778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i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ONDE ESTOU?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72768"/>
            <a:ext cx="6309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de desenhar, conhecer o lugar. A norma pede estes levantamentos: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777240" cy="777240"/>
          </a:xfrm>
          <a:prstGeom prst="ellipse">
            <a:avLst/>
          </a:prstGeom>
          <a:solidFill>
            <a:srgbClr val="B0573F"/>
          </a:solidFill>
          <a:ln w="12700">
            <a:solidFill>
              <a:srgbClr val="B0573F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2304288"/>
            <a:ext cx="374904" cy="37490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463040" y="213055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Topográfico cadastral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1463040" y="249631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6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limites, medidas, níveis, vias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3749040" y="2103120"/>
            <a:ext cx="777240" cy="777240"/>
          </a:xfrm>
          <a:prstGeom prst="ellipse">
            <a:avLst/>
          </a:prstGeom>
          <a:solidFill>
            <a:srgbClr val="B0573F"/>
          </a:solidFill>
          <a:ln w="12700">
            <a:solidFill>
              <a:srgbClr val="B0573F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0208" y="2304288"/>
            <a:ext cx="374904" cy="374904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663440" y="213055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Físico / ambiental</a:t>
            </a:r>
            <a:endParaRPr lang="en-US" sz="1400" dirty="0"/>
          </a:p>
        </p:txBody>
      </p:sp>
      <p:sp>
        <p:nvSpPr>
          <p:cNvPr id="12" name="Text 8"/>
          <p:cNvSpPr txBox="1"/>
          <p:nvPr/>
        </p:nvSpPr>
        <p:spPr>
          <a:xfrm>
            <a:off x="4663440" y="249631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6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sol, ventos, solo, vegetação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548640" y="3246120"/>
            <a:ext cx="777240" cy="777240"/>
          </a:xfrm>
          <a:prstGeom prst="ellipse">
            <a:avLst/>
          </a:prstGeom>
          <a:solidFill>
            <a:srgbClr val="B0573F"/>
          </a:solidFill>
          <a:ln w="12700">
            <a:solidFill>
              <a:srgbClr val="B0573F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3447288"/>
            <a:ext cx="374904" cy="374904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1463040" y="327355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Arquitetônico</a:t>
            </a:r>
            <a:endParaRPr lang="en-US" sz="1400" dirty="0"/>
          </a:p>
        </p:txBody>
      </p:sp>
      <p:sp>
        <p:nvSpPr>
          <p:cNvPr id="16" name="Text 11"/>
          <p:cNvSpPr txBox="1"/>
          <p:nvPr/>
        </p:nvSpPr>
        <p:spPr>
          <a:xfrm>
            <a:off x="1463040" y="363931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6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já está construído</a:t>
            </a:r>
            <a:endParaRPr lang="en-US" sz="1300" dirty="0"/>
          </a:p>
        </p:txBody>
      </p:sp>
      <p:sp>
        <p:nvSpPr>
          <p:cNvPr id="17" name="Shape 12"/>
          <p:cNvSpPr/>
          <p:nvPr/>
        </p:nvSpPr>
        <p:spPr>
          <a:xfrm>
            <a:off x="3749040" y="3246120"/>
            <a:ext cx="777240" cy="777240"/>
          </a:xfrm>
          <a:prstGeom prst="ellipse">
            <a:avLst/>
          </a:prstGeom>
          <a:solidFill>
            <a:srgbClr val="B0573F"/>
          </a:solidFill>
          <a:ln w="12700">
            <a:solidFill>
              <a:srgbClr val="B0573F"/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50208" y="3447288"/>
            <a:ext cx="374904" cy="374904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4663440" y="327355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Fotográfico</a:t>
            </a:r>
            <a:endParaRPr lang="en-US" sz="1400" dirty="0"/>
          </a:p>
        </p:txBody>
      </p:sp>
      <p:sp>
        <p:nvSpPr>
          <p:cNvPr id="20" name="Text 14"/>
          <p:cNvSpPr txBox="1"/>
          <p:nvPr/>
        </p:nvSpPr>
        <p:spPr>
          <a:xfrm>
            <a:off x="4663440" y="363931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6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do lote e das visadas</a:t>
            </a:r>
            <a:endParaRPr lang="en-US" sz="1300" dirty="0"/>
          </a:p>
        </p:txBody>
      </p:sp>
      <p:sp>
        <p:nvSpPr>
          <p:cNvPr id="21" name="Shape 15"/>
          <p:cNvSpPr/>
          <p:nvPr/>
        </p:nvSpPr>
        <p:spPr>
          <a:xfrm>
            <a:off x="548640" y="4389120"/>
            <a:ext cx="777240" cy="777240"/>
          </a:xfrm>
          <a:prstGeom prst="ellipse">
            <a:avLst/>
          </a:prstGeom>
          <a:solidFill>
            <a:srgbClr val="B0573F"/>
          </a:solidFill>
          <a:ln w="12700">
            <a:solidFill>
              <a:srgbClr val="B0573F"/>
            </a:solidFill>
            <a:prstDash val="solid"/>
          </a:ln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9808" y="4590288"/>
            <a:ext cx="374904" cy="374904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1463040" y="441655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Entorno imediato</a:t>
            </a:r>
            <a:endParaRPr lang="en-US" sz="1400" dirty="0"/>
          </a:p>
        </p:txBody>
      </p:sp>
      <p:sp>
        <p:nvSpPr>
          <p:cNvPr id="24" name="Text 17"/>
          <p:cNvSpPr txBox="1"/>
          <p:nvPr/>
        </p:nvSpPr>
        <p:spPr>
          <a:xfrm>
            <a:off x="1463040" y="478231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6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vizinhos, fluxos, equipamentos</a:t>
            </a:r>
            <a:endParaRPr lang="en-US" sz="1300" dirty="0"/>
          </a:p>
        </p:txBody>
      </p:sp>
      <p:sp>
        <p:nvSpPr>
          <p:cNvPr id="25" name="Shape 18"/>
          <p:cNvSpPr/>
          <p:nvPr/>
        </p:nvSpPr>
        <p:spPr>
          <a:xfrm>
            <a:off x="3749040" y="4389120"/>
            <a:ext cx="777240" cy="777240"/>
          </a:xfrm>
          <a:prstGeom prst="ellipse">
            <a:avLst/>
          </a:prstGeom>
          <a:solidFill>
            <a:srgbClr val="B0573F"/>
          </a:solidFill>
          <a:ln w="12700">
            <a:solidFill>
              <a:srgbClr val="B0573F"/>
            </a:solidFill>
            <a:prstDash val="solid"/>
          </a:ln>
        </p:spPr>
      </p:sp>
      <p:pic>
        <p:nvPicPr>
          <p:cNvPr id="2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50208" y="4590288"/>
            <a:ext cx="374904" cy="374904"/>
          </a:xfrm>
          <a:prstGeom prst="rect">
            <a:avLst/>
          </a:prstGeom>
        </p:spPr>
      </p:pic>
      <p:sp>
        <p:nvSpPr>
          <p:cNvPr id="27" name="Text 19"/>
          <p:cNvSpPr txBox="1"/>
          <p:nvPr/>
        </p:nvSpPr>
        <p:spPr>
          <a:xfrm>
            <a:off x="4663440" y="441655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Legislação</a:t>
            </a:r>
            <a:endParaRPr lang="en-US" sz="1400" dirty="0"/>
          </a:p>
        </p:txBody>
      </p:sp>
      <p:sp>
        <p:nvSpPr>
          <p:cNvPr id="28" name="Text 20"/>
          <p:cNvSpPr txBox="1"/>
          <p:nvPr/>
        </p:nvSpPr>
        <p:spPr>
          <a:xfrm>
            <a:off x="4663440" y="478231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6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zona, índices, recuos</a:t>
            </a:r>
            <a:endParaRPr lang="en-US" sz="1300" dirty="0"/>
          </a:p>
        </p:txBody>
      </p:sp>
      <p:sp>
        <p:nvSpPr>
          <p:cNvPr id="29" name="Shape 21"/>
          <p:cNvSpPr/>
          <p:nvPr/>
        </p:nvSpPr>
        <p:spPr>
          <a:xfrm>
            <a:off x="7086600" y="411480"/>
            <a:ext cx="4572000" cy="507492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9525">
            <a:solidFill>
              <a:srgbClr val="DDD6C6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3000"/>
              </a:srgbClr>
            </a:outerShdw>
          </a:effectLst>
        </p:spPr>
      </p:sp>
      <p:pic>
        <p:nvPicPr>
          <p:cNvPr id="30" name="Image 6" descr="Mapa de condicionantes do TCC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7269480" y="548640"/>
            <a:ext cx="4206240" cy="4800600"/>
          </a:xfrm>
          <a:prstGeom prst="rect">
            <a:avLst/>
          </a:prstGeom>
        </p:spPr>
      </p:pic>
      <p:sp>
        <p:nvSpPr>
          <p:cNvPr id="31" name="Shape 22"/>
          <p:cNvSpPr/>
          <p:nvPr/>
        </p:nvSpPr>
        <p:spPr>
          <a:xfrm>
            <a:off x="9464040" y="4343400"/>
            <a:ext cx="2011680" cy="960120"/>
          </a:xfrm>
          <a:prstGeom prst="roundRect">
            <a:avLst>
              <a:gd name="adj" fmla="val 9524"/>
            </a:avLst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32" name="Text 23"/>
          <p:cNvSpPr txBox="1"/>
          <p:nvPr/>
        </p:nvSpPr>
        <p:spPr>
          <a:xfrm>
            <a:off x="9555480" y="4343400"/>
            <a:ext cx="1828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TCC: 3 frentes de rua, sol da tarde no lado maior, vento de leste</a:t>
            </a:r>
            <a:endParaRPr lang="en-US" sz="1100" dirty="0"/>
          </a:p>
        </p:txBody>
      </p:sp>
      <p:sp>
        <p:nvSpPr>
          <p:cNvPr id="33" name="Shape 24"/>
          <p:cNvSpPr/>
          <p:nvPr/>
        </p:nvSpPr>
        <p:spPr>
          <a:xfrm>
            <a:off x="548640" y="5669280"/>
            <a:ext cx="6309360" cy="438912"/>
          </a:xfrm>
          <a:prstGeom prst="roundRect">
            <a:avLst>
              <a:gd name="adj" fmla="val 50000"/>
            </a:avLst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34" name="Text 25"/>
          <p:cNvSpPr txBox="1"/>
          <p:nvPr/>
        </p:nvSpPr>
        <p:spPr>
          <a:xfrm>
            <a:off x="822960" y="5669280"/>
            <a:ext cx="5760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E9CD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BASTÃO PASSADO  ▸ 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mapa de condicionantes do terreno</a:t>
            </a:r>
            <a:endParaRPr lang="en-US" sz="1200" dirty="0"/>
          </a:p>
        </p:txBody>
      </p:sp>
      <p:sp>
        <p:nvSpPr>
          <p:cNvPr id="35" name="Shape 26"/>
          <p:cNvSpPr/>
          <p:nvPr/>
        </p:nvSpPr>
        <p:spPr>
          <a:xfrm>
            <a:off x="0" y="6263640"/>
            <a:ext cx="12191695" cy="594360"/>
          </a:xfrm>
          <a:prstGeom prst="rect">
            <a:avLst/>
          </a:prstGeom>
          <a:solidFill>
            <a:srgbClr val="B85A40"/>
          </a:solidFill>
          <a:ln w="12700">
            <a:solidFill>
              <a:srgbClr val="B85A40"/>
            </a:solidFill>
            <a:prstDash val="solid"/>
          </a:ln>
        </p:spPr>
      </p:sp>
      <p:sp>
        <p:nvSpPr>
          <p:cNvPr id="36" name="Shape 27"/>
          <p:cNvSpPr/>
          <p:nvPr/>
        </p:nvSpPr>
        <p:spPr>
          <a:xfrm>
            <a:off x="548640" y="6382512"/>
            <a:ext cx="365760" cy="365760"/>
          </a:xfrm>
          <a:prstGeom prst="ellipse">
            <a:avLst/>
          </a:prstGeom>
          <a:solidFill>
            <a:srgbClr val="1F2A44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7" name="Text 28"/>
          <p:cNvSpPr txBox="1"/>
          <p:nvPr/>
        </p:nvSpPr>
        <p:spPr>
          <a:xfrm>
            <a:off x="548640" y="63825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38" name="Text 29"/>
          <p:cNvSpPr txBox="1"/>
          <p:nvPr/>
        </p:nvSpPr>
        <p:spPr>
          <a:xfrm>
            <a:off x="1005840" y="6382512"/>
            <a:ext cx="22249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LV  ·  Onde estou?</a:t>
            </a:r>
            <a:endParaRPr lang="en-US" sz="1200" dirty="0"/>
          </a:p>
        </p:txBody>
      </p:sp>
      <p:sp>
        <p:nvSpPr>
          <p:cNvPr id="39" name="Shape 30"/>
          <p:cNvSpPr/>
          <p:nvPr/>
        </p:nvSpPr>
        <p:spPr>
          <a:xfrm>
            <a:off x="3322244" y="6382512"/>
            <a:ext cx="365760" cy="365760"/>
          </a:xfrm>
          <a:prstGeom prst="ellipse">
            <a:avLst/>
          </a:prstGeom>
          <a:solidFill>
            <a:srgbClr val="B85A4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0" name="Text 31"/>
          <p:cNvSpPr txBox="1"/>
          <p:nvPr/>
        </p:nvSpPr>
        <p:spPr>
          <a:xfrm>
            <a:off x="3322244" y="63825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41" name="Text 32"/>
          <p:cNvSpPr txBox="1"/>
          <p:nvPr/>
        </p:nvSpPr>
        <p:spPr>
          <a:xfrm>
            <a:off x="3779444" y="6382512"/>
            <a:ext cx="22249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>
                    <a:alpha val="7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PN  ·  O que preciso?</a:t>
            </a:r>
            <a:endParaRPr lang="en-US" sz="1200" dirty="0"/>
          </a:p>
        </p:txBody>
      </p:sp>
      <p:sp>
        <p:nvSpPr>
          <p:cNvPr id="42" name="Shape 33"/>
          <p:cNvSpPr/>
          <p:nvPr/>
        </p:nvSpPr>
        <p:spPr>
          <a:xfrm>
            <a:off x="6095848" y="6382512"/>
            <a:ext cx="365760" cy="365760"/>
          </a:xfrm>
          <a:prstGeom prst="ellipse">
            <a:avLst/>
          </a:prstGeom>
          <a:solidFill>
            <a:srgbClr val="B85A4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3" name="Text 34"/>
          <p:cNvSpPr txBox="1"/>
          <p:nvPr/>
        </p:nvSpPr>
        <p:spPr>
          <a:xfrm>
            <a:off x="6095848" y="63825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44" name="Text 35"/>
          <p:cNvSpPr txBox="1"/>
          <p:nvPr/>
        </p:nvSpPr>
        <p:spPr>
          <a:xfrm>
            <a:off x="6553048" y="6382512"/>
            <a:ext cx="22249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>
                    <a:alpha val="7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  ·  Qual é a ideia?</a:t>
            </a:r>
            <a:endParaRPr lang="en-US" sz="1200" dirty="0"/>
          </a:p>
        </p:txBody>
      </p:sp>
      <p:sp>
        <p:nvSpPr>
          <p:cNvPr id="45" name="Shape 36"/>
          <p:cNvSpPr/>
          <p:nvPr/>
        </p:nvSpPr>
        <p:spPr>
          <a:xfrm>
            <a:off x="8869451" y="6382512"/>
            <a:ext cx="365760" cy="365760"/>
          </a:xfrm>
          <a:prstGeom prst="ellipse">
            <a:avLst/>
          </a:prstGeom>
          <a:solidFill>
            <a:srgbClr val="B85A4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6" name="Text 37"/>
          <p:cNvSpPr txBox="1"/>
          <p:nvPr/>
        </p:nvSpPr>
        <p:spPr>
          <a:xfrm>
            <a:off x="8869451" y="63825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47" name="Text 38"/>
          <p:cNvSpPr txBox="1"/>
          <p:nvPr/>
        </p:nvSpPr>
        <p:spPr>
          <a:xfrm>
            <a:off x="9326651" y="6382512"/>
            <a:ext cx="22249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>
                    <a:alpha val="7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  ·  Como fica de verdade?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9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B057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1ª PERNA  ·  LV-ARQ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8778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i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A LEI DEIXA FAZER?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72768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legislação (zona ZOM-4) é parte do levantamento e já define os limites do jogo: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99339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Terreno: 14.762 m²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2377440"/>
            <a:ext cx="5559552" cy="914400"/>
          </a:xfrm>
          <a:prstGeom prst="rect">
            <a:avLst/>
          </a:prstGeom>
          <a:solidFill>
            <a:srgbClr val="B0573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108192" y="2377440"/>
            <a:ext cx="868680" cy="914400"/>
          </a:xfrm>
          <a:prstGeom prst="rect">
            <a:avLst/>
          </a:prstGeom>
          <a:solidFill>
            <a:srgbClr val="BFA58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976872" y="2377440"/>
            <a:ext cx="521208" cy="914400"/>
          </a:xfrm>
          <a:prstGeom prst="rect">
            <a:avLst/>
          </a:prstGeom>
          <a:solidFill>
            <a:srgbClr val="6B775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1520" y="2377440"/>
            <a:ext cx="52852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até 80% pode ser ocupado  ·  11.809 m²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4162349" y="3401568"/>
            <a:ext cx="3335731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6B77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7,5% </a:t>
            </a:r>
            <a:pPr algn="r"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mínimo tem que ser permeável: 1.107 m²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39776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Índice de aproveitamento 6,0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4389120"/>
            <a:ext cx="658368" cy="658368"/>
          </a:xfrm>
          <a:prstGeom prst="rect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325880" y="4389120"/>
            <a:ext cx="658368" cy="658368"/>
          </a:xfrm>
          <a:prstGeom prst="rect">
            <a:avLst/>
          </a:prstGeom>
          <a:solidFill>
            <a:srgbClr val="E9CDB8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103120" y="4389120"/>
            <a:ext cx="658368" cy="658368"/>
          </a:xfrm>
          <a:prstGeom prst="rect">
            <a:avLst/>
          </a:prstGeom>
          <a:solidFill>
            <a:srgbClr val="E9CDB8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880360" y="4389120"/>
            <a:ext cx="658368" cy="658368"/>
          </a:xfrm>
          <a:prstGeom prst="rect">
            <a:avLst/>
          </a:prstGeom>
          <a:solidFill>
            <a:srgbClr val="E9CDB8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657600" y="4389120"/>
            <a:ext cx="658368" cy="658368"/>
          </a:xfrm>
          <a:prstGeom prst="rect">
            <a:avLst/>
          </a:prstGeom>
          <a:solidFill>
            <a:srgbClr val="E9CDB8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434840" y="4389120"/>
            <a:ext cx="658368" cy="658368"/>
          </a:xfrm>
          <a:prstGeom prst="rect">
            <a:avLst/>
          </a:prstGeom>
          <a:solidFill>
            <a:srgbClr val="E9CDB8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303520" y="4389120"/>
            <a:ext cx="2377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até 6 vezes a área do terreno em área construída: 88.572 m²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55280" y="2011680"/>
            <a:ext cx="3703320" cy="2331720"/>
          </a:xfrm>
          <a:prstGeom prst="roundRect">
            <a:avLst>
              <a:gd name="adj" fmla="val 4706"/>
            </a:avLst>
          </a:prstGeom>
          <a:solidFill>
            <a:srgbClr val="1F2A44"/>
          </a:solidFill>
          <a:ln w="9525">
            <a:solidFill>
              <a:srgbClr val="DDD6C6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3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8183880" y="219456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9CD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Tradução para o projeto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8183880" y="2606040"/>
            <a:ext cx="32918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Há espaço de sobra: o gargalo não é a área, e sim a </a:t>
            </a:r>
            <a:pPr indent="0" marL="0">
              <a:buNone/>
            </a:pPr>
            <a:r>
              <a:rPr lang="en-US" sz="1400" b="1" dirty="0">
                <a:solidFill>
                  <a:srgbClr val="E9CD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insolação e a ventilação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400" dirty="0"/>
          </a:p>
          <a:p>
            <a:pPr indent="0" marL="0">
              <a:buNone/>
            </a:pPr>
            <a:r>
              <a:rPr lang="en-US" sz="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isso o partido vai investir em brises, cobogós, sombra e pátios.</a:t>
            </a:r>
            <a:endParaRPr lang="en-US" sz="1400" dirty="0"/>
          </a:p>
        </p:txBody>
      </p:sp>
      <p:pic>
        <p:nvPicPr>
          <p:cNvPr id="22" name="Image 0" descr="Atlet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04120" y="4434840"/>
            <a:ext cx="1554480" cy="1661223"/>
          </a:xfrm>
          <a:prstGeom prst="rect">
            <a:avLst/>
          </a:prstGeom>
        </p:spPr>
      </p:pic>
      <p:sp>
        <p:nvSpPr>
          <p:cNvPr id="23" name="Shape 20"/>
          <p:cNvSpPr/>
          <p:nvPr/>
        </p:nvSpPr>
        <p:spPr>
          <a:xfrm>
            <a:off x="548640" y="5669280"/>
            <a:ext cx="9326880" cy="438912"/>
          </a:xfrm>
          <a:prstGeom prst="roundRect">
            <a:avLst>
              <a:gd name="adj" fmla="val 50000"/>
            </a:avLst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822960" y="5669280"/>
            <a:ext cx="8778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E9CD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BASTÃO PASSADO  ▸ 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quanto ocupar, quanto construir e quanto deixar permeável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0" y="6263640"/>
            <a:ext cx="12191695" cy="594360"/>
          </a:xfrm>
          <a:prstGeom prst="rect">
            <a:avLst/>
          </a:prstGeom>
          <a:solidFill>
            <a:srgbClr val="B85A40"/>
          </a:solidFill>
          <a:ln w="12700">
            <a:solidFill>
              <a:srgbClr val="B85A40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548640" y="6382512"/>
            <a:ext cx="365760" cy="365760"/>
          </a:xfrm>
          <a:prstGeom prst="ellipse">
            <a:avLst/>
          </a:prstGeom>
          <a:solidFill>
            <a:srgbClr val="1F2A44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548640" y="63825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28" name="Text 25"/>
          <p:cNvSpPr txBox="1"/>
          <p:nvPr/>
        </p:nvSpPr>
        <p:spPr>
          <a:xfrm>
            <a:off x="1005840" y="6382512"/>
            <a:ext cx="22249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LV  ·  Onde estou?</a:t>
            </a:r>
            <a:endParaRPr lang="en-US" sz="1200" dirty="0"/>
          </a:p>
        </p:txBody>
      </p:sp>
      <p:sp>
        <p:nvSpPr>
          <p:cNvPr id="29" name="Shape 26"/>
          <p:cNvSpPr/>
          <p:nvPr/>
        </p:nvSpPr>
        <p:spPr>
          <a:xfrm>
            <a:off x="3322244" y="6382512"/>
            <a:ext cx="365760" cy="365760"/>
          </a:xfrm>
          <a:prstGeom prst="ellipse">
            <a:avLst/>
          </a:prstGeom>
          <a:solidFill>
            <a:srgbClr val="B85A4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3322244" y="63825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31" name="Text 28"/>
          <p:cNvSpPr txBox="1"/>
          <p:nvPr/>
        </p:nvSpPr>
        <p:spPr>
          <a:xfrm>
            <a:off x="3779444" y="6382512"/>
            <a:ext cx="22249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>
                    <a:alpha val="7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PN  ·  O que preciso?</a:t>
            </a:r>
            <a:endParaRPr lang="en-US" sz="1200" dirty="0"/>
          </a:p>
        </p:txBody>
      </p:sp>
      <p:sp>
        <p:nvSpPr>
          <p:cNvPr id="32" name="Shape 29"/>
          <p:cNvSpPr/>
          <p:nvPr/>
        </p:nvSpPr>
        <p:spPr>
          <a:xfrm>
            <a:off x="6095848" y="6382512"/>
            <a:ext cx="365760" cy="365760"/>
          </a:xfrm>
          <a:prstGeom prst="ellipse">
            <a:avLst/>
          </a:prstGeom>
          <a:solidFill>
            <a:srgbClr val="B85A4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6095848" y="63825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34" name="Text 31"/>
          <p:cNvSpPr txBox="1"/>
          <p:nvPr/>
        </p:nvSpPr>
        <p:spPr>
          <a:xfrm>
            <a:off x="6553048" y="6382512"/>
            <a:ext cx="22249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>
                    <a:alpha val="7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  ·  Qual é a ideia?</a:t>
            </a:r>
            <a:endParaRPr lang="en-US" sz="1200" dirty="0"/>
          </a:p>
        </p:txBody>
      </p:sp>
      <p:sp>
        <p:nvSpPr>
          <p:cNvPr id="35" name="Shape 32"/>
          <p:cNvSpPr/>
          <p:nvPr/>
        </p:nvSpPr>
        <p:spPr>
          <a:xfrm>
            <a:off x="8869451" y="6382512"/>
            <a:ext cx="365760" cy="365760"/>
          </a:xfrm>
          <a:prstGeom prst="ellipse">
            <a:avLst/>
          </a:prstGeom>
          <a:solidFill>
            <a:srgbClr val="B85A4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8869451" y="63825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37" name="Text 34"/>
          <p:cNvSpPr txBox="1"/>
          <p:nvPr/>
        </p:nvSpPr>
        <p:spPr>
          <a:xfrm>
            <a:off x="9326651" y="6382512"/>
            <a:ext cx="22249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>
                    <a:alpha val="7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  ·  Como fica de verdade?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9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B057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2ª PERNA  ·  PN-ARQ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8778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i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PRECISO?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72768"/>
            <a:ext cx="6583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programa de necessidades lista cada ambiente e sua área. No Arena Poty, 10.936 m² divididos assim: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377440"/>
            <a:ext cx="274320" cy="274320"/>
          </a:xfrm>
          <a:prstGeom prst="rect">
            <a:avLst/>
          </a:prstGeom>
          <a:solidFill>
            <a:srgbClr val="6B7751"/>
          </a:solidFill>
          <a:ln w="6350">
            <a:solidFill>
              <a:srgbClr val="6B775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68680" y="2377440"/>
            <a:ext cx="274320" cy="274320"/>
          </a:xfrm>
          <a:prstGeom prst="rect">
            <a:avLst/>
          </a:prstGeom>
          <a:solidFill>
            <a:srgbClr val="6B7751"/>
          </a:solidFill>
          <a:ln w="6350">
            <a:solidFill>
              <a:srgbClr val="6B775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88720" y="2377440"/>
            <a:ext cx="274320" cy="274320"/>
          </a:xfrm>
          <a:prstGeom prst="rect">
            <a:avLst/>
          </a:prstGeom>
          <a:solidFill>
            <a:srgbClr val="6B7751"/>
          </a:solidFill>
          <a:ln w="6350">
            <a:solidFill>
              <a:srgbClr val="6B775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508760" y="2377440"/>
            <a:ext cx="274320" cy="274320"/>
          </a:xfrm>
          <a:prstGeom prst="rect">
            <a:avLst/>
          </a:prstGeom>
          <a:solidFill>
            <a:srgbClr val="6B7751"/>
          </a:solidFill>
          <a:ln w="6350">
            <a:solidFill>
              <a:srgbClr val="6B775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828800" y="2377440"/>
            <a:ext cx="274320" cy="274320"/>
          </a:xfrm>
          <a:prstGeom prst="rect">
            <a:avLst/>
          </a:prstGeom>
          <a:solidFill>
            <a:srgbClr val="6B7751"/>
          </a:solidFill>
          <a:ln w="6350">
            <a:solidFill>
              <a:srgbClr val="6B775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148840" y="2377440"/>
            <a:ext cx="274320" cy="274320"/>
          </a:xfrm>
          <a:prstGeom prst="rect">
            <a:avLst/>
          </a:prstGeom>
          <a:solidFill>
            <a:srgbClr val="6B7751"/>
          </a:solidFill>
          <a:ln w="6350">
            <a:solidFill>
              <a:srgbClr val="6B775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468880" y="2377440"/>
            <a:ext cx="274320" cy="274320"/>
          </a:xfrm>
          <a:prstGeom prst="rect">
            <a:avLst/>
          </a:prstGeom>
          <a:solidFill>
            <a:srgbClr val="6B7751"/>
          </a:solidFill>
          <a:ln w="6350">
            <a:solidFill>
              <a:srgbClr val="6B775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788920" y="2377440"/>
            <a:ext cx="274320" cy="274320"/>
          </a:xfrm>
          <a:prstGeom prst="rect">
            <a:avLst/>
          </a:prstGeom>
          <a:solidFill>
            <a:srgbClr val="6B7751"/>
          </a:solidFill>
          <a:ln w="6350">
            <a:solidFill>
              <a:srgbClr val="6B775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108960" y="2377440"/>
            <a:ext cx="274320" cy="274320"/>
          </a:xfrm>
          <a:prstGeom prst="rect">
            <a:avLst/>
          </a:prstGeom>
          <a:solidFill>
            <a:srgbClr val="6B7751"/>
          </a:solidFill>
          <a:ln w="6350">
            <a:solidFill>
              <a:srgbClr val="6B775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429000" y="2377440"/>
            <a:ext cx="274320" cy="274320"/>
          </a:xfrm>
          <a:prstGeom prst="rect">
            <a:avLst/>
          </a:prstGeom>
          <a:solidFill>
            <a:srgbClr val="6B7751"/>
          </a:solidFill>
          <a:ln w="6350">
            <a:solidFill>
              <a:srgbClr val="6B775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48640" y="2697480"/>
            <a:ext cx="274320" cy="274320"/>
          </a:xfrm>
          <a:prstGeom prst="rect">
            <a:avLst/>
          </a:prstGeom>
          <a:solidFill>
            <a:srgbClr val="6B7751"/>
          </a:solidFill>
          <a:ln w="6350">
            <a:solidFill>
              <a:srgbClr val="6B775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68680" y="2697480"/>
            <a:ext cx="274320" cy="274320"/>
          </a:xfrm>
          <a:prstGeom prst="rect">
            <a:avLst/>
          </a:prstGeom>
          <a:solidFill>
            <a:srgbClr val="6B7751"/>
          </a:solidFill>
          <a:ln w="6350">
            <a:solidFill>
              <a:srgbClr val="6B775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188720" y="2697480"/>
            <a:ext cx="274320" cy="274320"/>
          </a:xfrm>
          <a:prstGeom prst="rect">
            <a:avLst/>
          </a:prstGeom>
          <a:solidFill>
            <a:srgbClr val="6B7751"/>
          </a:solidFill>
          <a:ln w="6350">
            <a:solidFill>
              <a:srgbClr val="6B775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508760" y="2697480"/>
            <a:ext cx="274320" cy="274320"/>
          </a:xfrm>
          <a:prstGeom prst="rect">
            <a:avLst/>
          </a:prstGeom>
          <a:solidFill>
            <a:srgbClr val="6B7751"/>
          </a:solidFill>
          <a:ln w="6350">
            <a:solidFill>
              <a:srgbClr val="6B775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828800" y="2697480"/>
            <a:ext cx="274320" cy="274320"/>
          </a:xfrm>
          <a:prstGeom prst="rect">
            <a:avLst/>
          </a:prstGeom>
          <a:solidFill>
            <a:srgbClr val="6B7751"/>
          </a:solidFill>
          <a:ln w="6350">
            <a:solidFill>
              <a:srgbClr val="6B775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148840" y="2697480"/>
            <a:ext cx="274320" cy="274320"/>
          </a:xfrm>
          <a:prstGeom prst="rect">
            <a:avLst/>
          </a:prstGeom>
          <a:solidFill>
            <a:srgbClr val="6B7751"/>
          </a:solidFill>
          <a:ln w="6350">
            <a:solidFill>
              <a:srgbClr val="6B775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468880" y="2697480"/>
            <a:ext cx="274320" cy="274320"/>
          </a:xfrm>
          <a:prstGeom prst="rect">
            <a:avLst/>
          </a:prstGeom>
          <a:solidFill>
            <a:srgbClr val="6B7751"/>
          </a:solidFill>
          <a:ln w="6350">
            <a:solidFill>
              <a:srgbClr val="6B775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88920" y="2697480"/>
            <a:ext cx="274320" cy="274320"/>
          </a:xfrm>
          <a:prstGeom prst="rect">
            <a:avLst/>
          </a:prstGeom>
          <a:solidFill>
            <a:srgbClr val="6B7751"/>
          </a:solidFill>
          <a:ln w="6350">
            <a:solidFill>
              <a:srgbClr val="6B7751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108960" y="2697480"/>
            <a:ext cx="274320" cy="274320"/>
          </a:xfrm>
          <a:prstGeom prst="rect">
            <a:avLst/>
          </a:prstGeom>
          <a:solidFill>
            <a:srgbClr val="6B7751"/>
          </a:solidFill>
          <a:ln w="6350">
            <a:solidFill>
              <a:srgbClr val="6B775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429000" y="2697480"/>
            <a:ext cx="274320" cy="274320"/>
          </a:xfrm>
          <a:prstGeom prst="rect">
            <a:avLst/>
          </a:prstGeom>
          <a:solidFill>
            <a:srgbClr val="6B7751"/>
          </a:solidFill>
          <a:ln w="6350">
            <a:solidFill>
              <a:srgbClr val="6B775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48640" y="3017520"/>
            <a:ext cx="274320" cy="274320"/>
          </a:xfrm>
          <a:prstGeom prst="rect">
            <a:avLst/>
          </a:prstGeom>
          <a:solidFill>
            <a:srgbClr val="6B7751"/>
          </a:solidFill>
          <a:ln w="6350">
            <a:solidFill>
              <a:srgbClr val="6B775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68680" y="3017520"/>
            <a:ext cx="274320" cy="274320"/>
          </a:xfrm>
          <a:prstGeom prst="rect">
            <a:avLst/>
          </a:prstGeom>
          <a:solidFill>
            <a:srgbClr val="6B7751"/>
          </a:solidFill>
          <a:ln w="6350">
            <a:solidFill>
              <a:srgbClr val="6B775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188720" y="3017520"/>
            <a:ext cx="274320" cy="274320"/>
          </a:xfrm>
          <a:prstGeom prst="rect">
            <a:avLst/>
          </a:prstGeom>
          <a:solidFill>
            <a:srgbClr val="6B7751"/>
          </a:solidFill>
          <a:ln w="6350">
            <a:solidFill>
              <a:srgbClr val="6B7751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508760" y="3017520"/>
            <a:ext cx="274320" cy="274320"/>
          </a:xfrm>
          <a:prstGeom prst="rect">
            <a:avLst/>
          </a:prstGeom>
          <a:solidFill>
            <a:srgbClr val="6B7751"/>
          </a:solidFill>
          <a:ln w="6350">
            <a:solidFill>
              <a:srgbClr val="6B775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828800" y="3017520"/>
            <a:ext cx="274320" cy="274320"/>
          </a:xfrm>
          <a:prstGeom prst="rect">
            <a:avLst/>
          </a:prstGeom>
          <a:solidFill>
            <a:srgbClr val="6B7751"/>
          </a:solidFill>
          <a:ln w="6350">
            <a:solidFill>
              <a:srgbClr val="6B775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148840" y="3017520"/>
            <a:ext cx="274320" cy="274320"/>
          </a:xfrm>
          <a:prstGeom prst="rect">
            <a:avLst/>
          </a:prstGeom>
          <a:solidFill>
            <a:srgbClr val="6B7751"/>
          </a:solidFill>
          <a:ln w="6350">
            <a:solidFill>
              <a:srgbClr val="6B7751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468880" y="3017520"/>
            <a:ext cx="274320" cy="274320"/>
          </a:xfrm>
          <a:prstGeom prst="rect">
            <a:avLst/>
          </a:prstGeom>
          <a:solidFill>
            <a:srgbClr val="6B7751"/>
          </a:solidFill>
          <a:ln w="6350">
            <a:solidFill>
              <a:srgbClr val="6B775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788920" y="3017520"/>
            <a:ext cx="274320" cy="274320"/>
          </a:xfrm>
          <a:prstGeom prst="rect">
            <a:avLst/>
          </a:prstGeom>
          <a:solidFill>
            <a:srgbClr val="6B7751"/>
          </a:solidFill>
          <a:ln w="6350">
            <a:solidFill>
              <a:srgbClr val="6B7751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108960" y="3017520"/>
            <a:ext cx="274320" cy="274320"/>
          </a:xfrm>
          <a:prstGeom prst="rect">
            <a:avLst/>
          </a:prstGeom>
          <a:solidFill>
            <a:srgbClr val="6B7751"/>
          </a:solidFill>
          <a:ln w="6350">
            <a:solidFill>
              <a:srgbClr val="6B7751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429000" y="3017520"/>
            <a:ext cx="274320" cy="274320"/>
          </a:xfrm>
          <a:prstGeom prst="rect">
            <a:avLst/>
          </a:prstGeom>
          <a:solidFill>
            <a:srgbClr val="6B7751"/>
          </a:solidFill>
          <a:ln w="6350">
            <a:solidFill>
              <a:srgbClr val="6B7751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48640" y="3337560"/>
            <a:ext cx="274320" cy="274320"/>
          </a:xfrm>
          <a:prstGeom prst="rect">
            <a:avLst/>
          </a:prstGeom>
          <a:solidFill>
            <a:srgbClr val="6B7751"/>
          </a:solidFill>
          <a:ln w="6350">
            <a:solidFill>
              <a:srgbClr val="6B7751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68680" y="3337560"/>
            <a:ext cx="274320" cy="274320"/>
          </a:xfrm>
          <a:prstGeom prst="rect">
            <a:avLst/>
          </a:prstGeom>
          <a:solidFill>
            <a:srgbClr val="6B7751"/>
          </a:solidFill>
          <a:ln w="6350">
            <a:solidFill>
              <a:srgbClr val="6B7751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188720" y="3337560"/>
            <a:ext cx="274320" cy="274320"/>
          </a:xfrm>
          <a:prstGeom prst="rect">
            <a:avLst/>
          </a:prstGeom>
          <a:solidFill>
            <a:srgbClr val="6B7751"/>
          </a:solidFill>
          <a:ln w="6350">
            <a:solidFill>
              <a:srgbClr val="6B7751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508760" y="3337560"/>
            <a:ext cx="274320" cy="274320"/>
          </a:xfrm>
          <a:prstGeom prst="rect">
            <a:avLst/>
          </a:prstGeom>
          <a:solidFill>
            <a:srgbClr val="6B7751"/>
          </a:solidFill>
          <a:ln w="6350">
            <a:solidFill>
              <a:srgbClr val="6B7751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828800" y="3337560"/>
            <a:ext cx="274320" cy="274320"/>
          </a:xfrm>
          <a:prstGeom prst="rect">
            <a:avLst/>
          </a:prstGeom>
          <a:solidFill>
            <a:srgbClr val="6B7751"/>
          </a:solidFill>
          <a:ln w="6350">
            <a:solidFill>
              <a:srgbClr val="6B7751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148840" y="3337560"/>
            <a:ext cx="274320" cy="274320"/>
          </a:xfrm>
          <a:prstGeom prst="rect">
            <a:avLst/>
          </a:prstGeom>
          <a:solidFill>
            <a:srgbClr val="6B7751"/>
          </a:solidFill>
          <a:ln w="6350">
            <a:solidFill>
              <a:srgbClr val="6B7751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2468880" y="3337560"/>
            <a:ext cx="274320" cy="274320"/>
          </a:xfrm>
          <a:prstGeom prst="rect">
            <a:avLst/>
          </a:prstGeom>
          <a:solidFill>
            <a:srgbClr val="6B7751"/>
          </a:solidFill>
          <a:ln w="6350">
            <a:solidFill>
              <a:srgbClr val="6B7751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2788920" y="3337560"/>
            <a:ext cx="274320" cy="274320"/>
          </a:xfrm>
          <a:prstGeom prst="rect">
            <a:avLst/>
          </a:prstGeom>
          <a:solidFill>
            <a:srgbClr val="6B7751"/>
          </a:solidFill>
          <a:ln w="6350">
            <a:solidFill>
              <a:srgbClr val="6B7751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3108960" y="3337560"/>
            <a:ext cx="274320" cy="274320"/>
          </a:xfrm>
          <a:prstGeom prst="rect">
            <a:avLst/>
          </a:prstGeom>
          <a:solidFill>
            <a:srgbClr val="6B7751"/>
          </a:solidFill>
          <a:ln w="6350">
            <a:solidFill>
              <a:srgbClr val="6B7751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429000" y="3337560"/>
            <a:ext cx="274320" cy="274320"/>
          </a:xfrm>
          <a:prstGeom prst="rect">
            <a:avLst/>
          </a:prstGeom>
          <a:solidFill>
            <a:srgbClr val="6B7751"/>
          </a:solidFill>
          <a:ln w="6350">
            <a:solidFill>
              <a:srgbClr val="6B7751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548640" y="3657600"/>
            <a:ext cx="274320" cy="274320"/>
          </a:xfrm>
          <a:prstGeom prst="rect">
            <a:avLst/>
          </a:prstGeom>
          <a:solidFill>
            <a:srgbClr val="6B7751"/>
          </a:solidFill>
          <a:ln w="6350">
            <a:solidFill>
              <a:srgbClr val="6B7751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68680" y="3657600"/>
            <a:ext cx="274320" cy="274320"/>
          </a:xfrm>
          <a:prstGeom prst="rect">
            <a:avLst/>
          </a:prstGeom>
          <a:solidFill>
            <a:srgbClr val="6B7751"/>
          </a:solidFill>
          <a:ln w="6350">
            <a:solidFill>
              <a:srgbClr val="6B7751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1188720" y="3657600"/>
            <a:ext cx="274320" cy="274320"/>
          </a:xfrm>
          <a:prstGeom prst="rect">
            <a:avLst/>
          </a:prstGeom>
          <a:solidFill>
            <a:srgbClr val="6B7751"/>
          </a:solidFill>
          <a:ln w="6350">
            <a:solidFill>
              <a:srgbClr val="6B7751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508760" y="3657600"/>
            <a:ext cx="274320" cy="274320"/>
          </a:xfrm>
          <a:prstGeom prst="rect">
            <a:avLst/>
          </a:prstGeom>
          <a:solidFill>
            <a:srgbClr val="6B7751"/>
          </a:solidFill>
          <a:ln w="6350">
            <a:solidFill>
              <a:srgbClr val="6B7751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1828800" y="3657600"/>
            <a:ext cx="274320" cy="274320"/>
          </a:xfrm>
          <a:prstGeom prst="rect">
            <a:avLst/>
          </a:prstGeom>
          <a:solidFill>
            <a:srgbClr val="6B7751"/>
          </a:solidFill>
          <a:ln w="6350">
            <a:solidFill>
              <a:srgbClr val="6B7751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2148840" y="3657600"/>
            <a:ext cx="274320" cy="274320"/>
          </a:xfrm>
          <a:prstGeom prst="rect">
            <a:avLst/>
          </a:prstGeom>
          <a:solidFill>
            <a:srgbClr val="6B7751"/>
          </a:solidFill>
          <a:ln w="6350">
            <a:solidFill>
              <a:srgbClr val="6B7751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2468880" y="3657600"/>
            <a:ext cx="274320" cy="274320"/>
          </a:xfrm>
          <a:prstGeom prst="rect">
            <a:avLst/>
          </a:prstGeom>
          <a:solidFill>
            <a:srgbClr val="6B7751"/>
          </a:solidFill>
          <a:ln w="6350">
            <a:solidFill>
              <a:srgbClr val="6B7751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2788920" y="3657600"/>
            <a:ext cx="274320" cy="274320"/>
          </a:xfrm>
          <a:prstGeom prst="rect">
            <a:avLst/>
          </a:prstGeom>
          <a:solidFill>
            <a:srgbClr val="6B7751"/>
          </a:solidFill>
          <a:ln w="6350">
            <a:solidFill>
              <a:srgbClr val="6B7751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3108960" y="3657600"/>
            <a:ext cx="274320" cy="274320"/>
          </a:xfrm>
          <a:prstGeom prst="rect">
            <a:avLst/>
          </a:prstGeom>
          <a:solidFill>
            <a:srgbClr val="6B7751"/>
          </a:solidFill>
          <a:ln w="6350">
            <a:solidFill>
              <a:srgbClr val="6B7751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3429000" y="3657600"/>
            <a:ext cx="274320" cy="274320"/>
          </a:xfrm>
          <a:prstGeom prst="rect">
            <a:avLst/>
          </a:prstGeom>
          <a:solidFill>
            <a:srgbClr val="6B7751"/>
          </a:solidFill>
          <a:ln w="6350">
            <a:solidFill>
              <a:srgbClr val="6B7751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548640" y="3977640"/>
            <a:ext cx="274320" cy="274320"/>
          </a:xfrm>
          <a:prstGeom prst="rect">
            <a:avLst/>
          </a:prstGeom>
          <a:solidFill>
            <a:srgbClr val="6B7751"/>
          </a:solidFill>
          <a:ln w="6350">
            <a:solidFill>
              <a:srgbClr val="6B7751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868680" y="3977640"/>
            <a:ext cx="274320" cy="274320"/>
          </a:xfrm>
          <a:prstGeom prst="rect">
            <a:avLst/>
          </a:prstGeom>
          <a:solidFill>
            <a:srgbClr val="6B7751"/>
          </a:solidFill>
          <a:ln w="6350">
            <a:solidFill>
              <a:srgbClr val="6B7751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188720" y="3977640"/>
            <a:ext cx="274320" cy="274320"/>
          </a:xfrm>
          <a:prstGeom prst="rect">
            <a:avLst/>
          </a:prstGeom>
          <a:solidFill>
            <a:srgbClr val="6B7751"/>
          </a:solidFill>
          <a:ln w="6350">
            <a:solidFill>
              <a:srgbClr val="6B7751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1508760" y="3977640"/>
            <a:ext cx="274320" cy="274320"/>
          </a:xfrm>
          <a:prstGeom prst="rect">
            <a:avLst/>
          </a:prstGeom>
          <a:solidFill>
            <a:srgbClr val="6B7751"/>
          </a:solidFill>
          <a:ln w="6350">
            <a:solidFill>
              <a:srgbClr val="6B7751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1828800" y="3977640"/>
            <a:ext cx="274320" cy="274320"/>
          </a:xfrm>
          <a:prstGeom prst="rect">
            <a:avLst/>
          </a:prstGeom>
          <a:solidFill>
            <a:srgbClr val="6B7751"/>
          </a:solidFill>
          <a:ln w="6350">
            <a:solidFill>
              <a:srgbClr val="6B7751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2148840" y="3977640"/>
            <a:ext cx="274320" cy="274320"/>
          </a:xfrm>
          <a:prstGeom prst="rect">
            <a:avLst/>
          </a:prstGeom>
          <a:solidFill>
            <a:srgbClr val="6B7751"/>
          </a:solidFill>
          <a:ln w="6350">
            <a:solidFill>
              <a:srgbClr val="6B7751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2468880" y="3977640"/>
            <a:ext cx="274320" cy="274320"/>
          </a:xfrm>
          <a:prstGeom prst="rect">
            <a:avLst/>
          </a:prstGeom>
          <a:solidFill>
            <a:srgbClr val="6B7751"/>
          </a:solidFill>
          <a:ln w="6350">
            <a:solidFill>
              <a:srgbClr val="6B7751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2788920" y="3977640"/>
            <a:ext cx="274320" cy="274320"/>
          </a:xfrm>
          <a:prstGeom prst="rect">
            <a:avLst/>
          </a:prstGeom>
          <a:solidFill>
            <a:srgbClr val="6B7751"/>
          </a:solidFill>
          <a:ln w="6350">
            <a:solidFill>
              <a:srgbClr val="6B7751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3108960" y="3977640"/>
            <a:ext cx="274320" cy="274320"/>
          </a:xfrm>
          <a:prstGeom prst="rect">
            <a:avLst/>
          </a:prstGeom>
          <a:solidFill>
            <a:srgbClr val="6B7751"/>
          </a:solidFill>
          <a:ln w="6350">
            <a:solidFill>
              <a:srgbClr val="6B7751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3429000" y="3977640"/>
            <a:ext cx="274320" cy="274320"/>
          </a:xfrm>
          <a:prstGeom prst="rect">
            <a:avLst/>
          </a:prstGeom>
          <a:solidFill>
            <a:srgbClr val="6B7751"/>
          </a:solidFill>
          <a:ln w="6350">
            <a:solidFill>
              <a:srgbClr val="6B7751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548640" y="4297680"/>
            <a:ext cx="274320" cy="274320"/>
          </a:xfrm>
          <a:prstGeom prst="rect">
            <a:avLst/>
          </a:prstGeom>
          <a:solidFill>
            <a:srgbClr val="6B7751"/>
          </a:solidFill>
          <a:ln w="6350">
            <a:solidFill>
              <a:srgbClr val="6B7751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868680" y="4297680"/>
            <a:ext cx="274320" cy="274320"/>
          </a:xfrm>
          <a:prstGeom prst="rect">
            <a:avLst/>
          </a:prstGeom>
          <a:solidFill>
            <a:srgbClr val="6B7751"/>
          </a:solidFill>
          <a:ln w="6350">
            <a:solidFill>
              <a:srgbClr val="6B7751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1188720" y="4297680"/>
            <a:ext cx="274320" cy="274320"/>
          </a:xfrm>
          <a:prstGeom prst="rect">
            <a:avLst/>
          </a:prstGeom>
          <a:solidFill>
            <a:srgbClr val="6B7751"/>
          </a:solidFill>
          <a:ln w="6350">
            <a:solidFill>
              <a:srgbClr val="6B7751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1508760" y="4297680"/>
            <a:ext cx="274320" cy="274320"/>
          </a:xfrm>
          <a:prstGeom prst="rect">
            <a:avLst/>
          </a:prstGeom>
          <a:solidFill>
            <a:srgbClr val="6B7751"/>
          </a:solidFill>
          <a:ln w="6350">
            <a:solidFill>
              <a:srgbClr val="6B7751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1828800" y="4297680"/>
            <a:ext cx="274320" cy="274320"/>
          </a:xfrm>
          <a:prstGeom prst="rect">
            <a:avLst/>
          </a:prstGeom>
          <a:solidFill>
            <a:srgbClr val="6B7751"/>
          </a:solidFill>
          <a:ln w="6350">
            <a:solidFill>
              <a:srgbClr val="6B7751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2148840" y="4297680"/>
            <a:ext cx="274320" cy="274320"/>
          </a:xfrm>
          <a:prstGeom prst="rect">
            <a:avLst/>
          </a:prstGeom>
          <a:solidFill>
            <a:srgbClr val="6B7751"/>
          </a:solidFill>
          <a:ln w="6350">
            <a:solidFill>
              <a:srgbClr val="6B7751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2468880" y="4297680"/>
            <a:ext cx="274320" cy="274320"/>
          </a:xfrm>
          <a:prstGeom prst="rect">
            <a:avLst/>
          </a:prstGeom>
          <a:solidFill>
            <a:srgbClr val="6B7751"/>
          </a:solidFill>
          <a:ln w="6350">
            <a:solidFill>
              <a:srgbClr val="6B7751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2788920" y="4297680"/>
            <a:ext cx="274320" cy="274320"/>
          </a:xfrm>
          <a:prstGeom prst="rect">
            <a:avLst/>
          </a:prstGeom>
          <a:solidFill>
            <a:srgbClr val="6B7751"/>
          </a:solidFill>
          <a:ln w="6350">
            <a:solidFill>
              <a:srgbClr val="6B7751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3108960" y="4297680"/>
            <a:ext cx="274320" cy="274320"/>
          </a:xfrm>
          <a:prstGeom prst="rect">
            <a:avLst/>
          </a:prstGeom>
          <a:solidFill>
            <a:srgbClr val="6B7751"/>
          </a:solidFill>
          <a:ln w="6350">
            <a:solidFill>
              <a:srgbClr val="6B7751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3429000" y="4297680"/>
            <a:ext cx="274320" cy="274320"/>
          </a:xfrm>
          <a:prstGeom prst="rect">
            <a:avLst/>
          </a:prstGeom>
          <a:solidFill>
            <a:srgbClr val="B0573F"/>
          </a:solidFill>
          <a:ln w="6350">
            <a:solidFill>
              <a:srgbClr val="B0573F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548640" y="4617720"/>
            <a:ext cx="274320" cy="274320"/>
          </a:xfrm>
          <a:prstGeom prst="rect">
            <a:avLst/>
          </a:prstGeom>
          <a:solidFill>
            <a:srgbClr val="B0573F"/>
          </a:solidFill>
          <a:ln w="6350">
            <a:solidFill>
              <a:srgbClr val="B0573F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868680" y="4617720"/>
            <a:ext cx="274320" cy="274320"/>
          </a:xfrm>
          <a:prstGeom prst="rect">
            <a:avLst/>
          </a:prstGeom>
          <a:solidFill>
            <a:srgbClr val="B0573F"/>
          </a:solidFill>
          <a:ln w="6350">
            <a:solidFill>
              <a:srgbClr val="B0573F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1188720" y="4617720"/>
            <a:ext cx="274320" cy="274320"/>
          </a:xfrm>
          <a:prstGeom prst="rect">
            <a:avLst/>
          </a:prstGeom>
          <a:solidFill>
            <a:srgbClr val="B0573F"/>
          </a:solidFill>
          <a:ln w="6350">
            <a:solidFill>
              <a:srgbClr val="B0573F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1508760" y="4617720"/>
            <a:ext cx="274320" cy="274320"/>
          </a:xfrm>
          <a:prstGeom prst="rect">
            <a:avLst/>
          </a:prstGeom>
          <a:solidFill>
            <a:srgbClr val="B0573F"/>
          </a:solidFill>
          <a:ln w="6350">
            <a:solidFill>
              <a:srgbClr val="B0573F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1828800" y="4617720"/>
            <a:ext cx="274320" cy="274320"/>
          </a:xfrm>
          <a:prstGeom prst="rect">
            <a:avLst/>
          </a:prstGeom>
          <a:solidFill>
            <a:srgbClr val="B0573F"/>
          </a:solidFill>
          <a:ln w="6350">
            <a:solidFill>
              <a:srgbClr val="B0573F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2148840" y="4617720"/>
            <a:ext cx="274320" cy="274320"/>
          </a:xfrm>
          <a:prstGeom prst="rect">
            <a:avLst/>
          </a:prstGeom>
          <a:solidFill>
            <a:srgbClr val="B0573F"/>
          </a:solidFill>
          <a:ln w="6350">
            <a:solidFill>
              <a:srgbClr val="B0573F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2468880" y="4617720"/>
            <a:ext cx="274320" cy="274320"/>
          </a:xfrm>
          <a:prstGeom prst="rect">
            <a:avLst/>
          </a:prstGeom>
          <a:solidFill>
            <a:srgbClr val="B0573F"/>
          </a:solidFill>
          <a:ln w="6350">
            <a:solidFill>
              <a:srgbClr val="B0573F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2788920" y="4617720"/>
            <a:ext cx="274320" cy="274320"/>
          </a:xfrm>
          <a:prstGeom prst="rect">
            <a:avLst/>
          </a:prstGeom>
          <a:solidFill>
            <a:srgbClr val="B0573F"/>
          </a:solidFill>
          <a:ln w="6350">
            <a:solidFill>
              <a:srgbClr val="B0573F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3108960" y="4617720"/>
            <a:ext cx="274320" cy="274320"/>
          </a:xfrm>
          <a:prstGeom prst="rect">
            <a:avLst/>
          </a:prstGeom>
          <a:solidFill>
            <a:srgbClr val="B0573F"/>
          </a:solidFill>
          <a:ln w="6350">
            <a:solidFill>
              <a:srgbClr val="B0573F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3429000" y="4617720"/>
            <a:ext cx="274320" cy="274320"/>
          </a:xfrm>
          <a:prstGeom prst="rect">
            <a:avLst/>
          </a:prstGeom>
          <a:solidFill>
            <a:srgbClr val="B0573F"/>
          </a:solidFill>
          <a:ln w="6350">
            <a:solidFill>
              <a:srgbClr val="B0573F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548640" y="4937760"/>
            <a:ext cx="274320" cy="274320"/>
          </a:xfrm>
          <a:prstGeom prst="rect">
            <a:avLst/>
          </a:prstGeom>
          <a:solidFill>
            <a:srgbClr val="B0573F"/>
          </a:solidFill>
          <a:ln w="6350">
            <a:solidFill>
              <a:srgbClr val="B0573F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868680" y="4937760"/>
            <a:ext cx="274320" cy="274320"/>
          </a:xfrm>
          <a:prstGeom prst="rect">
            <a:avLst/>
          </a:prstGeom>
          <a:solidFill>
            <a:srgbClr val="B0573F"/>
          </a:solidFill>
          <a:ln w="6350">
            <a:solidFill>
              <a:srgbClr val="B0573F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1188720" y="4937760"/>
            <a:ext cx="274320" cy="274320"/>
          </a:xfrm>
          <a:prstGeom prst="rect">
            <a:avLst/>
          </a:prstGeom>
          <a:solidFill>
            <a:srgbClr val="B0573F"/>
          </a:solidFill>
          <a:ln w="6350">
            <a:solidFill>
              <a:srgbClr val="B0573F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1508760" y="4937760"/>
            <a:ext cx="274320" cy="274320"/>
          </a:xfrm>
          <a:prstGeom prst="rect">
            <a:avLst/>
          </a:prstGeom>
          <a:solidFill>
            <a:srgbClr val="B0573F"/>
          </a:solidFill>
          <a:ln w="6350">
            <a:solidFill>
              <a:srgbClr val="B0573F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1828800" y="4937760"/>
            <a:ext cx="274320" cy="274320"/>
          </a:xfrm>
          <a:prstGeom prst="rect">
            <a:avLst/>
          </a:prstGeom>
          <a:solidFill>
            <a:srgbClr val="B0573F"/>
          </a:solidFill>
          <a:ln w="6350">
            <a:solidFill>
              <a:srgbClr val="B0573F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2148840" y="4937760"/>
            <a:ext cx="274320" cy="274320"/>
          </a:xfrm>
          <a:prstGeom prst="rect">
            <a:avLst/>
          </a:prstGeom>
          <a:solidFill>
            <a:srgbClr val="B0573F"/>
          </a:solidFill>
          <a:ln w="6350">
            <a:solidFill>
              <a:srgbClr val="B0573F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2468880" y="4937760"/>
            <a:ext cx="274320" cy="274320"/>
          </a:xfrm>
          <a:prstGeom prst="rect">
            <a:avLst/>
          </a:prstGeom>
          <a:solidFill>
            <a:srgbClr val="B0573F"/>
          </a:solidFill>
          <a:ln w="6350">
            <a:solidFill>
              <a:srgbClr val="B0573F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2788920" y="4937760"/>
            <a:ext cx="274320" cy="274320"/>
          </a:xfrm>
          <a:prstGeom prst="rect">
            <a:avLst/>
          </a:prstGeom>
          <a:solidFill>
            <a:srgbClr val="B0573F"/>
          </a:solidFill>
          <a:ln w="6350">
            <a:solidFill>
              <a:srgbClr val="B0573F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3108960" y="4937760"/>
            <a:ext cx="274320" cy="274320"/>
          </a:xfrm>
          <a:prstGeom prst="rect">
            <a:avLst/>
          </a:prstGeom>
          <a:solidFill>
            <a:srgbClr val="B0573F"/>
          </a:solidFill>
          <a:ln w="6350">
            <a:solidFill>
              <a:srgbClr val="B0573F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3429000" y="4937760"/>
            <a:ext cx="274320" cy="274320"/>
          </a:xfrm>
          <a:prstGeom prst="rect">
            <a:avLst/>
          </a:prstGeom>
          <a:solidFill>
            <a:srgbClr val="B0573F"/>
          </a:solidFill>
          <a:ln w="6350">
            <a:solidFill>
              <a:srgbClr val="B0573F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548640" y="5257800"/>
            <a:ext cx="274320" cy="274320"/>
          </a:xfrm>
          <a:prstGeom prst="rect">
            <a:avLst/>
          </a:prstGeom>
          <a:solidFill>
            <a:srgbClr val="B0573F"/>
          </a:solidFill>
          <a:ln w="6350">
            <a:solidFill>
              <a:srgbClr val="B0573F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868680" y="5257800"/>
            <a:ext cx="274320" cy="274320"/>
          </a:xfrm>
          <a:prstGeom prst="rect">
            <a:avLst/>
          </a:prstGeom>
          <a:solidFill>
            <a:srgbClr val="B0573F"/>
          </a:solidFill>
          <a:ln w="6350">
            <a:solidFill>
              <a:srgbClr val="B0573F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1188720" y="5257800"/>
            <a:ext cx="274320" cy="274320"/>
          </a:xfrm>
          <a:prstGeom prst="rect">
            <a:avLst/>
          </a:prstGeom>
          <a:solidFill>
            <a:srgbClr val="B0573F"/>
          </a:solidFill>
          <a:ln w="6350">
            <a:solidFill>
              <a:srgbClr val="B0573F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1508760" y="5257800"/>
            <a:ext cx="274320" cy="274320"/>
          </a:xfrm>
          <a:prstGeom prst="rect">
            <a:avLst/>
          </a:prstGeom>
          <a:solidFill>
            <a:srgbClr val="B0573F"/>
          </a:solidFill>
          <a:ln w="6350">
            <a:solidFill>
              <a:srgbClr val="B0573F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1828800" y="5257800"/>
            <a:ext cx="274320" cy="274320"/>
          </a:xfrm>
          <a:prstGeom prst="rect">
            <a:avLst/>
          </a:prstGeom>
          <a:solidFill>
            <a:srgbClr val="B0573F"/>
          </a:solidFill>
          <a:ln w="6350">
            <a:solidFill>
              <a:srgbClr val="B0573F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2148840" y="5257800"/>
            <a:ext cx="274320" cy="274320"/>
          </a:xfrm>
          <a:prstGeom prst="rect">
            <a:avLst/>
          </a:prstGeom>
          <a:solidFill>
            <a:srgbClr val="B0573F"/>
          </a:solidFill>
          <a:ln w="6350">
            <a:solidFill>
              <a:srgbClr val="B0573F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2468880" y="5257800"/>
            <a:ext cx="274320" cy="274320"/>
          </a:xfrm>
          <a:prstGeom prst="rect">
            <a:avLst/>
          </a:prstGeom>
          <a:solidFill>
            <a:srgbClr val="B0573F"/>
          </a:solidFill>
          <a:ln w="6350">
            <a:solidFill>
              <a:srgbClr val="B0573F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2788920" y="5257800"/>
            <a:ext cx="274320" cy="274320"/>
          </a:xfrm>
          <a:prstGeom prst="rect">
            <a:avLst/>
          </a:prstGeom>
          <a:solidFill>
            <a:srgbClr val="B0573F"/>
          </a:solidFill>
          <a:ln w="6350">
            <a:solidFill>
              <a:srgbClr val="B0573F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3108960" y="5257800"/>
            <a:ext cx="274320" cy="274320"/>
          </a:xfrm>
          <a:prstGeom prst="rect">
            <a:avLst/>
          </a:prstGeom>
          <a:solidFill>
            <a:srgbClr val="B0573F"/>
          </a:solidFill>
          <a:ln w="6350">
            <a:solidFill>
              <a:srgbClr val="B0573F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3429000" y="5257800"/>
            <a:ext cx="274320" cy="274320"/>
          </a:xfrm>
          <a:prstGeom prst="rect">
            <a:avLst/>
          </a:prstGeom>
          <a:solidFill>
            <a:srgbClr val="B0573F"/>
          </a:solidFill>
          <a:ln w="6350">
            <a:solidFill>
              <a:srgbClr val="B0573F"/>
            </a:solidFill>
            <a:prstDash val="solid"/>
          </a:ln>
        </p:spPr>
      </p:sp>
      <p:sp>
        <p:nvSpPr>
          <p:cNvPr id="105" name="Text 103"/>
          <p:cNvSpPr txBox="1"/>
          <p:nvPr/>
        </p:nvSpPr>
        <p:spPr>
          <a:xfrm>
            <a:off x="548640" y="56235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E6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quadrado ≈ 1% do programa</a:t>
            </a:r>
            <a:endParaRPr lang="en-US" sz="1100" dirty="0"/>
          </a:p>
        </p:txBody>
      </p:sp>
      <p:sp>
        <p:nvSpPr>
          <p:cNvPr id="106" name="Text 104"/>
          <p:cNvSpPr txBox="1"/>
          <p:nvPr/>
        </p:nvSpPr>
        <p:spPr>
          <a:xfrm>
            <a:off x="3931920" y="233172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i="1" dirty="0">
                <a:solidFill>
                  <a:srgbClr val="6B77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69%</a:t>
            </a:r>
            <a:endParaRPr lang="en-US" sz="4000" dirty="0"/>
          </a:p>
        </p:txBody>
      </p:sp>
      <p:sp>
        <p:nvSpPr>
          <p:cNvPr id="107" name="Text 105"/>
          <p:cNvSpPr txBox="1"/>
          <p:nvPr/>
        </p:nvSpPr>
        <p:spPr>
          <a:xfrm>
            <a:off x="3931920" y="301752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ao ar livre  ·  7.560 m²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campo society, pista de corrida, quadra de tênis, praças, estacionamento, paisagismo</a:t>
            </a:r>
            <a:endParaRPr lang="en-US" sz="1200" dirty="0"/>
          </a:p>
        </p:txBody>
      </p:sp>
      <p:sp>
        <p:nvSpPr>
          <p:cNvPr id="108" name="Text 106"/>
          <p:cNvSpPr txBox="1"/>
          <p:nvPr/>
        </p:nvSpPr>
        <p:spPr>
          <a:xfrm>
            <a:off x="3931920" y="384048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i="1" dirty="0">
                <a:solidFill>
                  <a:srgbClr val="B057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31%</a:t>
            </a:r>
            <a:endParaRPr lang="en-US" sz="4000" dirty="0"/>
          </a:p>
        </p:txBody>
      </p:sp>
      <p:sp>
        <p:nvSpPr>
          <p:cNvPr id="109" name="Text 107"/>
          <p:cNvSpPr txBox="1"/>
          <p:nvPr/>
        </p:nvSpPr>
        <p:spPr>
          <a:xfrm>
            <a:off x="3931920" y="452628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edificado  ·  3.376 m²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piscina, quadra coberta, academia, cultural, saúde, administração, apoio</a:t>
            </a:r>
            <a:endParaRPr lang="en-US" sz="1200" dirty="0"/>
          </a:p>
        </p:txBody>
      </p:sp>
      <p:sp>
        <p:nvSpPr>
          <p:cNvPr id="110" name="Shape 108"/>
          <p:cNvSpPr/>
          <p:nvPr/>
        </p:nvSpPr>
        <p:spPr>
          <a:xfrm>
            <a:off x="7863840" y="1600200"/>
            <a:ext cx="3794760" cy="3886200"/>
          </a:xfrm>
          <a:prstGeom prst="roundRect">
            <a:avLst>
              <a:gd name="adj" fmla="val 2892"/>
            </a:avLst>
          </a:prstGeom>
          <a:solidFill>
            <a:srgbClr val="FFFFFF"/>
          </a:solidFill>
          <a:ln w="9525">
            <a:solidFill>
              <a:srgbClr val="DDD6C6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3000"/>
              </a:srgbClr>
            </a:outerShdw>
          </a:effectLst>
        </p:spPr>
      </p:sp>
      <p:sp>
        <p:nvSpPr>
          <p:cNvPr id="111" name="Text 109"/>
          <p:cNvSpPr txBox="1"/>
          <p:nvPr/>
        </p:nvSpPr>
        <p:spPr>
          <a:xfrm>
            <a:off x="8092440" y="173736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Setores edificados (m²)</a:t>
            </a:r>
            <a:endParaRPr lang="en-US" sz="1300" dirty="0"/>
          </a:p>
        </p:txBody>
      </p:sp>
      <p:sp>
        <p:nvSpPr>
          <p:cNvPr id="112" name="Text 110"/>
          <p:cNvSpPr txBox="1"/>
          <p:nvPr/>
        </p:nvSpPr>
        <p:spPr>
          <a:xfrm>
            <a:off x="8092440" y="2148840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Esportivo interno</a:t>
            </a:r>
            <a:endParaRPr lang="en-US" sz="1100" dirty="0"/>
          </a:p>
        </p:txBody>
      </p:sp>
      <p:sp>
        <p:nvSpPr>
          <p:cNvPr id="113" name="Shape 111"/>
          <p:cNvSpPr/>
          <p:nvPr/>
        </p:nvSpPr>
        <p:spPr>
          <a:xfrm>
            <a:off x="9875520" y="2221992"/>
            <a:ext cx="1097280" cy="201168"/>
          </a:xfrm>
          <a:prstGeom prst="rect">
            <a:avLst/>
          </a:prstGeom>
          <a:solidFill>
            <a:srgbClr val="B0573F"/>
          </a:solidFill>
          <a:ln w="12700">
            <a:solidFill>
              <a:srgbClr val="B0573F"/>
            </a:solidFill>
            <a:prstDash val="solid"/>
          </a:ln>
        </p:spPr>
      </p:sp>
      <p:sp>
        <p:nvSpPr>
          <p:cNvPr id="114" name="Text 112"/>
          <p:cNvSpPr txBox="1"/>
          <p:nvPr/>
        </p:nvSpPr>
        <p:spPr>
          <a:xfrm>
            <a:off x="11018520" y="2148840"/>
            <a:ext cx="548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1510</a:t>
            </a:r>
            <a:endParaRPr lang="en-US" sz="1100" dirty="0"/>
          </a:p>
        </p:txBody>
      </p:sp>
      <p:sp>
        <p:nvSpPr>
          <p:cNvPr id="115" name="Text 113"/>
          <p:cNvSpPr txBox="1"/>
          <p:nvPr/>
        </p:nvSpPr>
        <p:spPr>
          <a:xfrm>
            <a:off x="8092440" y="2560320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Convivência / alimentação</a:t>
            </a:r>
            <a:endParaRPr lang="en-US" sz="1100" dirty="0"/>
          </a:p>
        </p:txBody>
      </p:sp>
      <p:sp>
        <p:nvSpPr>
          <p:cNvPr id="116" name="Shape 114"/>
          <p:cNvSpPr/>
          <p:nvPr/>
        </p:nvSpPr>
        <p:spPr>
          <a:xfrm>
            <a:off x="9875520" y="2633472"/>
            <a:ext cx="603141" cy="201168"/>
          </a:xfrm>
          <a:prstGeom prst="rect">
            <a:avLst/>
          </a:prstGeom>
          <a:solidFill>
            <a:srgbClr val="B0573F"/>
          </a:solidFill>
          <a:ln w="12700">
            <a:solidFill>
              <a:srgbClr val="B0573F"/>
            </a:solidFill>
            <a:prstDash val="solid"/>
          </a:ln>
        </p:spPr>
      </p:sp>
      <p:sp>
        <p:nvSpPr>
          <p:cNvPr id="117" name="Text 115"/>
          <p:cNvSpPr txBox="1"/>
          <p:nvPr/>
        </p:nvSpPr>
        <p:spPr>
          <a:xfrm>
            <a:off x="10524381" y="2560320"/>
            <a:ext cx="548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830</a:t>
            </a:r>
            <a:endParaRPr lang="en-US" sz="1100" dirty="0"/>
          </a:p>
        </p:txBody>
      </p:sp>
      <p:sp>
        <p:nvSpPr>
          <p:cNvPr id="118" name="Text 116"/>
          <p:cNvSpPr txBox="1"/>
          <p:nvPr/>
        </p:nvSpPr>
        <p:spPr>
          <a:xfrm>
            <a:off x="8092440" y="2971800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Cultural</a:t>
            </a:r>
            <a:endParaRPr lang="en-US" sz="1100" dirty="0"/>
          </a:p>
        </p:txBody>
      </p:sp>
      <p:sp>
        <p:nvSpPr>
          <p:cNvPr id="119" name="Shape 117"/>
          <p:cNvSpPr/>
          <p:nvPr/>
        </p:nvSpPr>
        <p:spPr>
          <a:xfrm>
            <a:off x="9875520" y="3044952"/>
            <a:ext cx="192569" cy="201168"/>
          </a:xfrm>
          <a:prstGeom prst="rect">
            <a:avLst/>
          </a:prstGeom>
          <a:solidFill>
            <a:srgbClr val="B0573F"/>
          </a:solidFill>
          <a:ln w="12700">
            <a:solidFill>
              <a:srgbClr val="B0573F"/>
            </a:solidFill>
            <a:prstDash val="solid"/>
          </a:ln>
        </p:spPr>
      </p:sp>
      <p:sp>
        <p:nvSpPr>
          <p:cNvPr id="120" name="Text 118"/>
          <p:cNvSpPr txBox="1"/>
          <p:nvPr/>
        </p:nvSpPr>
        <p:spPr>
          <a:xfrm>
            <a:off x="10113809" y="2971800"/>
            <a:ext cx="548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265</a:t>
            </a:r>
            <a:endParaRPr lang="en-US" sz="1100" dirty="0"/>
          </a:p>
        </p:txBody>
      </p:sp>
      <p:sp>
        <p:nvSpPr>
          <p:cNvPr id="121" name="Text 119"/>
          <p:cNvSpPr txBox="1"/>
          <p:nvPr/>
        </p:nvSpPr>
        <p:spPr>
          <a:xfrm>
            <a:off x="8092440" y="3383280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Técnico / serviços</a:t>
            </a:r>
            <a:endParaRPr lang="en-US" sz="1100" dirty="0"/>
          </a:p>
        </p:txBody>
      </p:sp>
      <p:sp>
        <p:nvSpPr>
          <p:cNvPr id="122" name="Shape 120"/>
          <p:cNvSpPr/>
          <p:nvPr/>
        </p:nvSpPr>
        <p:spPr>
          <a:xfrm>
            <a:off x="9875520" y="3456432"/>
            <a:ext cx="178035" cy="201168"/>
          </a:xfrm>
          <a:prstGeom prst="rect">
            <a:avLst/>
          </a:prstGeom>
          <a:solidFill>
            <a:srgbClr val="B0573F"/>
          </a:solidFill>
          <a:ln w="12700">
            <a:solidFill>
              <a:srgbClr val="B0573F"/>
            </a:solidFill>
            <a:prstDash val="solid"/>
          </a:ln>
        </p:spPr>
      </p:sp>
      <p:sp>
        <p:nvSpPr>
          <p:cNvPr id="123" name="Text 121"/>
          <p:cNvSpPr txBox="1"/>
          <p:nvPr/>
        </p:nvSpPr>
        <p:spPr>
          <a:xfrm>
            <a:off x="10099275" y="3383280"/>
            <a:ext cx="548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245</a:t>
            </a:r>
            <a:endParaRPr lang="en-US" sz="1100" dirty="0"/>
          </a:p>
        </p:txBody>
      </p:sp>
      <p:sp>
        <p:nvSpPr>
          <p:cNvPr id="124" name="Text 122"/>
          <p:cNvSpPr txBox="1"/>
          <p:nvPr/>
        </p:nvSpPr>
        <p:spPr>
          <a:xfrm>
            <a:off x="8092440" y="3794760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Apoio esportivo</a:t>
            </a:r>
            <a:endParaRPr lang="en-US" sz="1100" dirty="0"/>
          </a:p>
        </p:txBody>
      </p:sp>
      <p:sp>
        <p:nvSpPr>
          <p:cNvPr id="125" name="Shape 123"/>
          <p:cNvSpPr/>
          <p:nvPr/>
        </p:nvSpPr>
        <p:spPr>
          <a:xfrm>
            <a:off x="9875520" y="3867912"/>
            <a:ext cx="150422" cy="201168"/>
          </a:xfrm>
          <a:prstGeom prst="rect">
            <a:avLst/>
          </a:prstGeom>
          <a:solidFill>
            <a:srgbClr val="B0573F"/>
          </a:solidFill>
          <a:ln w="12700">
            <a:solidFill>
              <a:srgbClr val="B0573F"/>
            </a:solidFill>
            <a:prstDash val="solid"/>
          </a:ln>
        </p:spPr>
      </p:sp>
      <p:sp>
        <p:nvSpPr>
          <p:cNvPr id="126" name="Text 124"/>
          <p:cNvSpPr txBox="1"/>
          <p:nvPr/>
        </p:nvSpPr>
        <p:spPr>
          <a:xfrm>
            <a:off x="10071662" y="3794760"/>
            <a:ext cx="548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207</a:t>
            </a:r>
            <a:endParaRPr lang="en-US" sz="1100" dirty="0"/>
          </a:p>
        </p:txBody>
      </p:sp>
      <p:sp>
        <p:nvSpPr>
          <p:cNvPr id="127" name="Text 125"/>
          <p:cNvSpPr txBox="1"/>
          <p:nvPr/>
        </p:nvSpPr>
        <p:spPr>
          <a:xfrm>
            <a:off x="8092440" y="4206240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Administrativo</a:t>
            </a:r>
            <a:endParaRPr lang="en-US" sz="1100" dirty="0"/>
          </a:p>
        </p:txBody>
      </p:sp>
      <p:sp>
        <p:nvSpPr>
          <p:cNvPr id="128" name="Shape 126"/>
          <p:cNvSpPr/>
          <p:nvPr/>
        </p:nvSpPr>
        <p:spPr>
          <a:xfrm>
            <a:off x="9875520" y="4279392"/>
            <a:ext cx="129348" cy="201168"/>
          </a:xfrm>
          <a:prstGeom prst="rect">
            <a:avLst/>
          </a:prstGeom>
          <a:solidFill>
            <a:srgbClr val="B0573F"/>
          </a:solidFill>
          <a:ln w="12700">
            <a:solidFill>
              <a:srgbClr val="B0573F"/>
            </a:solidFill>
            <a:prstDash val="solid"/>
          </a:ln>
        </p:spPr>
      </p:sp>
      <p:sp>
        <p:nvSpPr>
          <p:cNvPr id="129" name="Text 127"/>
          <p:cNvSpPr txBox="1"/>
          <p:nvPr/>
        </p:nvSpPr>
        <p:spPr>
          <a:xfrm>
            <a:off x="10050588" y="4206240"/>
            <a:ext cx="548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178</a:t>
            </a:r>
            <a:endParaRPr lang="en-US" sz="1100" dirty="0"/>
          </a:p>
        </p:txBody>
      </p:sp>
      <p:sp>
        <p:nvSpPr>
          <p:cNvPr id="130" name="Text 128"/>
          <p:cNvSpPr txBox="1"/>
          <p:nvPr/>
        </p:nvSpPr>
        <p:spPr>
          <a:xfrm>
            <a:off x="8092440" y="4617720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Saúde</a:t>
            </a:r>
            <a:endParaRPr lang="en-US" sz="1100" dirty="0"/>
          </a:p>
        </p:txBody>
      </p:sp>
      <p:sp>
        <p:nvSpPr>
          <p:cNvPr id="131" name="Shape 129"/>
          <p:cNvSpPr/>
          <p:nvPr/>
        </p:nvSpPr>
        <p:spPr>
          <a:xfrm>
            <a:off x="9875520" y="4690872"/>
            <a:ext cx="58134" cy="201168"/>
          </a:xfrm>
          <a:prstGeom prst="rect">
            <a:avLst/>
          </a:prstGeom>
          <a:solidFill>
            <a:srgbClr val="B0573F"/>
          </a:solidFill>
          <a:ln w="12700">
            <a:solidFill>
              <a:srgbClr val="B0573F"/>
            </a:solidFill>
            <a:prstDash val="solid"/>
          </a:ln>
        </p:spPr>
      </p:sp>
      <p:sp>
        <p:nvSpPr>
          <p:cNvPr id="132" name="Text 130"/>
          <p:cNvSpPr txBox="1"/>
          <p:nvPr/>
        </p:nvSpPr>
        <p:spPr>
          <a:xfrm>
            <a:off x="9979374" y="4617720"/>
            <a:ext cx="548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</a:t>
            </a:r>
            <a:endParaRPr lang="en-US" sz="1100" dirty="0"/>
          </a:p>
        </p:txBody>
      </p:sp>
      <p:sp>
        <p:nvSpPr>
          <p:cNvPr id="133" name="Text 131"/>
          <p:cNvSpPr txBox="1"/>
          <p:nvPr/>
        </p:nvSpPr>
        <p:spPr>
          <a:xfrm>
            <a:off x="8092440" y="5029200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Sanitários públicos</a:t>
            </a:r>
            <a:endParaRPr lang="en-US" sz="1100" dirty="0"/>
          </a:p>
        </p:txBody>
      </p:sp>
      <p:sp>
        <p:nvSpPr>
          <p:cNvPr id="134" name="Shape 132"/>
          <p:cNvSpPr/>
          <p:nvPr/>
        </p:nvSpPr>
        <p:spPr>
          <a:xfrm>
            <a:off x="9875520" y="5102352"/>
            <a:ext cx="45720" cy="201168"/>
          </a:xfrm>
          <a:prstGeom prst="rect">
            <a:avLst/>
          </a:prstGeom>
          <a:solidFill>
            <a:srgbClr val="B0573F"/>
          </a:solidFill>
          <a:ln w="12700">
            <a:solidFill>
              <a:srgbClr val="B0573F"/>
            </a:solidFill>
            <a:prstDash val="solid"/>
          </a:ln>
        </p:spPr>
      </p:sp>
      <p:sp>
        <p:nvSpPr>
          <p:cNvPr id="135" name="Text 133"/>
          <p:cNvSpPr txBox="1"/>
          <p:nvPr/>
        </p:nvSpPr>
        <p:spPr>
          <a:xfrm>
            <a:off x="9966960" y="5029200"/>
            <a:ext cx="548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</a:t>
            </a:r>
            <a:endParaRPr lang="en-US" sz="1100" dirty="0"/>
          </a:p>
        </p:txBody>
      </p:sp>
      <p:sp>
        <p:nvSpPr>
          <p:cNvPr id="136" name="Shape 134"/>
          <p:cNvSpPr/>
          <p:nvPr/>
        </p:nvSpPr>
        <p:spPr>
          <a:xfrm>
            <a:off x="548640" y="5669280"/>
            <a:ext cx="11064240" cy="438912"/>
          </a:xfrm>
          <a:prstGeom prst="roundRect">
            <a:avLst>
              <a:gd name="adj" fmla="val 50000"/>
            </a:avLst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137" name="Text 135"/>
          <p:cNvSpPr txBox="1"/>
          <p:nvPr/>
        </p:nvSpPr>
        <p:spPr>
          <a:xfrm>
            <a:off x="822960" y="5669280"/>
            <a:ext cx="10515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E9CD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BASTÃO PASSADO  ▸ 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lista de ambientes com áreas: é ela que vai ser “desenhada” no estudo preliminar</a:t>
            </a:r>
            <a:endParaRPr lang="en-US" sz="1200" dirty="0"/>
          </a:p>
        </p:txBody>
      </p:sp>
      <p:sp>
        <p:nvSpPr>
          <p:cNvPr id="138" name="Shape 136"/>
          <p:cNvSpPr/>
          <p:nvPr/>
        </p:nvSpPr>
        <p:spPr>
          <a:xfrm>
            <a:off x="0" y="6263640"/>
            <a:ext cx="12191695" cy="594360"/>
          </a:xfrm>
          <a:prstGeom prst="rect">
            <a:avLst/>
          </a:prstGeom>
          <a:solidFill>
            <a:srgbClr val="B85A40"/>
          </a:solidFill>
          <a:ln w="12700">
            <a:solidFill>
              <a:srgbClr val="B85A40"/>
            </a:solidFill>
            <a:prstDash val="solid"/>
          </a:ln>
        </p:spPr>
      </p:sp>
      <p:sp>
        <p:nvSpPr>
          <p:cNvPr id="139" name="Shape 137"/>
          <p:cNvSpPr/>
          <p:nvPr/>
        </p:nvSpPr>
        <p:spPr>
          <a:xfrm>
            <a:off x="548640" y="6382512"/>
            <a:ext cx="365760" cy="365760"/>
          </a:xfrm>
          <a:prstGeom prst="ellipse">
            <a:avLst/>
          </a:prstGeom>
          <a:solidFill>
            <a:srgbClr val="E9CDB8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40" name="Text 138"/>
          <p:cNvSpPr txBox="1"/>
          <p:nvPr/>
        </p:nvSpPr>
        <p:spPr>
          <a:xfrm>
            <a:off x="548640" y="63825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141" name="Text 139"/>
          <p:cNvSpPr txBox="1"/>
          <p:nvPr/>
        </p:nvSpPr>
        <p:spPr>
          <a:xfrm>
            <a:off x="1005840" y="6382512"/>
            <a:ext cx="22249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LV  ·  Onde estou?</a:t>
            </a:r>
            <a:endParaRPr lang="en-US" sz="1200" dirty="0"/>
          </a:p>
        </p:txBody>
      </p:sp>
      <p:sp>
        <p:nvSpPr>
          <p:cNvPr id="142" name="Shape 140"/>
          <p:cNvSpPr/>
          <p:nvPr/>
        </p:nvSpPr>
        <p:spPr>
          <a:xfrm>
            <a:off x="3322244" y="6382512"/>
            <a:ext cx="365760" cy="365760"/>
          </a:xfrm>
          <a:prstGeom prst="ellipse">
            <a:avLst/>
          </a:prstGeom>
          <a:solidFill>
            <a:srgbClr val="1F2A44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43" name="Text 141"/>
          <p:cNvSpPr txBox="1"/>
          <p:nvPr/>
        </p:nvSpPr>
        <p:spPr>
          <a:xfrm>
            <a:off x="3322244" y="63825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44" name="Text 142"/>
          <p:cNvSpPr txBox="1"/>
          <p:nvPr/>
        </p:nvSpPr>
        <p:spPr>
          <a:xfrm>
            <a:off x="3779444" y="6382512"/>
            <a:ext cx="22249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PN  ·  O que preciso?</a:t>
            </a:r>
            <a:endParaRPr lang="en-US" sz="1200" dirty="0"/>
          </a:p>
        </p:txBody>
      </p:sp>
      <p:sp>
        <p:nvSpPr>
          <p:cNvPr id="145" name="Shape 143"/>
          <p:cNvSpPr/>
          <p:nvPr/>
        </p:nvSpPr>
        <p:spPr>
          <a:xfrm>
            <a:off x="6095848" y="6382512"/>
            <a:ext cx="365760" cy="365760"/>
          </a:xfrm>
          <a:prstGeom prst="ellipse">
            <a:avLst/>
          </a:prstGeom>
          <a:solidFill>
            <a:srgbClr val="B85A4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46" name="Text 144"/>
          <p:cNvSpPr txBox="1"/>
          <p:nvPr/>
        </p:nvSpPr>
        <p:spPr>
          <a:xfrm>
            <a:off x="6095848" y="63825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147" name="Text 145"/>
          <p:cNvSpPr txBox="1"/>
          <p:nvPr/>
        </p:nvSpPr>
        <p:spPr>
          <a:xfrm>
            <a:off x="6553048" y="6382512"/>
            <a:ext cx="22249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>
                    <a:alpha val="7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  ·  Qual é a ideia?</a:t>
            </a:r>
            <a:endParaRPr lang="en-US" sz="1200" dirty="0"/>
          </a:p>
        </p:txBody>
      </p:sp>
      <p:sp>
        <p:nvSpPr>
          <p:cNvPr id="148" name="Shape 146"/>
          <p:cNvSpPr/>
          <p:nvPr/>
        </p:nvSpPr>
        <p:spPr>
          <a:xfrm>
            <a:off x="8869451" y="6382512"/>
            <a:ext cx="365760" cy="365760"/>
          </a:xfrm>
          <a:prstGeom prst="ellipse">
            <a:avLst/>
          </a:prstGeom>
          <a:solidFill>
            <a:srgbClr val="B85A4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49" name="Text 147"/>
          <p:cNvSpPr txBox="1"/>
          <p:nvPr/>
        </p:nvSpPr>
        <p:spPr>
          <a:xfrm>
            <a:off x="8869451" y="63825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150" name="Text 148"/>
          <p:cNvSpPr txBox="1"/>
          <p:nvPr/>
        </p:nvSpPr>
        <p:spPr>
          <a:xfrm>
            <a:off x="9326651" y="6382512"/>
            <a:ext cx="22249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>
                    <a:alpha val="7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  ·  Como fica de verdade?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9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B057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3ª PERNA  ·  EP-ARQ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8778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i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 É A IDEIA?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72768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estudo preliminar transforma o programa em uma ideia de projeto, em três passos: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3474720" cy="32918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9525">
            <a:solidFill>
              <a:srgbClr val="DDD6C6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3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2377440"/>
            <a:ext cx="868680" cy="868680"/>
          </a:xfrm>
          <a:prstGeom prst="ellipse">
            <a:avLst/>
          </a:prstGeom>
          <a:solidFill>
            <a:srgbClr val="1F2A44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" y="2596896"/>
            <a:ext cx="429768" cy="429768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2926080" y="233172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4000" b="1" i="1" dirty="0">
                <a:solidFill>
                  <a:srgbClr val="E9CD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400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33832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CONCEITO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822960" y="3730752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B05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ideia-força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822960" y="4114800"/>
            <a:ext cx="29718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“Esporte como elemento de conexão” entre pessoas, cidade e paisagem.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4023360" y="347472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B05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800" dirty="0"/>
          </a:p>
        </p:txBody>
      </p:sp>
      <p:sp>
        <p:nvSpPr>
          <p:cNvPr id="13" name="Shape 10"/>
          <p:cNvSpPr/>
          <p:nvPr/>
        </p:nvSpPr>
        <p:spPr>
          <a:xfrm>
            <a:off x="4343400" y="2148840"/>
            <a:ext cx="3474720" cy="32918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9525">
            <a:solidFill>
              <a:srgbClr val="DDD6C6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3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617720" y="2377440"/>
            <a:ext cx="868680" cy="868680"/>
          </a:xfrm>
          <a:prstGeom prst="ellipse">
            <a:avLst/>
          </a:prstGeom>
          <a:solidFill>
            <a:srgbClr val="B0573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37176" y="2596896"/>
            <a:ext cx="429768" cy="429768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6720840" y="233172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4000" b="1" i="1" dirty="0">
                <a:solidFill>
                  <a:srgbClr val="E9CD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4000" dirty="0"/>
          </a:p>
        </p:txBody>
      </p:sp>
      <p:sp>
        <p:nvSpPr>
          <p:cNvPr id="17" name="Text 13"/>
          <p:cNvSpPr txBox="1"/>
          <p:nvPr/>
        </p:nvSpPr>
        <p:spPr>
          <a:xfrm>
            <a:off x="4617720" y="33832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PARTIDO</a:t>
            </a:r>
            <a:endParaRPr lang="en-US" sz="1500" dirty="0"/>
          </a:p>
        </p:txBody>
      </p:sp>
      <p:sp>
        <p:nvSpPr>
          <p:cNvPr id="18" name="Text 14"/>
          <p:cNvSpPr txBox="1"/>
          <p:nvPr/>
        </p:nvSpPr>
        <p:spPr>
          <a:xfrm>
            <a:off x="4617720" y="3730752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B05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ideia vira decisão</a:t>
            </a:r>
            <a:endParaRPr lang="en-US" sz="1300" dirty="0"/>
          </a:p>
        </p:txBody>
      </p:sp>
      <p:sp>
        <p:nvSpPr>
          <p:cNvPr id="19" name="Text 15"/>
          <p:cNvSpPr txBox="1"/>
          <p:nvPr/>
        </p:nvSpPr>
        <p:spPr>
          <a:xfrm>
            <a:off x="4617720" y="4114800"/>
            <a:ext cx="29718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Praça de acesso como transição · pátios que ligam os setores · eixo com o Rio Poti · brises, cobogós e ventilação cruzada.</a:t>
            </a:r>
            <a:endParaRPr lang="en-US" sz="1300" dirty="0"/>
          </a:p>
        </p:txBody>
      </p:sp>
      <p:sp>
        <p:nvSpPr>
          <p:cNvPr id="20" name="Text 16"/>
          <p:cNvSpPr txBox="1"/>
          <p:nvPr/>
        </p:nvSpPr>
        <p:spPr>
          <a:xfrm>
            <a:off x="7818120" y="347472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B05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800" dirty="0"/>
          </a:p>
        </p:txBody>
      </p:sp>
      <p:sp>
        <p:nvSpPr>
          <p:cNvPr id="21" name="Shape 17"/>
          <p:cNvSpPr/>
          <p:nvPr/>
        </p:nvSpPr>
        <p:spPr>
          <a:xfrm>
            <a:off x="8138160" y="2148840"/>
            <a:ext cx="3474720" cy="32918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9525">
            <a:solidFill>
              <a:srgbClr val="DDD6C6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3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8412480" y="2377440"/>
            <a:ext cx="868680" cy="868680"/>
          </a:xfrm>
          <a:prstGeom prst="ellipse">
            <a:avLst/>
          </a:prstGeom>
          <a:solidFill>
            <a:srgbClr val="1F2A44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31936" y="2596896"/>
            <a:ext cx="429768" cy="429768"/>
          </a:xfrm>
          <a:prstGeom prst="rect">
            <a:avLst/>
          </a:prstGeom>
        </p:spPr>
      </p:pic>
      <p:sp>
        <p:nvSpPr>
          <p:cNvPr id="24" name="Text 19"/>
          <p:cNvSpPr txBox="1"/>
          <p:nvPr/>
        </p:nvSpPr>
        <p:spPr>
          <a:xfrm>
            <a:off x="10515600" y="233172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4000" b="1" i="1" dirty="0">
                <a:solidFill>
                  <a:srgbClr val="E9CD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4000" dirty="0"/>
          </a:p>
        </p:txBody>
      </p:sp>
      <p:sp>
        <p:nvSpPr>
          <p:cNvPr id="25" name="Text 20"/>
          <p:cNvSpPr txBox="1"/>
          <p:nvPr/>
        </p:nvSpPr>
        <p:spPr>
          <a:xfrm>
            <a:off x="8412480" y="33832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DIMENSIONAMENTO PRÉVIO</a:t>
            </a:r>
            <a:endParaRPr lang="en-US" sz="1500" dirty="0"/>
          </a:p>
        </p:txBody>
      </p:sp>
      <p:sp>
        <p:nvSpPr>
          <p:cNvPr id="26" name="Text 21"/>
          <p:cNvSpPr txBox="1"/>
          <p:nvPr/>
        </p:nvSpPr>
        <p:spPr>
          <a:xfrm>
            <a:off x="8412480" y="3730752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B05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cabe no terreno?</a:t>
            </a:r>
            <a:endParaRPr lang="en-US" sz="1300" dirty="0"/>
          </a:p>
        </p:txBody>
      </p:sp>
      <p:sp>
        <p:nvSpPr>
          <p:cNvPr id="27" name="Text 22"/>
          <p:cNvSpPr txBox="1"/>
          <p:nvPr/>
        </p:nvSpPr>
        <p:spPr>
          <a:xfrm>
            <a:off x="8412480" y="4114800"/>
            <a:ext cx="29718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3.376 m² edificados, bem abaixo dos 88.572 m² permitidos · 1.800 m² de paisagismo, acima dos 1.107 m² exigidos.</a:t>
            </a:r>
            <a:endParaRPr lang="en-US" sz="1300" dirty="0"/>
          </a:p>
        </p:txBody>
      </p:sp>
      <p:sp>
        <p:nvSpPr>
          <p:cNvPr id="28" name="Shape 23"/>
          <p:cNvSpPr/>
          <p:nvPr/>
        </p:nvSpPr>
        <p:spPr>
          <a:xfrm>
            <a:off x="548640" y="5669280"/>
            <a:ext cx="11064240" cy="438912"/>
          </a:xfrm>
          <a:prstGeom prst="roundRect">
            <a:avLst>
              <a:gd name="adj" fmla="val 50000"/>
            </a:avLst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29" name="Text 24"/>
          <p:cNvSpPr txBox="1"/>
          <p:nvPr/>
        </p:nvSpPr>
        <p:spPr>
          <a:xfrm>
            <a:off x="822960" y="5669280"/>
            <a:ext cx="10515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E9CD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BASTÃO PASSADO  ▸ 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conceito + partido + números conferidos. O desenho vem no próximo slide</a:t>
            </a:r>
            <a:endParaRPr lang="en-US" sz="1200" dirty="0"/>
          </a:p>
        </p:txBody>
      </p:sp>
      <p:sp>
        <p:nvSpPr>
          <p:cNvPr id="30" name="Shape 25"/>
          <p:cNvSpPr/>
          <p:nvPr/>
        </p:nvSpPr>
        <p:spPr>
          <a:xfrm>
            <a:off x="0" y="6263640"/>
            <a:ext cx="12191695" cy="594360"/>
          </a:xfrm>
          <a:prstGeom prst="rect">
            <a:avLst/>
          </a:prstGeom>
          <a:solidFill>
            <a:srgbClr val="B85A40"/>
          </a:solidFill>
          <a:ln w="12700">
            <a:solidFill>
              <a:srgbClr val="B85A40"/>
            </a:solidFill>
            <a:prstDash val="solid"/>
          </a:ln>
        </p:spPr>
      </p:sp>
      <p:sp>
        <p:nvSpPr>
          <p:cNvPr id="31" name="Shape 26"/>
          <p:cNvSpPr/>
          <p:nvPr/>
        </p:nvSpPr>
        <p:spPr>
          <a:xfrm>
            <a:off x="548640" y="6382512"/>
            <a:ext cx="365760" cy="365760"/>
          </a:xfrm>
          <a:prstGeom prst="ellipse">
            <a:avLst/>
          </a:prstGeom>
          <a:solidFill>
            <a:srgbClr val="E9CDB8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2" name="Text 27"/>
          <p:cNvSpPr txBox="1"/>
          <p:nvPr/>
        </p:nvSpPr>
        <p:spPr>
          <a:xfrm>
            <a:off x="548640" y="63825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33" name="Text 28"/>
          <p:cNvSpPr txBox="1"/>
          <p:nvPr/>
        </p:nvSpPr>
        <p:spPr>
          <a:xfrm>
            <a:off x="1005840" y="6382512"/>
            <a:ext cx="22249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LV  ·  Onde estou?</a:t>
            </a:r>
            <a:endParaRPr lang="en-US" sz="1200" dirty="0"/>
          </a:p>
        </p:txBody>
      </p:sp>
      <p:sp>
        <p:nvSpPr>
          <p:cNvPr id="34" name="Shape 29"/>
          <p:cNvSpPr/>
          <p:nvPr/>
        </p:nvSpPr>
        <p:spPr>
          <a:xfrm>
            <a:off x="3322244" y="6382512"/>
            <a:ext cx="365760" cy="365760"/>
          </a:xfrm>
          <a:prstGeom prst="ellipse">
            <a:avLst/>
          </a:prstGeom>
          <a:solidFill>
            <a:srgbClr val="E9CDB8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5" name="Text 30"/>
          <p:cNvSpPr txBox="1"/>
          <p:nvPr/>
        </p:nvSpPr>
        <p:spPr>
          <a:xfrm>
            <a:off x="3322244" y="63825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36" name="Text 31"/>
          <p:cNvSpPr txBox="1"/>
          <p:nvPr/>
        </p:nvSpPr>
        <p:spPr>
          <a:xfrm>
            <a:off x="3779444" y="6382512"/>
            <a:ext cx="22249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PN  ·  O que preciso?</a:t>
            </a:r>
            <a:endParaRPr lang="en-US" sz="1200" dirty="0"/>
          </a:p>
        </p:txBody>
      </p:sp>
      <p:sp>
        <p:nvSpPr>
          <p:cNvPr id="37" name="Shape 32"/>
          <p:cNvSpPr/>
          <p:nvPr/>
        </p:nvSpPr>
        <p:spPr>
          <a:xfrm>
            <a:off x="6095848" y="6382512"/>
            <a:ext cx="365760" cy="365760"/>
          </a:xfrm>
          <a:prstGeom prst="ellipse">
            <a:avLst/>
          </a:prstGeom>
          <a:solidFill>
            <a:srgbClr val="1F2A44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8" name="Text 33"/>
          <p:cNvSpPr txBox="1"/>
          <p:nvPr/>
        </p:nvSpPr>
        <p:spPr>
          <a:xfrm>
            <a:off x="6095848" y="63825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39" name="Text 34"/>
          <p:cNvSpPr txBox="1"/>
          <p:nvPr/>
        </p:nvSpPr>
        <p:spPr>
          <a:xfrm>
            <a:off x="6553048" y="6382512"/>
            <a:ext cx="22249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  ·  Qual é a ideia?</a:t>
            </a:r>
            <a:endParaRPr lang="en-US" sz="1200" dirty="0"/>
          </a:p>
        </p:txBody>
      </p:sp>
      <p:sp>
        <p:nvSpPr>
          <p:cNvPr id="40" name="Shape 35"/>
          <p:cNvSpPr/>
          <p:nvPr/>
        </p:nvSpPr>
        <p:spPr>
          <a:xfrm>
            <a:off x="8869451" y="6382512"/>
            <a:ext cx="365760" cy="365760"/>
          </a:xfrm>
          <a:prstGeom prst="ellipse">
            <a:avLst/>
          </a:prstGeom>
          <a:solidFill>
            <a:srgbClr val="B85A4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1" name="Text 36"/>
          <p:cNvSpPr txBox="1"/>
          <p:nvPr/>
        </p:nvSpPr>
        <p:spPr>
          <a:xfrm>
            <a:off x="8869451" y="63825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42" name="Text 37"/>
          <p:cNvSpPr txBox="1"/>
          <p:nvPr/>
        </p:nvSpPr>
        <p:spPr>
          <a:xfrm>
            <a:off x="9326651" y="6382512"/>
            <a:ext cx="22249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>
                    <a:alpha val="7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  ·  Como fica de verdade?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BF9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B057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3ª PERNA  ·  EP-ARQ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8778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i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IDEIA NO PAPEL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4206240" cy="324612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 w="9525">
            <a:solidFill>
              <a:srgbClr val="DDD6C6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3000"/>
              </a:srgbClr>
            </a:outerShdw>
          </a:effectLst>
        </p:spPr>
      </p:sp>
      <p:pic>
        <p:nvPicPr>
          <p:cNvPr id="5" name="Image 0" descr="Fluxograma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85800" y="1783080"/>
            <a:ext cx="3931920" cy="29718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4983480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Fluxograma  </a:t>
            </a:r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praça central é o “coração”: todos os setores passam por ela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4983480" y="1554480"/>
            <a:ext cx="6766560" cy="3360975"/>
          </a:xfrm>
          <a:prstGeom prst="roundRect">
            <a:avLst>
              <a:gd name="adj" fmla="val 2721"/>
            </a:avLst>
          </a:prstGeom>
          <a:solidFill>
            <a:srgbClr val="F3E6DC"/>
          </a:solidFill>
          <a:ln w="12700">
            <a:solidFill>
              <a:srgbClr val="DDD6C6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3000"/>
              </a:srgbClr>
            </a:outerShdw>
          </a:effectLst>
        </p:spPr>
      </p:sp>
      <p:pic>
        <p:nvPicPr>
          <p:cNvPr id="8" name="Image 1" descr="Croqui de implantaçã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4920" y="1645920"/>
            <a:ext cx="6583680" cy="3178095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6217920" y="2362051"/>
            <a:ext cx="347472" cy="347472"/>
          </a:xfrm>
          <a:prstGeom prst="ellipse">
            <a:avLst/>
          </a:prstGeom>
          <a:solidFill>
            <a:srgbClr val="B0573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6217920" y="2362051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6876288" y="2806984"/>
            <a:ext cx="347472" cy="347472"/>
          </a:xfrm>
          <a:prstGeom prst="ellipse">
            <a:avLst/>
          </a:prstGeom>
          <a:solidFill>
            <a:srgbClr val="B0573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6876288" y="280698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8061350" y="3315479"/>
            <a:ext cx="347472" cy="347472"/>
          </a:xfrm>
          <a:prstGeom prst="ellipse">
            <a:avLst/>
          </a:prstGeom>
          <a:solidFill>
            <a:srgbClr val="B0573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8061350" y="3315479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8983066" y="2425613"/>
            <a:ext cx="347472" cy="347472"/>
          </a:xfrm>
          <a:prstGeom prst="ellipse">
            <a:avLst/>
          </a:prstGeom>
          <a:solidFill>
            <a:srgbClr val="B0573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8983066" y="2425613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9838944" y="2425613"/>
            <a:ext cx="347472" cy="347472"/>
          </a:xfrm>
          <a:prstGeom prst="ellipse">
            <a:avLst/>
          </a:prstGeom>
          <a:solidFill>
            <a:srgbClr val="B0573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9838944" y="2425613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200" dirty="0"/>
          </a:p>
        </p:txBody>
      </p:sp>
      <p:sp>
        <p:nvSpPr>
          <p:cNvPr id="19" name="Shape 15"/>
          <p:cNvSpPr/>
          <p:nvPr/>
        </p:nvSpPr>
        <p:spPr>
          <a:xfrm>
            <a:off x="8851392" y="3220136"/>
            <a:ext cx="347472" cy="347472"/>
          </a:xfrm>
          <a:prstGeom prst="ellipse">
            <a:avLst/>
          </a:prstGeom>
          <a:solidFill>
            <a:srgbClr val="B0573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8851392" y="322013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200" dirty="0"/>
          </a:p>
        </p:txBody>
      </p:sp>
      <p:sp>
        <p:nvSpPr>
          <p:cNvPr id="21" name="Text 17"/>
          <p:cNvSpPr txBox="1"/>
          <p:nvPr/>
        </p:nvSpPr>
        <p:spPr>
          <a:xfrm>
            <a:off x="5074920" y="5006895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05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</a:t>
            </a:r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Praça de acesso</a:t>
            </a:r>
            <a:endParaRPr lang="en-US" sz="1200" dirty="0"/>
          </a:p>
        </p:txBody>
      </p:sp>
      <p:sp>
        <p:nvSpPr>
          <p:cNvPr id="22" name="Text 18"/>
          <p:cNvSpPr txBox="1"/>
          <p:nvPr/>
        </p:nvSpPr>
        <p:spPr>
          <a:xfrm>
            <a:off x="7269480" y="5006895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05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</a:t>
            </a:r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cultural</a:t>
            </a:r>
            <a:endParaRPr lang="en-US" sz="1200" dirty="0"/>
          </a:p>
        </p:txBody>
      </p:sp>
      <p:sp>
        <p:nvSpPr>
          <p:cNvPr id="23" name="Text 19"/>
          <p:cNvSpPr txBox="1"/>
          <p:nvPr/>
        </p:nvSpPr>
        <p:spPr>
          <a:xfrm>
            <a:off x="9464040" y="5006895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05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</a:t>
            </a:r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Comedoria</a:t>
            </a:r>
            <a:endParaRPr lang="en-US" sz="1200" dirty="0"/>
          </a:p>
        </p:txBody>
      </p:sp>
      <p:sp>
        <p:nvSpPr>
          <p:cNvPr id="24" name="Text 20"/>
          <p:cNvSpPr txBox="1"/>
          <p:nvPr/>
        </p:nvSpPr>
        <p:spPr>
          <a:xfrm>
            <a:off x="5074920" y="5336079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05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</a:t>
            </a:r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Quadra coberta</a:t>
            </a:r>
            <a:endParaRPr lang="en-US" sz="1200" dirty="0"/>
          </a:p>
        </p:txBody>
      </p:sp>
      <p:sp>
        <p:nvSpPr>
          <p:cNvPr id="25" name="Text 21"/>
          <p:cNvSpPr txBox="1"/>
          <p:nvPr/>
        </p:nvSpPr>
        <p:spPr>
          <a:xfrm>
            <a:off x="7269480" y="5336079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05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 </a:t>
            </a:r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Campo society</a:t>
            </a:r>
            <a:endParaRPr lang="en-US" sz="1200" dirty="0"/>
          </a:p>
        </p:txBody>
      </p:sp>
      <p:sp>
        <p:nvSpPr>
          <p:cNvPr id="26" name="Text 22"/>
          <p:cNvSpPr txBox="1"/>
          <p:nvPr/>
        </p:nvSpPr>
        <p:spPr>
          <a:xfrm>
            <a:off x="9464040" y="5336079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05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 </a:t>
            </a:r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Quadra de tênis</a:t>
            </a:r>
            <a:endParaRPr lang="en-US" sz="1200" dirty="0"/>
          </a:p>
        </p:txBody>
      </p:sp>
      <p:sp>
        <p:nvSpPr>
          <p:cNvPr id="27" name="Shape 23"/>
          <p:cNvSpPr/>
          <p:nvPr/>
        </p:nvSpPr>
        <p:spPr>
          <a:xfrm>
            <a:off x="0" y="6263640"/>
            <a:ext cx="12191695" cy="594360"/>
          </a:xfrm>
          <a:prstGeom prst="rect">
            <a:avLst/>
          </a:prstGeom>
          <a:solidFill>
            <a:srgbClr val="B85A40"/>
          </a:solidFill>
          <a:ln w="12700">
            <a:solidFill>
              <a:srgbClr val="B85A40"/>
            </a:solidFill>
            <a:prstDash val="solid"/>
          </a:ln>
        </p:spPr>
      </p:sp>
      <p:sp>
        <p:nvSpPr>
          <p:cNvPr id="28" name="Shape 24"/>
          <p:cNvSpPr/>
          <p:nvPr/>
        </p:nvSpPr>
        <p:spPr>
          <a:xfrm>
            <a:off x="548640" y="6382512"/>
            <a:ext cx="365760" cy="365760"/>
          </a:xfrm>
          <a:prstGeom prst="ellipse">
            <a:avLst/>
          </a:prstGeom>
          <a:solidFill>
            <a:srgbClr val="E9CDB8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9" name="Text 25"/>
          <p:cNvSpPr txBox="1"/>
          <p:nvPr/>
        </p:nvSpPr>
        <p:spPr>
          <a:xfrm>
            <a:off x="548640" y="63825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30" name="Text 26"/>
          <p:cNvSpPr txBox="1"/>
          <p:nvPr/>
        </p:nvSpPr>
        <p:spPr>
          <a:xfrm>
            <a:off x="1005840" y="6382512"/>
            <a:ext cx="22249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LV  ·  Onde estou?</a:t>
            </a:r>
            <a:endParaRPr lang="en-US" sz="1200" dirty="0"/>
          </a:p>
        </p:txBody>
      </p:sp>
      <p:sp>
        <p:nvSpPr>
          <p:cNvPr id="31" name="Shape 27"/>
          <p:cNvSpPr/>
          <p:nvPr/>
        </p:nvSpPr>
        <p:spPr>
          <a:xfrm>
            <a:off x="3322244" y="6382512"/>
            <a:ext cx="365760" cy="365760"/>
          </a:xfrm>
          <a:prstGeom prst="ellipse">
            <a:avLst/>
          </a:prstGeom>
          <a:solidFill>
            <a:srgbClr val="E9CDB8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2" name="Text 28"/>
          <p:cNvSpPr txBox="1"/>
          <p:nvPr/>
        </p:nvSpPr>
        <p:spPr>
          <a:xfrm>
            <a:off x="3322244" y="63825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33" name="Text 29"/>
          <p:cNvSpPr txBox="1"/>
          <p:nvPr/>
        </p:nvSpPr>
        <p:spPr>
          <a:xfrm>
            <a:off x="3779444" y="6382512"/>
            <a:ext cx="22249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PN  ·  O que preciso?</a:t>
            </a:r>
            <a:endParaRPr lang="en-US" sz="1200" dirty="0"/>
          </a:p>
        </p:txBody>
      </p:sp>
      <p:sp>
        <p:nvSpPr>
          <p:cNvPr id="34" name="Shape 30"/>
          <p:cNvSpPr/>
          <p:nvPr/>
        </p:nvSpPr>
        <p:spPr>
          <a:xfrm>
            <a:off x="6095848" y="6382512"/>
            <a:ext cx="365760" cy="365760"/>
          </a:xfrm>
          <a:prstGeom prst="ellipse">
            <a:avLst/>
          </a:prstGeom>
          <a:solidFill>
            <a:srgbClr val="1F2A44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5" name="Text 31"/>
          <p:cNvSpPr txBox="1"/>
          <p:nvPr/>
        </p:nvSpPr>
        <p:spPr>
          <a:xfrm>
            <a:off x="6095848" y="63825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36" name="Text 32"/>
          <p:cNvSpPr txBox="1"/>
          <p:nvPr/>
        </p:nvSpPr>
        <p:spPr>
          <a:xfrm>
            <a:off x="6553048" y="6382512"/>
            <a:ext cx="22249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  ·  Qual é a ideia?</a:t>
            </a:r>
            <a:endParaRPr lang="en-US" sz="1200" dirty="0"/>
          </a:p>
        </p:txBody>
      </p:sp>
      <p:sp>
        <p:nvSpPr>
          <p:cNvPr id="37" name="Shape 33"/>
          <p:cNvSpPr/>
          <p:nvPr/>
        </p:nvSpPr>
        <p:spPr>
          <a:xfrm>
            <a:off x="8869451" y="6382512"/>
            <a:ext cx="365760" cy="365760"/>
          </a:xfrm>
          <a:prstGeom prst="ellipse">
            <a:avLst/>
          </a:prstGeom>
          <a:solidFill>
            <a:srgbClr val="B85A4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8" name="Text 34"/>
          <p:cNvSpPr txBox="1"/>
          <p:nvPr/>
        </p:nvSpPr>
        <p:spPr>
          <a:xfrm>
            <a:off x="8869451" y="63825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39" name="Text 35"/>
          <p:cNvSpPr txBox="1"/>
          <p:nvPr/>
        </p:nvSpPr>
        <p:spPr>
          <a:xfrm>
            <a:off x="9326651" y="6382512"/>
            <a:ext cx="22249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>
                    <a:alpha val="7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  ·  Como fica de verdade?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BF9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B057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4ª PERNA  ·  AP-ARQ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8778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i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COMO FICA DE VERDADE?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72768"/>
            <a:ext cx="8503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anteprojeto pega a ideia aprovada e a deixa definida e medida. É a próxima etapa do Arena Poty:</a:t>
            </a:r>
            <a:endParaRPr lang="en-US" sz="1600" dirty="0"/>
          </a:p>
        </p:txBody>
      </p:sp>
      <p:pic>
        <p:nvPicPr>
          <p:cNvPr id="5" name="Image 0" descr="Goleir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26880" y="320040"/>
            <a:ext cx="2377440" cy="1612317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214884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E6A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ESTUDO PRELIMINAR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6492240" y="214884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057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ANTEPROJETO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48640" y="2560320"/>
            <a:ext cx="5120640" cy="548640"/>
          </a:xfrm>
          <a:prstGeom prst="roundRect">
            <a:avLst>
              <a:gd name="adj" fmla="val 16667"/>
            </a:avLst>
          </a:prstGeom>
          <a:solidFill>
            <a:srgbClr val="EFEBE0"/>
          </a:solidFill>
          <a:ln w="12700">
            <a:solidFill>
              <a:srgbClr val="EFEBE0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31520" y="256032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E6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Volumes esboçados no croqui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5715000" y="256032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B05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➜</a:t>
            </a:r>
            <a:endParaRPr lang="en-US" sz="2000" dirty="0"/>
          </a:p>
        </p:txBody>
      </p:sp>
      <p:sp>
        <p:nvSpPr>
          <p:cNvPr id="11" name="Shape 8"/>
          <p:cNvSpPr/>
          <p:nvPr/>
        </p:nvSpPr>
        <p:spPr>
          <a:xfrm>
            <a:off x="6492240" y="2560320"/>
            <a:ext cx="5166360" cy="5486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DD6C6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3000"/>
              </a:srgbClr>
            </a:outerShdw>
          </a:effectLst>
        </p:spPr>
      </p:sp>
      <p:sp>
        <p:nvSpPr>
          <p:cNvPr id="12" name="Text 9"/>
          <p:cNvSpPr txBox="1"/>
          <p:nvPr/>
        </p:nvSpPr>
        <p:spPr>
          <a:xfrm>
            <a:off x="6675120" y="2560320"/>
            <a:ext cx="4892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Volumetria definida: alturas, cobertura, fachadas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548640" y="3218688"/>
            <a:ext cx="5120640" cy="548640"/>
          </a:xfrm>
          <a:prstGeom prst="roundRect">
            <a:avLst>
              <a:gd name="adj" fmla="val 16667"/>
            </a:avLst>
          </a:prstGeom>
          <a:solidFill>
            <a:srgbClr val="EFEBE0"/>
          </a:solidFill>
          <a:ln w="12700">
            <a:solidFill>
              <a:srgbClr val="EFEBE0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31520" y="3218688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E6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Setores ligados no fluxograma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5715000" y="3218688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B05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➜</a:t>
            </a:r>
            <a:endParaRPr lang="en-US" sz="2000" dirty="0"/>
          </a:p>
        </p:txBody>
      </p:sp>
      <p:sp>
        <p:nvSpPr>
          <p:cNvPr id="16" name="Shape 13"/>
          <p:cNvSpPr/>
          <p:nvPr/>
        </p:nvSpPr>
        <p:spPr>
          <a:xfrm>
            <a:off x="6492240" y="3218688"/>
            <a:ext cx="5166360" cy="5486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DD6C6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3000"/>
              </a:srgbClr>
            </a:outerShdw>
          </a:effectLst>
        </p:spPr>
      </p:sp>
      <p:sp>
        <p:nvSpPr>
          <p:cNvPr id="17" name="Text 14"/>
          <p:cNvSpPr txBox="1"/>
          <p:nvPr/>
        </p:nvSpPr>
        <p:spPr>
          <a:xfrm>
            <a:off x="6675120" y="3218688"/>
            <a:ext cx="4892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Solução funcional final, com rotas acessíveis (NBR 9050)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548640" y="3877056"/>
            <a:ext cx="5120640" cy="548640"/>
          </a:xfrm>
          <a:prstGeom prst="roundRect">
            <a:avLst>
              <a:gd name="adj" fmla="val 16667"/>
            </a:avLst>
          </a:prstGeom>
          <a:solidFill>
            <a:srgbClr val="EFEBE0"/>
          </a:solidFill>
          <a:ln w="12700">
            <a:solidFill>
              <a:srgbClr val="EFEBE0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731520" y="3877056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E6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Áreas estimadas do programa</a:t>
            </a:r>
            <a:endParaRPr lang="en-US" sz="1400" dirty="0"/>
          </a:p>
        </p:txBody>
      </p:sp>
      <p:sp>
        <p:nvSpPr>
          <p:cNvPr id="20" name="Text 17"/>
          <p:cNvSpPr txBox="1"/>
          <p:nvPr/>
        </p:nvSpPr>
        <p:spPr>
          <a:xfrm>
            <a:off x="5715000" y="3877056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B05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➜</a:t>
            </a:r>
            <a:endParaRPr lang="en-US" sz="2000" dirty="0"/>
          </a:p>
        </p:txBody>
      </p:sp>
      <p:sp>
        <p:nvSpPr>
          <p:cNvPr id="21" name="Shape 18"/>
          <p:cNvSpPr/>
          <p:nvPr/>
        </p:nvSpPr>
        <p:spPr>
          <a:xfrm>
            <a:off x="6492240" y="3877056"/>
            <a:ext cx="5166360" cy="5486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DD6C6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3000"/>
              </a:srgbClr>
            </a:outerShdw>
          </a:effectLst>
        </p:spPr>
      </p:sp>
      <p:sp>
        <p:nvSpPr>
          <p:cNvPr id="22" name="Text 19"/>
          <p:cNvSpPr txBox="1"/>
          <p:nvPr/>
        </p:nvSpPr>
        <p:spPr>
          <a:xfrm>
            <a:off x="6675120" y="3877056"/>
            <a:ext cx="4892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Plantas, cortes e elevações cotados, em escala</a:t>
            </a:r>
            <a:endParaRPr lang="en-US" sz="1400" dirty="0"/>
          </a:p>
        </p:txBody>
      </p:sp>
      <p:sp>
        <p:nvSpPr>
          <p:cNvPr id="23" name="Shape 20"/>
          <p:cNvSpPr/>
          <p:nvPr/>
        </p:nvSpPr>
        <p:spPr>
          <a:xfrm>
            <a:off x="548640" y="4535424"/>
            <a:ext cx="5120640" cy="548640"/>
          </a:xfrm>
          <a:prstGeom prst="roundRect">
            <a:avLst>
              <a:gd name="adj" fmla="val 16667"/>
            </a:avLst>
          </a:prstGeom>
          <a:solidFill>
            <a:srgbClr val="EFEBE0"/>
          </a:solidFill>
          <a:ln w="12700">
            <a:solidFill>
              <a:srgbClr val="EFEBE0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731520" y="4535424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E6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Moodboard de referências</a:t>
            </a:r>
            <a:endParaRPr lang="en-US" sz="1400" dirty="0"/>
          </a:p>
        </p:txBody>
      </p:sp>
      <p:sp>
        <p:nvSpPr>
          <p:cNvPr id="25" name="Text 22"/>
          <p:cNvSpPr txBox="1"/>
          <p:nvPr/>
        </p:nvSpPr>
        <p:spPr>
          <a:xfrm>
            <a:off x="5715000" y="4535424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B05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➜</a:t>
            </a:r>
            <a:endParaRPr lang="en-US" sz="2000" dirty="0"/>
          </a:p>
        </p:txBody>
      </p:sp>
      <p:sp>
        <p:nvSpPr>
          <p:cNvPr id="26" name="Shape 23"/>
          <p:cNvSpPr/>
          <p:nvPr/>
        </p:nvSpPr>
        <p:spPr>
          <a:xfrm>
            <a:off x="6492240" y="4535424"/>
            <a:ext cx="5166360" cy="5486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DD6C6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3000"/>
              </a:srgbClr>
            </a:outerShdw>
          </a:effectLst>
        </p:spPr>
      </p:sp>
      <p:sp>
        <p:nvSpPr>
          <p:cNvPr id="27" name="Text 24"/>
          <p:cNvSpPr txBox="1"/>
          <p:nvPr/>
        </p:nvSpPr>
        <p:spPr>
          <a:xfrm>
            <a:off x="6675120" y="4535424"/>
            <a:ext cx="4892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Materiais especificados, com brises e cobogós posicionados</a:t>
            </a:r>
            <a:endParaRPr lang="en-US" sz="1400" dirty="0"/>
          </a:p>
        </p:txBody>
      </p:sp>
      <p:pic>
        <p:nvPicPr>
          <p:cNvPr id="28" name="Image 1" descr="Materiais do moodboa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5230368"/>
            <a:ext cx="5120640" cy="912520"/>
          </a:xfrm>
          <a:prstGeom prst="rect">
            <a:avLst/>
          </a:prstGeom>
        </p:spPr>
      </p:pic>
      <p:sp>
        <p:nvSpPr>
          <p:cNvPr id="29" name="Shape 25"/>
          <p:cNvSpPr/>
          <p:nvPr/>
        </p:nvSpPr>
        <p:spPr>
          <a:xfrm>
            <a:off x="6492240" y="5458968"/>
            <a:ext cx="5166360" cy="438912"/>
          </a:xfrm>
          <a:prstGeom prst="roundRect">
            <a:avLst>
              <a:gd name="adj" fmla="val 50000"/>
            </a:avLst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30" name="Text 26"/>
          <p:cNvSpPr txBox="1"/>
          <p:nvPr/>
        </p:nvSpPr>
        <p:spPr>
          <a:xfrm>
            <a:off x="6766560" y="5458968"/>
            <a:ext cx="4617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E9CD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BASTÃO PASSADO  ▸ 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segue para o projeto legal</a:t>
            </a:r>
            <a:endParaRPr lang="en-US" sz="1200" dirty="0"/>
          </a:p>
        </p:txBody>
      </p:sp>
      <p:sp>
        <p:nvSpPr>
          <p:cNvPr id="31" name="Shape 27"/>
          <p:cNvSpPr/>
          <p:nvPr/>
        </p:nvSpPr>
        <p:spPr>
          <a:xfrm>
            <a:off x="0" y="6263640"/>
            <a:ext cx="12191695" cy="594360"/>
          </a:xfrm>
          <a:prstGeom prst="rect">
            <a:avLst/>
          </a:prstGeom>
          <a:solidFill>
            <a:srgbClr val="B85A40"/>
          </a:solidFill>
          <a:ln w="12700">
            <a:solidFill>
              <a:srgbClr val="B85A40"/>
            </a:solidFill>
            <a:prstDash val="solid"/>
          </a:ln>
        </p:spPr>
      </p:sp>
      <p:sp>
        <p:nvSpPr>
          <p:cNvPr id="32" name="Shape 28"/>
          <p:cNvSpPr/>
          <p:nvPr/>
        </p:nvSpPr>
        <p:spPr>
          <a:xfrm>
            <a:off x="548640" y="6382512"/>
            <a:ext cx="365760" cy="365760"/>
          </a:xfrm>
          <a:prstGeom prst="ellipse">
            <a:avLst/>
          </a:prstGeom>
          <a:solidFill>
            <a:srgbClr val="E9CDB8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3" name="Text 29"/>
          <p:cNvSpPr txBox="1"/>
          <p:nvPr/>
        </p:nvSpPr>
        <p:spPr>
          <a:xfrm>
            <a:off x="548640" y="63825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34" name="Text 30"/>
          <p:cNvSpPr txBox="1"/>
          <p:nvPr/>
        </p:nvSpPr>
        <p:spPr>
          <a:xfrm>
            <a:off x="1005840" y="6382512"/>
            <a:ext cx="22249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LV  ·  Onde estou?</a:t>
            </a:r>
            <a:endParaRPr lang="en-US" sz="1200" dirty="0"/>
          </a:p>
        </p:txBody>
      </p:sp>
      <p:sp>
        <p:nvSpPr>
          <p:cNvPr id="35" name="Shape 31"/>
          <p:cNvSpPr/>
          <p:nvPr/>
        </p:nvSpPr>
        <p:spPr>
          <a:xfrm>
            <a:off x="3322244" y="6382512"/>
            <a:ext cx="365760" cy="365760"/>
          </a:xfrm>
          <a:prstGeom prst="ellipse">
            <a:avLst/>
          </a:prstGeom>
          <a:solidFill>
            <a:srgbClr val="E9CDB8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6" name="Text 32"/>
          <p:cNvSpPr txBox="1"/>
          <p:nvPr/>
        </p:nvSpPr>
        <p:spPr>
          <a:xfrm>
            <a:off x="3322244" y="63825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37" name="Text 33"/>
          <p:cNvSpPr txBox="1"/>
          <p:nvPr/>
        </p:nvSpPr>
        <p:spPr>
          <a:xfrm>
            <a:off x="3779444" y="6382512"/>
            <a:ext cx="22249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PN  ·  O que preciso?</a:t>
            </a:r>
            <a:endParaRPr lang="en-US" sz="1200" dirty="0"/>
          </a:p>
        </p:txBody>
      </p:sp>
      <p:sp>
        <p:nvSpPr>
          <p:cNvPr id="38" name="Shape 34"/>
          <p:cNvSpPr/>
          <p:nvPr/>
        </p:nvSpPr>
        <p:spPr>
          <a:xfrm>
            <a:off x="6095848" y="6382512"/>
            <a:ext cx="365760" cy="365760"/>
          </a:xfrm>
          <a:prstGeom prst="ellipse">
            <a:avLst/>
          </a:prstGeom>
          <a:solidFill>
            <a:srgbClr val="E9CDB8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9" name="Text 35"/>
          <p:cNvSpPr txBox="1"/>
          <p:nvPr/>
        </p:nvSpPr>
        <p:spPr>
          <a:xfrm>
            <a:off x="6095848" y="63825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40" name="Text 36"/>
          <p:cNvSpPr txBox="1"/>
          <p:nvPr/>
        </p:nvSpPr>
        <p:spPr>
          <a:xfrm>
            <a:off x="6553048" y="6382512"/>
            <a:ext cx="22249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  ·  Qual é a ideia?</a:t>
            </a:r>
            <a:endParaRPr lang="en-US" sz="1200" dirty="0"/>
          </a:p>
        </p:txBody>
      </p:sp>
      <p:sp>
        <p:nvSpPr>
          <p:cNvPr id="41" name="Shape 37"/>
          <p:cNvSpPr/>
          <p:nvPr/>
        </p:nvSpPr>
        <p:spPr>
          <a:xfrm>
            <a:off x="8869451" y="6382512"/>
            <a:ext cx="365760" cy="365760"/>
          </a:xfrm>
          <a:prstGeom prst="ellipse">
            <a:avLst/>
          </a:prstGeom>
          <a:solidFill>
            <a:srgbClr val="1F2A44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2" name="Text 38"/>
          <p:cNvSpPr txBox="1"/>
          <p:nvPr/>
        </p:nvSpPr>
        <p:spPr>
          <a:xfrm>
            <a:off x="8869451" y="63825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43" name="Text 39"/>
          <p:cNvSpPr txBox="1"/>
          <p:nvPr/>
        </p:nvSpPr>
        <p:spPr>
          <a:xfrm>
            <a:off x="9326651" y="6382512"/>
            <a:ext cx="22249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  ·  Como fica de verdade?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F2A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LINHA DE CHEGADA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BFA5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Quatro perguntas para lembrar das etapas iniciais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2606040" cy="2606040"/>
          </a:xfrm>
          <a:prstGeom prst="roundRect">
            <a:avLst>
              <a:gd name="adj" fmla="val 5263"/>
            </a:avLst>
          </a:prstGeom>
          <a:solidFill>
            <a:srgbClr val="2C3A5C"/>
          </a:solidFill>
          <a:ln w="12700">
            <a:solidFill>
              <a:srgbClr val="3A4A7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210312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i="1" dirty="0">
                <a:solidFill>
                  <a:srgbClr val="E9CD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LV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83464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Onde estou?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365760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DCDC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mapa de condicionantes + índices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383280" y="1965960"/>
            <a:ext cx="2606040" cy="2606040"/>
          </a:xfrm>
          <a:prstGeom prst="roundRect">
            <a:avLst>
              <a:gd name="adj" fmla="val 5263"/>
            </a:avLst>
          </a:prstGeom>
          <a:solidFill>
            <a:srgbClr val="2C3A5C"/>
          </a:solidFill>
          <a:ln w="12700">
            <a:solidFill>
              <a:srgbClr val="3A4A7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611880" y="210312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i="1" dirty="0">
                <a:solidFill>
                  <a:srgbClr val="E9CD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PN</a:t>
            </a:r>
            <a:endParaRPr lang="en-US" sz="4000" dirty="0"/>
          </a:p>
        </p:txBody>
      </p:sp>
      <p:sp>
        <p:nvSpPr>
          <p:cNvPr id="10" name="Text 8"/>
          <p:cNvSpPr txBox="1"/>
          <p:nvPr/>
        </p:nvSpPr>
        <p:spPr>
          <a:xfrm>
            <a:off x="3611880" y="283464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preciso?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3611880" y="365760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DCDC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setores, 10.936 m²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217920" y="1965960"/>
            <a:ext cx="2606040" cy="2606040"/>
          </a:xfrm>
          <a:prstGeom prst="roundRect">
            <a:avLst>
              <a:gd name="adj" fmla="val 5263"/>
            </a:avLst>
          </a:prstGeom>
          <a:solidFill>
            <a:srgbClr val="2C3A5C"/>
          </a:solidFill>
          <a:ln w="12700">
            <a:solidFill>
              <a:srgbClr val="3A4A7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46520" y="210312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i="1" dirty="0">
                <a:solidFill>
                  <a:srgbClr val="E9CD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</a:t>
            </a:r>
            <a:endParaRPr lang="en-US" sz="4000" dirty="0"/>
          </a:p>
        </p:txBody>
      </p:sp>
      <p:sp>
        <p:nvSpPr>
          <p:cNvPr id="14" name="Text 12"/>
          <p:cNvSpPr txBox="1"/>
          <p:nvPr/>
        </p:nvSpPr>
        <p:spPr>
          <a:xfrm>
            <a:off x="6446520" y="283464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 é a ideia?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6446520" y="365760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DCDC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conceito, partido, fluxograma e croqui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9052560" y="1965960"/>
            <a:ext cx="2606040" cy="2606040"/>
          </a:xfrm>
          <a:prstGeom prst="roundRect">
            <a:avLst>
              <a:gd name="adj" fmla="val 5263"/>
            </a:avLst>
          </a:prstGeom>
          <a:solidFill>
            <a:srgbClr val="B0573F"/>
          </a:solidFill>
          <a:ln w="12700">
            <a:solidFill>
              <a:srgbClr val="B0573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281160" y="210312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</a:t>
            </a:r>
            <a:endParaRPr lang="en-US" sz="4000" dirty="0"/>
          </a:p>
        </p:txBody>
      </p:sp>
      <p:sp>
        <p:nvSpPr>
          <p:cNvPr id="18" name="Text 16"/>
          <p:cNvSpPr txBox="1"/>
          <p:nvPr/>
        </p:nvSpPr>
        <p:spPr>
          <a:xfrm>
            <a:off x="9281160" y="283464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Como fica de verdade?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9281160" y="365760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DCDC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plantas cotadas e volumetria definida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0" y="4892040"/>
            <a:ext cx="12191695" cy="685800"/>
          </a:xfrm>
          <a:prstGeom prst="rect">
            <a:avLst/>
          </a:prstGeom>
          <a:solidFill>
            <a:srgbClr val="B85A40"/>
          </a:solidFill>
          <a:ln w="12700">
            <a:solidFill>
              <a:srgbClr val="B85A4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48640" y="4892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Seguir a ordem da norma = menos retrabalho, mais clareza para quem projeta, aprova e constrói.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548640" y="589788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EB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Referências: ABNT NBR 16636-1:2017. Elaboração e desenvolvimento de serviços técnicos especializados de projetos arquitetônicos e urbanísticos, Parte 1: Diretrizes e terminologia.  ·  OLIVEIRA JÚNIOR, C. C. Centro Esportivo Arena Poty. TCC II, Arquitetura e Urbanismo, Teresina, 2026.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NBR 16636-1 — Etapas Iniciais do Projeto</dc:title>
  <dc:subject>PptxGenJS Presentation</dc:subject>
  <dc:creator>Cláudio Castro de Oliveira Júnior</dc:creator>
  <cp:lastModifiedBy>Cláudio Castro de Oliveira Júnior</cp:lastModifiedBy>
  <cp:revision>1</cp:revision>
  <dcterms:created xsi:type="dcterms:W3CDTF">2026-09-29T00:27:18Z</dcterms:created>
  <dcterms:modified xsi:type="dcterms:W3CDTF">2026-09-29T00:27:18Z</dcterms:modified>
</cp:coreProperties>
</file>