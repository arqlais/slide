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Meu trabalho é o 07, sobre a NBR 16636-1 e as etapas iniciais do projeto. Para ficar fácil de acompanhar, vou tratar o projeto como uma corrida de revezamento, e o atleta dessa corrida é o meu TCC, o Centro Esportivo Arena Poty.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NBR 16636-1 tem como objetivo estabelecer as diretrizes e a terminologia dos serviços técnicos de projeto de arquitetura e urbanismo. Vale para esses projetos e para as engenharias ligadas a eles, em obra nova, reforma ou ampliação. O serviço técnico de projeto é organizado em etapas sucessivas, cada uma com seus produtos, como mostra a tabela. As cinco primeiras são as etapas iniciais, tema deste trabalho; as finais ficam para o Trabalho 08.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ficar fácil de acompanhar, trato o projeto como um revezamento: cada etapa responde uma pergunta simples e passa um produto, o bastão, para a próxima. O atleta dessa corrida é o meu TCC, o Centro Esportivo Arena Poty, em Teresina: 14.762 m² de terreno e 10.936 m² de programa em 9 setores. Nos próximos slides ele corre as etapas iniciais.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Primeira perna: onde estou? É o levantamento de dados. A norma pede o topográfico cadastral, o físico, o arquitetônico, o fotográfico e a análise do entorno; na prática também entra a legislação. No TCC isso virou este mapa: as vias do entorno, a trajetória do sol, que se põe do lado da Avenida Raul Lopes, e os ventos predominantes de leste.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Ainda no levantamento: a legislação. Na ZOM-4, até 80% do terreno pode ser ocupado, pelo menos 7,5% tem que ficar permeável e o aproveitamento é 6, ou seja, posso construir até seis vezes a área do terreno. Conclusão: área sobra; o que pesa no desenho é o clima quente. O corte esquemático à direita mostra a resposta do partido: brise contra o sol da tarde, cobogó para o vento leste passar e uma grande cobertura com beiral.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Segunda perna: o que preciso? É o programa de necessidades. O dado que mais chama atenção é que quase 70% do programa é ao ar livre: campo, pista, praças. Só 31% é edificado, cerca de 3.376 m², com o setor esportivo como o maior. Isso já diz que o projeto é, antes de tudo, um projeto de espaços abertos.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Terceira perna: qual é a ideia? O estudo preliminar tem três passos. O conceito: esporte como elemento de conexão. O partido: praça de acesso, pátios, conexão com o Rio Poti e conforto passivo, que responde ao problema de clima visto no levantamento. E o dimensionamento prévio, que confere se tudo cabe: cabe com folga.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produtos gráficos do estudo preliminar no TCC são dois. O fluxograma mostra a praça central como o coração do projeto, distribuindo todos os setores. E o croqui de implantação mostra a ideia no terreno: a praça de acesso na Avenida Raul Lopes, os blocos cultural, de atendimento, piscina, apoio e quadra ao longo da rua, a comedoria no centro, a pista de corrida contornando tudo e o campo e a quadra de tênis ao fundo.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Quarta perna: como fica de verdade? O anteprojeto pega a ideia e define tudo com medida. O volume esboçado vira volumetria definida, o fluxograma vira solução funcional com rotas acessíveis, as áreas estimadas viram plantas cotadas e o moodboard vira especificação de materiais. Esse é o bastão para o projeto legal, que é tema do Trabalho 08.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fechar, quatro perguntas: onde estou, o que preciso, qual é a ideia e como fica de verdade. São as quatro etapas iniciais da NBR 16636-1, e cada uma entregou um produto concreto no Arena Poty. Seguir essa ordem evita retrabalho e deixa o projeto claro para quem projeta, aprova e constrói. Obrigado.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74920"/>
            <a:ext cx="12191695" cy="178308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520690"/>
            <a:ext cx="12191695" cy="0"/>
          </a:xfrm>
          <a:prstGeom prst="line">
            <a:avLst/>
          </a:prstGeom>
          <a:noFill/>
          <a:ln w="15875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966460"/>
            <a:ext cx="12191695" cy="0"/>
          </a:xfrm>
          <a:prstGeom prst="line">
            <a:avLst/>
          </a:prstGeom>
          <a:noFill/>
          <a:ln w="15875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412230"/>
            <a:ext cx="12191695" cy="0"/>
          </a:xfrm>
          <a:prstGeom prst="line">
            <a:avLst/>
          </a:prstGeom>
          <a:noFill/>
          <a:ln w="15875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0040" y="5074920"/>
            <a:ext cx="73152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5520690"/>
            <a:ext cx="73152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5966460"/>
            <a:ext cx="73152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6412230"/>
            <a:ext cx="73152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endParaRPr lang="en-US" sz="1800" dirty="0"/>
          </a:p>
        </p:txBody>
      </p:sp>
      <p:pic>
        <p:nvPicPr>
          <p:cNvPr id="10" name="Image 0" descr="Atleta chutando bo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14600"/>
            <a:ext cx="2743200" cy="3289945"/>
          </a:xfrm>
          <a:prstGeom prst="rect">
            <a:avLst/>
          </a:prstGeom>
        </p:spPr>
      </p:pic>
      <p:pic>
        <p:nvPicPr>
          <p:cNvPr id="11" name="Image 1" descr="Atleta sacan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2103120"/>
            <a:ext cx="2240280" cy="321034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291840" y="5029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TRABALHO 07  ·  NBR 16636-1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1463040" y="914400"/>
            <a:ext cx="9235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54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TERRENO</a:t>
            </a:r>
            <a:endParaRPr lang="en-US" sz="5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54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ANTEPROJETO</a:t>
            </a:r>
            <a:endParaRPr lang="en-US" sz="5400" dirty="0"/>
          </a:p>
        </p:txBody>
      </p:sp>
      <p:sp>
        <p:nvSpPr>
          <p:cNvPr id="14" name="Text 10"/>
          <p:cNvSpPr txBox="1"/>
          <p:nvPr/>
        </p:nvSpPr>
        <p:spPr>
          <a:xfrm>
            <a:off x="3429000" y="278892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etapas iniciais do projeto explicadas como uma corrida de revezamento, com o meu TCC, o Centro Esportivo Arena Poty, na pista.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3429000" y="384048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Cláudio Castro de Oliveira Júnior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e Urbanismo  ·  Prof. Danilo Sérvio  · 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NORMA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DIZ A NBR 16636-1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731520" cy="73152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745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6733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205740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Estabelecer as diretrizes e a terminologia para elaborar e desenvolver os serviços técnicos de projeto de arquitetura e urbanismo.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3154680"/>
            <a:ext cx="731520" cy="73152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3375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63040" y="31363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Campo de abrangência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463040" y="352044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 de arquitetura e urbanismo e as engenharias ligadas a eles, em obras novas, reformas e ampliações. A Parte 2 detalha o projeto arquitetônico.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48640" y="4617720"/>
            <a:ext cx="731520" cy="731520"/>
          </a:xfrm>
          <a:prstGeom prst="ellipse">
            <a:avLst/>
          </a:prstGeom>
          <a:solidFill>
            <a:srgbClr val="B0573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80060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63040" y="45994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Serviço técnico de projeto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1463040" y="498348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Conjunto de atividades feitas em etapas sucessivas, da coleta de dados até a documentação da obra. Cada etapa tem produtos definidos.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5989320" y="16459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 do projeto de arquitetura previstas na norma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9320" y="2011680"/>
          <a:ext cx="566928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874520"/>
                <a:gridCol w="29260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Sigla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Etapa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Produto principal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LV-ARQ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57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Levantamento de dados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 do terreno, do entorno e da legislação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57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 de necessidades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 de ambientes, áreas e relações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57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viabilidade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Análise técnica, legal e econômica da proposta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57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preliminar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Partido, soluções conceituais e pré-dimensionamento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57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Anteprojeto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Volumetria e solução funcional definidas, plantas cotadas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DF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 legal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Peças para aprovação na prefeitura e nos órgãos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DF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 básico (opcional)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Detalhamento para orçamento e licitação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DF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 executivo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Detalhamento completo para a obra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</a:tr>
            </a:tbl>
          </a:graphicData>
        </a:graphic>
      </p:graphicFrame>
      <p:sp>
        <p:nvSpPr>
          <p:cNvPr id="18" name="Text 12"/>
          <p:cNvSpPr txBox="1"/>
          <p:nvPr/>
        </p:nvSpPr>
        <p:spPr>
          <a:xfrm>
            <a:off x="5989320" y="57607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11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iniciais: tema deste trabalho   </a:t>
            </a:r>
            <a:pPr indent="0" marL="0">
              <a:buNone/>
            </a:pPr>
            <a:r>
              <a:rPr lang="en-US" sz="1100" dirty="0">
                <a:solidFill>
                  <a:srgbClr val="E4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11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finais: Trabalho 08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NORMA EM UMA IMAGEM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PROJETAR É UM REVEZAMENTO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responde uma pergunta e entrega um produto, o </a:t>
            </a:r>
            <a:pPr indent="0" marL="0">
              <a:buNone/>
            </a:pPr>
            <a:r>
              <a:rPr lang="en-US" sz="16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bastão</a:t>
            </a:r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que a próxima usa como ponto de partida. Pular etapa vira retrabalho lá na frente.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2880360"/>
            <a:ext cx="12191695" cy="118872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74720"/>
            <a:ext cx="12191695" cy="0"/>
          </a:xfrm>
          <a:prstGeom prst="line">
            <a:avLst/>
          </a:prstGeom>
          <a:noFill/>
          <a:ln w="15875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2971800"/>
            <a:ext cx="1005840" cy="1005840"/>
          </a:xfrm>
          <a:prstGeom prst="ellipse">
            <a:avLst/>
          </a:prstGeom>
          <a:solidFill>
            <a:srgbClr val="1F2A44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971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4206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Levantamento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estou?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171700" y="2971800"/>
            <a:ext cx="1005840" cy="1005840"/>
          </a:xfrm>
          <a:prstGeom prst="ellipse">
            <a:avLst/>
          </a:prstGeom>
          <a:solidFill>
            <a:srgbClr val="1F2A44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71700" y="2971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1924812" y="4206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924812" y="45262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preciso?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593592" y="2971800"/>
            <a:ext cx="1005840" cy="1005840"/>
          </a:xfrm>
          <a:prstGeom prst="ellipse">
            <a:avLst/>
          </a:prstGeom>
          <a:solidFill>
            <a:srgbClr val="1F2A44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593592" y="2971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3346704" y="4206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Viabilidade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346704" y="45262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 para fazer?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15484" y="2971800"/>
            <a:ext cx="1005840" cy="1005840"/>
          </a:xfrm>
          <a:prstGeom prst="ellipse">
            <a:avLst/>
          </a:prstGeom>
          <a:solidFill>
            <a:srgbClr val="1F2A44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15484" y="2971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4768596" y="4206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preliminar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768596" y="45262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é a ideia?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37376" y="2971800"/>
            <a:ext cx="1005840" cy="1005840"/>
          </a:xfrm>
          <a:prstGeom prst="ellipse">
            <a:avLst/>
          </a:prstGeom>
          <a:solidFill>
            <a:srgbClr val="1F2A44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37376" y="2971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6190488" y="4206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Anteprojeto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190488" y="45262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fica de verdade?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859268" y="2971800"/>
            <a:ext cx="1005840" cy="1005840"/>
          </a:xfrm>
          <a:prstGeom prst="ellipse">
            <a:avLst/>
          </a:prstGeom>
          <a:solidFill>
            <a:srgbClr val="FBF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59268" y="2971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</a:t>
            </a:r>
            <a:endParaRPr lang="en-US" sz="2600" dirty="0"/>
          </a:p>
        </p:txBody>
      </p:sp>
      <p:sp>
        <p:nvSpPr>
          <p:cNvPr id="29" name="Text 27"/>
          <p:cNvSpPr txBox="1"/>
          <p:nvPr/>
        </p:nvSpPr>
        <p:spPr>
          <a:xfrm>
            <a:off x="7612380" y="4206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legal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612380" y="45262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prefeitura aprova?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9281160" y="2971800"/>
            <a:ext cx="1005840" cy="1005840"/>
          </a:xfrm>
          <a:prstGeom prst="ellipse">
            <a:avLst/>
          </a:prstGeom>
          <a:solidFill>
            <a:srgbClr val="FBF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281160" y="2971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PB</a:t>
            </a:r>
            <a:endParaRPr lang="en-US" sz="2600" dirty="0"/>
          </a:p>
        </p:txBody>
      </p:sp>
      <p:sp>
        <p:nvSpPr>
          <p:cNvPr id="33" name="Text 31"/>
          <p:cNvSpPr txBox="1"/>
          <p:nvPr/>
        </p:nvSpPr>
        <p:spPr>
          <a:xfrm>
            <a:off x="9034272" y="4206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básico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034272" y="45262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custa?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10703052" y="2971800"/>
            <a:ext cx="1005840" cy="1005840"/>
          </a:xfrm>
          <a:prstGeom prst="ellipse">
            <a:avLst/>
          </a:prstGeom>
          <a:solidFill>
            <a:srgbClr val="FBF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703052" y="2971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</a:t>
            </a:r>
            <a:endParaRPr lang="en-US" sz="2600" dirty="0"/>
          </a:p>
        </p:txBody>
      </p:sp>
      <p:sp>
        <p:nvSpPr>
          <p:cNvPr id="37" name="Text 35"/>
          <p:cNvSpPr txBox="1"/>
          <p:nvPr/>
        </p:nvSpPr>
        <p:spPr>
          <a:xfrm>
            <a:off x="10456164" y="4206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executivo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456164" y="45262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se constrói?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48640" y="2377440"/>
            <a:ext cx="7040880" cy="365760"/>
          </a:xfrm>
          <a:prstGeom prst="roundRect">
            <a:avLst>
              <a:gd name="adj" fmla="val 50000"/>
            </a:avLst>
          </a:prstGeom>
          <a:solidFill>
            <a:srgbClr val="E9CDB8"/>
          </a:solidFill>
          <a:ln w="12700">
            <a:solidFill>
              <a:srgbClr val="E9CDB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237744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 INICIAIS: TEMA DE HOJE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726680" y="2377440"/>
            <a:ext cx="3931920" cy="365760"/>
          </a:xfrm>
          <a:prstGeom prst="roundRect">
            <a:avLst>
              <a:gd name="adj" fmla="val 50000"/>
            </a:avLst>
          </a:prstGeom>
          <a:solidFill>
            <a:srgbClr val="FBF9F1"/>
          </a:solidFill>
          <a:ln w="12700">
            <a:solidFill>
              <a:srgbClr val="DDD6C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726680" y="23774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 FINAIS: TRABALHO 08</a:t>
            </a:r>
            <a:endParaRPr lang="en-US" sz="1200" dirty="0"/>
          </a:p>
        </p:txBody>
      </p:sp>
      <p:pic>
        <p:nvPicPr>
          <p:cNvPr id="43" name="Image 0" descr="Atle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0" y="274320"/>
            <a:ext cx="1965960" cy="1930611"/>
          </a:xfrm>
          <a:prstGeom prst="rect">
            <a:avLst/>
          </a:prstGeom>
        </p:spPr>
      </p:pic>
      <p:sp>
        <p:nvSpPr>
          <p:cNvPr id="44" name="Shape 41"/>
          <p:cNvSpPr/>
          <p:nvPr/>
        </p:nvSpPr>
        <p:spPr>
          <a:xfrm>
            <a:off x="548640" y="5257800"/>
            <a:ext cx="11109960" cy="1188720"/>
          </a:xfrm>
          <a:prstGeom prst="roundRect">
            <a:avLst>
              <a:gd name="adj" fmla="val 9231"/>
            </a:avLst>
          </a:prstGeom>
          <a:solidFill>
            <a:srgbClr val="1F2A44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45" name="Text 42"/>
          <p:cNvSpPr txBox="1"/>
          <p:nvPr/>
        </p:nvSpPr>
        <p:spPr>
          <a:xfrm>
            <a:off x="822960" y="5394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A5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NOSSO ATLETA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822960" y="56692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Centro Esportivo Arena Poty</a:t>
            </a:r>
            <a:endParaRPr lang="en-US" sz="2200" dirty="0"/>
          </a:p>
        </p:txBody>
      </p:sp>
      <p:sp>
        <p:nvSpPr>
          <p:cNvPr id="47" name="Text 44"/>
          <p:cNvSpPr txBox="1"/>
          <p:nvPr/>
        </p:nvSpPr>
        <p:spPr>
          <a:xfrm>
            <a:off x="822960" y="605332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A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TCC · Teresina – PI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5486400" y="5394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14.762 m²</a:t>
            </a:r>
            <a:endParaRPr lang="en-US" sz="2600" dirty="0"/>
          </a:p>
        </p:txBody>
      </p:sp>
      <p:sp>
        <p:nvSpPr>
          <p:cNvPr id="49" name="Text 46"/>
          <p:cNvSpPr txBox="1"/>
          <p:nvPr/>
        </p:nvSpPr>
        <p:spPr>
          <a:xfrm>
            <a:off x="5486400" y="59618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A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terreno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7543800" y="5394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10.936 m²</a:t>
            </a:r>
            <a:endParaRPr lang="en-US" sz="2600" dirty="0"/>
          </a:p>
        </p:txBody>
      </p:sp>
      <p:sp>
        <p:nvSpPr>
          <p:cNvPr id="51" name="Text 48"/>
          <p:cNvSpPr txBox="1"/>
          <p:nvPr/>
        </p:nvSpPr>
        <p:spPr>
          <a:xfrm>
            <a:off x="7543800" y="59618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A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programa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9601200" y="5394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600" dirty="0"/>
          </a:p>
        </p:txBody>
      </p:sp>
      <p:sp>
        <p:nvSpPr>
          <p:cNvPr id="53" name="Text 50"/>
          <p:cNvSpPr txBox="1"/>
          <p:nvPr/>
        </p:nvSpPr>
        <p:spPr>
          <a:xfrm>
            <a:off x="9601200" y="59618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A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1ª PERNA  ·  LV-ARQ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ESTOU?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desenhar, conhecer o lugar. A norma pede estes levantamentos: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777240" cy="777240"/>
          </a:xfrm>
          <a:prstGeom prst="ellipse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2304288"/>
            <a:ext cx="374904" cy="37490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21305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Topográfico cadastral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4963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limites, medidas, níveis, vias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749040" y="2103120"/>
            <a:ext cx="777240" cy="777240"/>
          </a:xfrm>
          <a:prstGeom prst="ellipse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0208" y="2304288"/>
            <a:ext cx="374904" cy="37490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21305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Físico / ambiental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24963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sol, ventos, solo, vegetação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246120"/>
            <a:ext cx="777240" cy="777240"/>
          </a:xfrm>
          <a:prstGeom prst="ellipse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3447288"/>
            <a:ext cx="374904" cy="37490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63040" y="32735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Arquitetônico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1463040" y="36393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já está construído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3749040" y="3246120"/>
            <a:ext cx="777240" cy="777240"/>
          </a:xfrm>
          <a:prstGeom prst="ellipse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0208" y="3447288"/>
            <a:ext cx="374904" cy="37490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663440" y="32735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Fotográfico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4663440" y="36393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do lote e das visadas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548640" y="4389120"/>
            <a:ext cx="777240" cy="777240"/>
          </a:xfrm>
          <a:prstGeom prst="ellipse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4590288"/>
            <a:ext cx="374904" cy="37490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44165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Entorno imediato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1463040" y="47823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vizinhos, fluxos, equipamentos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3749040" y="4389120"/>
            <a:ext cx="777240" cy="777240"/>
          </a:xfrm>
          <a:prstGeom prst="ellipse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50208" y="4590288"/>
            <a:ext cx="374904" cy="374904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663440" y="44165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Legislação</a:t>
            </a:r>
            <a:endParaRPr lang="en-US" sz="1400" dirty="0"/>
          </a:p>
        </p:txBody>
      </p:sp>
      <p:sp>
        <p:nvSpPr>
          <p:cNvPr id="28" name="Text 20"/>
          <p:cNvSpPr txBox="1"/>
          <p:nvPr/>
        </p:nvSpPr>
        <p:spPr>
          <a:xfrm>
            <a:off x="4663440" y="47823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zona, índices, recuos</a:t>
            </a:r>
            <a:endParaRPr lang="en-US" sz="1300" dirty="0"/>
          </a:p>
        </p:txBody>
      </p:sp>
      <p:sp>
        <p:nvSpPr>
          <p:cNvPr id="29" name="Shape 21"/>
          <p:cNvSpPr/>
          <p:nvPr/>
        </p:nvSpPr>
        <p:spPr>
          <a:xfrm>
            <a:off x="7086600" y="411480"/>
            <a:ext cx="457200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pic>
        <p:nvPicPr>
          <p:cNvPr id="30" name="Image 6" descr="Mapa de condicionantes do TCC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7269480" y="530352"/>
            <a:ext cx="4206240" cy="3977640"/>
          </a:xfrm>
          <a:prstGeom prst="rect">
            <a:avLst/>
          </a:prstGeom>
        </p:spPr>
      </p:pic>
      <p:sp>
        <p:nvSpPr>
          <p:cNvPr id="31" name="Shape 22"/>
          <p:cNvSpPr/>
          <p:nvPr/>
        </p:nvSpPr>
        <p:spPr>
          <a:xfrm>
            <a:off x="7086600" y="4754880"/>
            <a:ext cx="4572000" cy="1353312"/>
          </a:xfrm>
          <a:prstGeom prst="roundRect">
            <a:avLst>
              <a:gd name="adj" fmla="val 675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2" name="Text 23"/>
          <p:cNvSpPr txBox="1"/>
          <p:nvPr/>
        </p:nvSpPr>
        <p:spPr>
          <a:xfrm>
            <a:off x="7269480" y="4754880"/>
            <a:ext cx="420624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TCC: lote cercado por vias; sol nasce a leste e se põe na Av. Raul Lopes (oeste); vento de leste</a:t>
            </a:r>
            <a:endParaRPr lang="en-US" sz="1300" dirty="0"/>
          </a:p>
        </p:txBody>
      </p:sp>
      <p:sp>
        <p:nvSpPr>
          <p:cNvPr id="33" name="Shape 24"/>
          <p:cNvSpPr/>
          <p:nvPr/>
        </p:nvSpPr>
        <p:spPr>
          <a:xfrm>
            <a:off x="548640" y="5669280"/>
            <a:ext cx="6309360" cy="438912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822960" y="5669280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BASTÃO PASSADO  ▸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mapa de condicionantes do terreno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36" name="Shape 27"/>
          <p:cNvSpPr/>
          <p:nvPr/>
        </p:nvSpPr>
        <p:spPr>
          <a:xfrm>
            <a:off x="548640" y="6382512"/>
            <a:ext cx="365760" cy="365760"/>
          </a:xfrm>
          <a:prstGeom prst="ellipse">
            <a:avLst/>
          </a:prstGeom>
          <a:solidFill>
            <a:srgbClr val="1F2A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28"/>
          <p:cNvSpPr txBox="1"/>
          <p:nvPr/>
        </p:nvSpPr>
        <p:spPr>
          <a:xfrm>
            <a:off x="548640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8" name="Text 29"/>
          <p:cNvSpPr txBox="1"/>
          <p:nvPr/>
        </p:nvSpPr>
        <p:spPr>
          <a:xfrm>
            <a:off x="1005840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  ·  Onde estou?</a:t>
            </a:r>
            <a:endParaRPr lang="en-US" sz="1200" dirty="0"/>
          </a:p>
        </p:txBody>
      </p:sp>
      <p:sp>
        <p:nvSpPr>
          <p:cNvPr id="39" name="Shape 30"/>
          <p:cNvSpPr/>
          <p:nvPr/>
        </p:nvSpPr>
        <p:spPr>
          <a:xfrm>
            <a:off x="3322244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1"/>
          <p:cNvSpPr txBox="1"/>
          <p:nvPr/>
        </p:nvSpPr>
        <p:spPr>
          <a:xfrm>
            <a:off x="3322244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41" name="Text 32"/>
          <p:cNvSpPr txBox="1"/>
          <p:nvPr/>
        </p:nvSpPr>
        <p:spPr>
          <a:xfrm>
            <a:off x="3779444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  ·  O que preciso?</a:t>
            </a:r>
            <a:endParaRPr lang="en-US" sz="1200" dirty="0"/>
          </a:p>
        </p:txBody>
      </p:sp>
      <p:sp>
        <p:nvSpPr>
          <p:cNvPr id="42" name="Shape 33"/>
          <p:cNvSpPr/>
          <p:nvPr/>
        </p:nvSpPr>
        <p:spPr>
          <a:xfrm>
            <a:off x="6095848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Text 34"/>
          <p:cNvSpPr txBox="1"/>
          <p:nvPr/>
        </p:nvSpPr>
        <p:spPr>
          <a:xfrm>
            <a:off x="6095848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4" name="Text 35"/>
          <p:cNvSpPr txBox="1"/>
          <p:nvPr/>
        </p:nvSpPr>
        <p:spPr>
          <a:xfrm>
            <a:off x="6553048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  ·  Qual é a ideia?</a:t>
            </a:r>
            <a:endParaRPr lang="en-US" sz="1200" dirty="0"/>
          </a:p>
        </p:txBody>
      </p:sp>
      <p:sp>
        <p:nvSpPr>
          <p:cNvPr id="45" name="Shape 36"/>
          <p:cNvSpPr/>
          <p:nvPr/>
        </p:nvSpPr>
        <p:spPr>
          <a:xfrm>
            <a:off x="8869451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Text 37"/>
          <p:cNvSpPr txBox="1"/>
          <p:nvPr/>
        </p:nvSpPr>
        <p:spPr>
          <a:xfrm>
            <a:off x="8869451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7" name="Text 38"/>
          <p:cNvSpPr txBox="1"/>
          <p:nvPr/>
        </p:nvSpPr>
        <p:spPr>
          <a:xfrm>
            <a:off x="9326651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  ·  Como fica de verdade?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1ª PERNA  ·  LV-ARQ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LEI DEIXA FAZER?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lei da zona ZOM-4 também é levantamento: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933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Terreno: 14.762 m²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5559552" cy="914400"/>
          </a:xfrm>
          <a:prstGeom prst="rect">
            <a:avLst/>
          </a:prstGeom>
          <a:solidFill>
            <a:srgbClr val="B0573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08192" y="2377440"/>
            <a:ext cx="868680" cy="914400"/>
          </a:xfrm>
          <a:prstGeom prst="rect">
            <a:avLst/>
          </a:prstGeom>
          <a:solidFill>
            <a:srgbClr val="BFA5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76872" y="2377440"/>
            <a:ext cx="521208" cy="914400"/>
          </a:xfrm>
          <a:prstGeom prst="rect">
            <a:avLst/>
          </a:prstGeom>
          <a:solidFill>
            <a:srgbClr val="6B775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377440"/>
            <a:ext cx="52852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80% pode ser ocupado  ·  11.809 m²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162349" y="3401568"/>
            <a:ext cx="33357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B7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7,5% </a:t>
            </a:r>
            <a:pPr algn="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mínimo tem que ser permeável: 1.107 m²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776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aproveitamento 6,0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658368" cy="658368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25880" y="4389120"/>
            <a:ext cx="658368" cy="658368"/>
          </a:xfrm>
          <a:prstGeom prst="rect">
            <a:avLst/>
          </a:prstGeom>
          <a:solidFill>
            <a:srgbClr val="E9CDB8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03120" y="4389120"/>
            <a:ext cx="658368" cy="658368"/>
          </a:xfrm>
          <a:prstGeom prst="rect">
            <a:avLst/>
          </a:prstGeom>
          <a:solidFill>
            <a:srgbClr val="E9CDB8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80360" y="4389120"/>
            <a:ext cx="658368" cy="658368"/>
          </a:xfrm>
          <a:prstGeom prst="rect">
            <a:avLst/>
          </a:prstGeom>
          <a:solidFill>
            <a:srgbClr val="E9CDB8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0" y="4389120"/>
            <a:ext cx="658368" cy="658368"/>
          </a:xfrm>
          <a:prstGeom prst="rect">
            <a:avLst/>
          </a:prstGeom>
          <a:solidFill>
            <a:srgbClr val="E9CDB8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34840" y="4389120"/>
            <a:ext cx="658368" cy="658368"/>
          </a:xfrm>
          <a:prstGeom prst="rect">
            <a:avLst/>
          </a:prstGeom>
          <a:solidFill>
            <a:srgbClr val="E9CDB8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0" y="438912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até 6 vezes a área do terreno em área construída: 88.572 m²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818120" y="1600200"/>
            <a:ext cx="3840480" cy="3886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001000" y="171907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 esquemático: resposta ao clima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1975104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ilustrativo do partido do TCC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046720" y="2331720"/>
            <a:ext cx="384048" cy="384048"/>
          </a:xfrm>
          <a:prstGeom prst="ellipse">
            <a:avLst/>
          </a:prstGeom>
          <a:solidFill>
            <a:srgbClr val="E3A857"/>
          </a:solidFill>
          <a:ln w="12700">
            <a:solidFill>
              <a:srgbClr val="E3A8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66760" y="2697480"/>
            <a:ext cx="274320" cy="731520"/>
          </a:xfrm>
          <a:prstGeom prst="line">
            <a:avLst/>
          </a:prstGeom>
          <a:noFill/>
          <a:ln w="15875">
            <a:solidFill>
              <a:srgbClr val="E3A857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389620" y="2743200"/>
            <a:ext cx="274320" cy="731520"/>
          </a:xfrm>
          <a:prstGeom prst="line">
            <a:avLst/>
          </a:prstGeom>
          <a:noFill/>
          <a:ln w="15875">
            <a:solidFill>
              <a:srgbClr val="E3A857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8412480" y="2788920"/>
            <a:ext cx="274320" cy="731520"/>
          </a:xfrm>
          <a:prstGeom prst="line">
            <a:avLst/>
          </a:prstGeom>
          <a:noFill/>
          <a:ln w="15875">
            <a:solidFill>
              <a:srgbClr val="E3A857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8503920" y="2377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 da tarde (oeste)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961120" y="3429000"/>
            <a:ext cx="1600200" cy="1325880"/>
          </a:xfrm>
          <a:prstGeom prst="rect">
            <a:avLst/>
          </a:prstGeom>
          <a:solidFill>
            <a:srgbClr val="EFEBE0"/>
          </a:solidFill>
          <a:ln w="15875">
            <a:solidFill>
              <a:srgbClr val="1F2A4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458200" y="3291840"/>
            <a:ext cx="2606040" cy="13716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326880" y="299923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cobertura com beiral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595360" y="3520440"/>
            <a:ext cx="41148" cy="1097280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686800" y="3520440"/>
            <a:ext cx="41148" cy="1097280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778240" y="3520440"/>
            <a:ext cx="41148" cy="1097280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869680" y="3520440"/>
            <a:ext cx="41148" cy="1097280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424160" y="3611880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515600" y="3611880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424160" y="3785616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515600" y="3785616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424160" y="3959352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515600" y="3959352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424160" y="4133088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515600" y="4133088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424160" y="4306824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515600" y="4306824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424160" y="4480560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515600" y="4480560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458200" y="4069080"/>
            <a:ext cx="2971800" cy="0"/>
          </a:xfrm>
          <a:prstGeom prst="line">
            <a:avLst/>
          </a:prstGeom>
          <a:noFill/>
          <a:ln w="25400">
            <a:solidFill>
              <a:srgbClr val="2F6592"/>
            </a:solidFill>
            <a:prstDash val="solid"/>
            <a:headEnd type="triangle"/>
          </a:ln>
        </p:spPr>
      </p:sp>
      <p:sp>
        <p:nvSpPr>
          <p:cNvPr id="47" name="Text 45"/>
          <p:cNvSpPr txBox="1"/>
          <p:nvPr/>
        </p:nvSpPr>
        <p:spPr>
          <a:xfrm>
            <a:off x="10744200" y="374904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6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vento leste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11247120" y="4434840"/>
            <a:ext cx="45720" cy="320040"/>
          </a:xfrm>
          <a:prstGeom prst="rect">
            <a:avLst/>
          </a:prstGeom>
          <a:solidFill>
            <a:srgbClr val="7A5C3E"/>
          </a:solidFill>
          <a:ln w="12700">
            <a:solidFill>
              <a:srgbClr val="7A5C3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1064240" y="4206240"/>
            <a:ext cx="411480" cy="365760"/>
          </a:xfrm>
          <a:prstGeom prst="ellipse">
            <a:avLst/>
          </a:prstGeom>
          <a:solidFill>
            <a:srgbClr val="6B7751"/>
          </a:solidFill>
          <a:ln w="12700">
            <a:solidFill>
              <a:srgbClr val="6B775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001000" y="4754880"/>
            <a:ext cx="3520440" cy="0"/>
          </a:xfrm>
          <a:prstGeom prst="line">
            <a:avLst/>
          </a:prstGeom>
          <a:noFill/>
          <a:ln w="19050">
            <a:solidFill>
              <a:srgbClr val="1F2A44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001000" y="48463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brise </a:t>
            </a:r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o sol da tarde  ·  </a:t>
            </a:r>
            <a:pPr indent="0" marL="0">
              <a:buNone/>
            </a:pPr>
            <a:r>
              <a:rPr lang="en-US" sz="1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cobogó </a:t>
            </a:r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deixa o vento passar  ·  </a:t>
            </a:r>
            <a:pPr indent="0" marL="0">
              <a:buNone/>
            </a:pPr>
            <a:r>
              <a:rPr lang="en-US" sz="1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beiral </a:t>
            </a:r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sombreia as fachadas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548640" y="5669280"/>
            <a:ext cx="11064240" cy="438912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22960" y="566928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BASTÃO PASSADO  ▸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ocupar, quanto construir e quanto deixar permeável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6382512"/>
            <a:ext cx="365760" cy="365760"/>
          </a:xfrm>
          <a:prstGeom prst="ellipse">
            <a:avLst/>
          </a:prstGeom>
          <a:solidFill>
            <a:srgbClr val="1F2A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05840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  ·  Onde estou?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322244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3322244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3779444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  ·  O que preciso?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6095848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6095848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53048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  ·  Qual é a ideia?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8869451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8869451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9326651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  ·  Como fica de verdade?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2ª PERNA  ·  PN-ARQ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PRECISO?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programa de necessidades lista cada ambiente e sua área. No Arena Poty, 10.936 m² divididos assim: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3774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8720" y="23774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08760" y="23774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8800" y="23774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840" y="23774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68880" y="23774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88920" y="23774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08960" y="23774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29000" y="23774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6974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68680" y="26974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88720" y="26974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08760" y="26974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28800" y="26974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48840" y="26974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68880" y="26974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88920" y="26974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08960" y="26974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29000" y="26974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301752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8680" y="301752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8720" y="301752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08760" y="301752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828800" y="301752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148840" y="301752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468880" y="301752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788920" y="301752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08960" y="301752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429000" y="301752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8640" y="333756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8680" y="333756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188720" y="333756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508760" y="333756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828800" y="333756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48840" y="333756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468880" y="333756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788920" y="333756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108960" y="333756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429000" y="333756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8640" y="365760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68680" y="365760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188720" y="365760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508760" y="365760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828800" y="365760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148840" y="365760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468880" y="365760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788920" y="365760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108960" y="365760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429000" y="365760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39776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68680" y="39776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188720" y="39776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508760" y="39776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828800" y="39776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148840" y="39776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468880" y="39776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788920" y="39776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08960" y="39776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429000" y="397764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48640" y="42976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68680" y="42976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188720" y="42976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508760" y="42976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828800" y="42976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148840" y="42976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468880" y="42976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788920" y="42976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108960" y="4297680"/>
            <a:ext cx="274320" cy="274320"/>
          </a:xfrm>
          <a:prstGeom prst="rect">
            <a:avLst/>
          </a:prstGeom>
          <a:solidFill>
            <a:srgbClr val="6B7751"/>
          </a:solidFill>
          <a:ln w="6350">
            <a:solidFill>
              <a:srgbClr val="6B775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429000" y="429768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548640" y="461772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868680" y="461772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188720" y="461772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1508760" y="461772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828800" y="461772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148840" y="461772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468880" y="461772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788920" y="461772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108960" y="461772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429000" y="461772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48640" y="493776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868680" y="493776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88720" y="493776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508760" y="493776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828800" y="493776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148840" y="493776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468880" y="493776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788920" y="493776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108960" y="493776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429000" y="493776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48640" y="525780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868680" y="525780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188720" y="525780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1508760" y="525780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828800" y="525780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148840" y="525780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468880" y="525780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788920" y="525780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3108960" y="525780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3429000" y="5257800"/>
            <a:ext cx="274320" cy="274320"/>
          </a:xfrm>
          <a:prstGeom prst="rect">
            <a:avLst/>
          </a:prstGeom>
          <a:solidFill>
            <a:srgbClr val="B0573F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548640" y="5623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quadrado ≈ 1% do programa</a:t>
            </a:r>
            <a:endParaRPr lang="en-US" sz="1100" dirty="0"/>
          </a:p>
        </p:txBody>
      </p:sp>
      <p:sp>
        <p:nvSpPr>
          <p:cNvPr id="106" name="Text 104"/>
          <p:cNvSpPr txBox="1"/>
          <p:nvPr/>
        </p:nvSpPr>
        <p:spPr>
          <a:xfrm>
            <a:off x="3931920" y="23317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6B77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69%</a:t>
            </a:r>
            <a:endParaRPr lang="en-US" sz="4000" dirty="0"/>
          </a:p>
        </p:txBody>
      </p:sp>
      <p:sp>
        <p:nvSpPr>
          <p:cNvPr id="107" name="Text 105"/>
          <p:cNvSpPr txBox="1"/>
          <p:nvPr/>
        </p:nvSpPr>
        <p:spPr>
          <a:xfrm>
            <a:off x="3931920" y="30175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ar livre  ·  7.560 m²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society, pista de corrida, quadra de tênis, praças, estacionamento, paisagismo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3931920" y="38404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31%</a:t>
            </a:r>
            <a:endParaRPr lang="en-US" sz="4000" dirty="0"/>
          </a:p>
        </p:txBody>
      </p:sp>
      <p:sp>
        <p:nvSpPr>
          <p:cNvPr id="109" name="Text 107"/>
          <p:cNvSpPr txBox="1"/>
          <p:nvPr/>
        </p:nvSpPr>
        <p:spPr>
          <a:xfrm>
            <a:off x="3931920" y="45262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edificado  ·  3.376 m²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piscina, quadra coberta, academia, cultural, saúde, administração, apoio</a:t>
            </a:r>
            <a:endParaRPr lang="en-US" sz="1200" dirty="0"/>
          </a:p>
        </p:txBody>
      </p:sp>
      <p:sp>
        <p:nvSpPr>
          <p:cNvPr id="110" name="Shape 108"/>
          <p:cNvSpPr/>
          <p:nvPr/>
        </p:nvSpPr>
        <p:spPr>
          <a:xfrm>
            <a:off x="7863840" y="1600200"/>
            <a:ext cx="3794760" cy="3886200"/>
          </a:xfrm>
          <a:prstGeom prst="roundRect">
            <a:avLst>
              <a:gd name="adj" fmla="val 2892"/>
            </a:avLst>
          </a:prstGeom>
          <a:solidFill>
            <a:srgbClr val="FFFFFF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111" name="Text 109"/>
          <p:cNvSpPr txBox="1"/>
          <p:nvPr/>
        </p:nvSpPr>
        <p:spPr>
          <a:xfrm>
            <a:off x="8092440" y="17373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Setores edificados (m²)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8092440" y="21488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Esportivo interno</a:t>
            </a:r>
            <a:endParaRPr lang="en-US" sz="1100" dirty="0"/>
          </a:p>
        </p:txBody>
      </p:sp>
      <p:sp>
        <p:nvSpPr>
          <p:cNvPr id="113" name="Shape 111"/>
          <p:cNvSpPr/>
          <p:nvPr/>
        </p:nvSpPr>
        <p:spPr>
          <a:xfrm>
            <a:off x="9875520" y="2221992"/>
            <a:ext cx="1097280" cy="201168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11018520" y="214884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1510</a:t>
            </a:r>
            <a:endParaRPr lang="en-US" sz="1100" dirty="0"/>
          </a:p>
        </p:txBody>
      </p:sp>
      <p:sp>
        <p:nvSpPr>
          <p:cNvPr id="115" name="Text 113"/>
          <p:cNvSpPr txBox="1"/>
          <p:nvPr/>
        </p:nvSpPr>
        <p:spPr>
          <a:xfrm>
            <a:off x="8092440" y="256032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Convivência / alimentação</a:t>
            </a:r>
            <a:endParaRPr lang="en-US" sz="1100" dirty="0"/>
          </a:p>
        </p:txBody>
      </p:sp>
      <p:sp>
        <p:nvSpPr>
          <p:cNvPr id="116" name="Shape 114"/>
          <p:cNvSpPr/>
          <p:nvPr/>
        </p:nvSpPr>
        <p:spPr>
          <a:xfrm>
            <a:off x="9875520" y="2633472"/>
            <a:ext cx="603141" cy="201168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10524381" y="256032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</a:t>
            </a:r>
            <a:endParaRPr lang="en-US" sz="1100" dirty="0"/>
          </a:p>
        </p:txBody>
      </p:sp>
      <p:sp>
        <p:nvSpPr>
          <p:cNvPr id="118" name="Text 116"/>
          <p:cNvSpPr txBox="1"/>
          <p:nvPr/>
        </p:nvSpPr>
        <p:spPr>
          <a:xfrm>
            <a:off x="8092440" y="297180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</a:t>
            </a:r>
            <a:endParaRPr lang="en-US" sz="1100" dirty="0"/>
          </a:p>
        </p:txBody>
      </p:sp>
      <p:sp>
        <p:nvSpPr>
          <p:cNvPr id="119" name="Shape 117"/>
          <p:cNvSpPr/>
          <p:nvPr/>
        </p:nvSpPr>
        <p:spPr>
          <a:xfrm>
            <a:off x="9875520" y="3044952"/>
            <a:ext cx="192569" cy="201168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10113809" y="29718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265</a:t>
            </a:r>
            <a:endParaRPr lang="en-US" sz="1100" dirty="0"/>
          </a:p>
        </p:txBody>
      </p:sp>
      <p:sp>
        <p:nvSpPr>
          <p:cNvPr id="121" name="Text 119"/>
          <p:cNvSpPr txBox="1"/>
          <p:nvPr/>
        </p:nvSpPr>
        <p:spPr>
          <a:xfrm>
            <a:off x="8092440" y="338328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 / serviços</a:t>
            </a:r>
            <a:endParaRPr lang="en-US" sz="1100" dirty="0"/>
          </a:p>
        </p:txBody>
      </p:sp>
      <p:sp>
        <p:nvSpPr>
          <p:cNvPr id="122" name="Shape 120"/>
          <p:cNvSpPr/>
          <p:nvPr/>
        </p:nvSpPr>
        <p:spPr>
          <a:xfrm>
            <a:off x="9875520" y="3456432"/>
            <a:ext cx="178035" cy="201168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10099275" y="33832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245</a:t>
            </a:r>
            <a:endParaRPr lang="en-US" sz="1100" dirty="0"/>
          </a:p>
        </p:txBody>
      </p:sp>
      <p:sp>
        <p:nvSpPr>
          <p:cNvPr id="124" name="Text 122"/>
          <p:cNvSpPr txBox="1"/>
          <p:nvPr/>
        </p:nvSpPr>
        <p:spPr>
          <a:xfrm>
            <a:off x="8092440" y="379476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Apoio esportivo</a:t>
            </a:r>
            <a:endParaRPr lang="en-US" sz="1100" dirty="0"/>
          </a:p>
        </p:txBody>
      </p:sp>
      <p:sp>
        <p:nvSpPr>
          <p:cNvPr id="125" name="Shape 123"/>
          <p:cNvSpPr/>
          <p:nvPr/>
        </p:nvSpPr>
        <p:spPr>
          <a:xfrm>
            <a:off x="9875520" y="3867912"/>
            <a:ext cx="150422" cy="201168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10071662" y="379476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207</a:t>
            </a:r>
            <a:endParaRPr lang="en-US" sz="1100" dirty="0"/>
          </a:p>
        </p:txBody>
      </p:sp>
      <p:sp>
        <p:nvSpPr>
          <p:cNvPr id="127" name="Text 125"/>
          <p:cNvSpPr txBox="1"/>
          <p:nvPr/>
        </p:nvSpPr>
        <p:spPr>
          <a:xfrm>
            <a:off x="8092440" y="42062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Administrativo</a:t>
            </a:r>
            <a:endParaRPr lang="en-US" sz="1100" dirty="0"/>
          </a:p>
        </p:txBody>
      </p:sp>
      <p:sp>
        <p:nvSpPr>
          <p:cNvPr id="128" name="Shape 126"/>
          <p:cNvSpPr/>
          <p:nvPr/>
        </p:nvSpPr>
        <p:spPr>
          <a:xfrm>
            <a:off x="9875520" y="4279392"/>
            <a:ext cx="129348" cy="201168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0050588" y="420624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</a:t>
            </a:r>
            <a:endParaRPr lang="en-US" sz="1100" dirty="0"/>
          </a:p>
        </p:txBody>
      </p:sp>
      <p:sp>
        <p:nvSpPr>
          <p:cNvPr id="130" name="Text 128"/>
          <p:cNvSpPr txBox="1"/>
          <p:nvPr/>
        </p:nvSpPr>
        <p:spPr>
          <a:xfrm>
            <a:off x="8092440" y="461772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</a:t>
            </a:r>
            <a:endParaRPr lang="en-US" sz="1100" dirty="0"/>
          </a:p>
        </p:txBody>
      </p:sp>
      <p:sp>
        <p:nvSpPr>
          <p:cNvPr id="131" name="Shape 129"/>
          <p:cNvSpPr/>
          <p:nvPr/>
        </p:nvSpPr>
        <p:spPr>
          <a:xfrm>
            <a:off x="9875520" y="4690872"/>
            <a:ext cx="58134" cy="201168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132" name="Text 130"/>
          <p:cNvSpPr txBox="1"/>
          <p:nvPr/>
        </p:nvSpPr>
        <p:spPr>
          <a:xfrm>
            <a:off x="9979374" y="461772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100" dirty="0"/>
          </a:p>
        </p:txBody>
      </p:sp>
      <p:sp>
        <p:nvSpPr>
          <p:cNvPr id="133" name="Text 131"/>
          <p:cNvSpPr txBox="1"/>
          <p:nvPr/>
        </p:nvSpPr>
        <p:spPr>
          <a:xfrm>
            <a:off x="8092440" y="502920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Sanitários públicos</a:t>
            </a:r>
            <a:endParaRPr lang="en-US" sz="1100" dirty="0"/>
          </a:p>
        </p:txBody>
      </p:sp>
      <p:sp>
        <p:nvSpPr>
          <p:cNvPr id="134" name="Shape 132"/>
          <p:cNvSpPr/>
          <p:nvPr/>
        </p:nvSpPr>
        <p:spPr>
          <a:xfrm>
            <a:off x="9875520" y="5102352"/>
            <a:ext cx="45720" cy="201168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9966960" y="50292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100" dirty="0"/>
          </a:p>
        </p:txBody>
      </p:sp>
      <p:sp>
        <p:nvSpPr>
          <p:cNvPr id="136" name="Shape 134"/>
          <p:cNvSpPr/>
          <p:nvPr/>
        </p:nvSpPr>
        <p:spPr>
          <a:xfrm>
            <a:off x="548640" y="5669280"/>
            <a:ext cx="11064240" cy="438912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822960" y="566928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BASTÃO PASSADO  ▸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lista de ambientes com áreas: é ela que vai ser “desenhada” no estudo preliminar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48640" y="6382512"/>
            <a:ext cx="365760" cy="365760"/>
          </a:xfrm>
          <a:prstGeom prst="ellipse">
            <a:avLst/>
          </a:prstGeom>
          <a:solidFill>
            <a:srgbClr val="E9CD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0" name="Text 138"/>
          <p:cNvSpPr txBox="1"/>
          <p:nvPr/>
        </p:nvSpPr>
        <p:spPr>
          <a:xfrm>
            <a:off x="548640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1005840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  ·  Onde estou?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3322244" y="6382512"/>
            <a:ext cx="365760" cy="365760"/>
          </a:xfrm>
          <a:prstGeom prst="ellipse">
            <a:avLst/>
          </a:prstGeom>
          <a:solidFill>
            <a:srgbClr val="1F2A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3322244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44" name="Text 142"/>
          <p:cNvSpPr txBox="1"/>
          <p:nvPr/>
        </p:nvSpPr>
        <p:spPr>
          <a:xfrm>
            <a:off x="3779444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  ·  O que preciso?</a:t>
            </a:r>
            <a:endParaRPr lang="en-US" sz="1200" dirty="0"/>
          </a:p>
        </p:txBody>
      </p:sp>
      <p:sp>
        <p:nvSpPr>
          <p:cNvPr id="145" name="Shape 143"/>
          <p:cNvSpPr/>
          <p:nvPr/>
        </p:nvSpPr>
        <p:spPr>
          <a:xfrm>
            <a:off x="6095848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6" name="Text 144"/>
          <p:cNvSpPr txBox="1"/>
          <p:nvPr/>
        </p:nvSpPr>
        <p:spPr>
          <a:xfrm>
            <a:off x="6095848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53048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  ·  Qual é a ideia?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869451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8869451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9326651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  ·  Como fica de verdade?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3ª PERNA  ·  EP-ARQ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É A IDEIA?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estudo preliminar transforma o programa em uma ideia de projeto, em três passos: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47472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377440"/>
            <a:ext cx="868680" cy="86868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596896"/>
            <a:ext cx="429768" cy="4297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926080" y="23317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383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7307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ideia-força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11480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“Esporte como elemento de conexão” entre pessoas, cidade e paisagem.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023360" y="34747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43400" y="2148840"/>
            <a:ext cx="347472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17720" y="2377440"/>
            <a:ext cx="868680" cy="868680"/>
          </a:xfrm>
          <a:prstGeom prst="ellipse">
            <a:avLst/>
          </a:prstGeom>
          <a:solidFill>
            <a:srgbClr val="B0573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2596896"/>
            <a:ext cx="429768" cy="42976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720840" y="23317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000" dirty="0"/>
          </a:p>
        </p:txBody>
      </p:sp>
      <p:sp>
        <p:nvSpPr>
          <p:cNvPr id="17" name="Text 13"/>
          <p:cNvSpPr txBox="1"/>
          <p:nvPr/>
        </p:nvSpPr>
        <p:spPr>
          <a:xfrm>
            <a:off x="4617720" y="3383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PARTIDO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37307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 vira decisão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4617720" y="411480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Praça de acesso como transição · pátios que ligam os setores · conexão com o Rio Poti · brises, vegetação, grandes coberturas e ventilação natural.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7818120" y="34747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8138160" y="2148840"/>
            <a:ext cx="347472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412480" y="2377440"/>
            <a:ext cx="868680" cy="86868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936" y="2596896"/>
            <a:ext cx="429768" cy="4297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10515600" y="23317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000" dirty="0"/>
          </a:p>
        </p:txBody>
      </p:sp>
      <p:sp>
        <p:nvSpPr>
          <p:cNvPr id="25" name="Text 20"/>
          <p:cNvSpPr txBox="1"/>
          <p:nvPr/>
        </p:nvSpPr>
        <p:spPr>
          <a:xfrm>
            <a:off x="8412480" y="3383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DIMENSIONAMENTO PRÉVIO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8412480" y="37307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no terreno?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8412480" y="411480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3.376 m² edificados, bem abaixo dos 88.572 m² permitidos · 1.800 m² de paisagismo, acima dos 1.107 m² exigidos.</a:t>
            </a:r>
            <a:endParaRPr lang="en-US" sz="1300" dirty="0"/>
          </a:p>
        </p:txBody>
      </p:sp>
      <p:sp>
        <p:nvSpPr>
          <p:cNvPr id="28" name="Shape 23"/>
          <p:cNvSpPr/>
          <p:nvPr/>
        </p:nvSpPr>
        <p:spPr>
          <a:xfrm>
            <a:off x="548640" y="5669280"/>
            <a:ext cx="11064240" cy="438912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22960" y="566928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BASTÃO PASSADO  ▸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 + partido + números conferidos. O desenho vem no próximo slide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548640" y="6382512"/>
            <a:ext cx="365760" cy="365760"/>
          </a:xfrm>
          <a:prstGeom prst="ellipse">
            <a:avLst/>
          </a:prstGeom>
          <a:solidFill>
            <a:srgbClr val="E9CD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548640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1005840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  ·  Onde estou?</a:t>
            </a:r>
            <a:endParaRPr lang="en-US" sz="1200" dirty="0"/>
          </a:p>
        </p:txBody>
      </p:sp>
      <p:sp>
        <p:nvSpPr>
          <p:cNvPr id="34" name="Shape 29"/>
          <p:cNvSpPr/>
          <p:nvPr/>
        </p:nvSpPr>
        <p:spPr>
          <a:xfrm>
            <a:off x="3322244" y="6382512"/>
            <a:ext cx="365760" cy="365760"/>
          </a:xfrm>
          <a:prstGeom prst="ellipse">
            <a:avLst/>
          </a:prstGeom>
          <a:solidFill>
            <a:srgbClr val="E9CD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3322244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6" name="Text 31"/>
          <p:cNvSpPr txBox="1"/>
          <p:nvPr/>
        </p:nvSpPr>
        <p:spPr>
          <a:xfrm>
            <a:off x="3779444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  ·  O que preciso?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6095848" y="6382512"/>
            <a:ext cx="365760" cy="365760"/>
          </a:xfrm>
          <a:prstGeom prst="ellipse">
            <a:avLst/>
          </a:prstGeom>
          <a:solidFill>
            <a:srgbClr val="1F2A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6095848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9" name="Text 34"/>
          <p:cNvSpPr txBox="1"/>
          <p:nvPr/>
        </p:nvSpPr>
        <p:spPr>
          <a:xfrm>
            <a:off x="6553048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  ·  Qual é a ideia?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8869451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8869451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2" name="Text 37"/>
          <p:cNvSpPr txBox="1"/>
          <p:nvPr/>
        </p:nvSpPr>
        <p:spPr>
          <a:xfrm>
            <a:off x="9326651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  ·  Como fica de verdade?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3ª PERNA  ·  EP-ARQ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IDEIA NO PAPEL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20624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Fluxograma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783080"/>
            <a:ext cx="3931920" cy="2971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49834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Fluxograma  </a:t>
            </a:r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praça central é o “coração”: todos os setores passam por ela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983480" y="1554480"/>
            <a:ext cx="6766560" cy="3360975"/>
          </a:xfrm>
          <a:prstGeom prst="roundRect">
            <a:avLst>
              <a:gd name="adj" fmla="val 2721"/>
            </a:avLst>
          </a:prstGeom>
          <a:solidFill>
            <a:srgbClr val="F3E6DC"/>
          </a:solidFill>
          <a:ln w="12700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pic>
        <p:nvPicPr>
          <p:cNvPr id="8" name="Image 1" descr="Croqui de implantaçã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645920"/>
            <a:ext cx="6583680" cy="317809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104534" y="3111301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104534" y="311130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697066" y="2666367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697066" y="266636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762902" y="3079520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762902" y="3079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421270" y="2666367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421270" y="266636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079638" y="2666367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079638" y="266636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8672170" y="2602805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672170" y="260280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7882128" y="3174862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882128" y="31748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9725558" y="2634586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725558" y="263458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8935517" y="3238424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935517" y="3238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5074920" y="496117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Praça de acesso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7269480" y="496117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 (2 pisos)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9464040" y="496117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Atendimento + adm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074920" y="523549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Piscina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7269480" y="523549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Apoio esportivo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9464040" y="523549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 poliesportiva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5074920" y="550981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Comedoria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7269480" y="550981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society</a:t>
            </a:r>
            <a:endParaRPr lang="en-US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9464040" y="550981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 de tênis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548640" y="55778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━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vermelha: pista de corrida contornando o conjunto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6382512"/>
            <a:ext cx="365760" cy="365760"/>
          </a:xfrm>
          <a:prstGeom prst="ellipse">
            <a:avLst/>
          </a:prstGeom>
          <a:solidFill>
            <a:srgbClr val="E9CD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40" name="Text 36"/>
          <p:cNvSpPr txBox="1"/>
          <p:nvPr/>
        </p:nvSpPr>
        <p:spPr>
          <a:xfrm>
            <a:off x="1005840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  ·  Onde estou?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3322244" y="6382512"/>
            <a:ext cx="365760" cy="365760"/>
          </a:xfrm>
          <a:prstGeom prst="ellipse">
            <a:avLst/>
          </a:prstGeom>
          <a:solidFill>
            <a:srgbClr val="E9CD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3322244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43" name="Text 39"/>
          <p:cNvSpPr txBox="1"/>
          <p:nvPr/>
        </p:nvSpPr>
        <p:spPr>
          <a:xfrm>
            <a:off x="3779444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  ·  O que preciso?</a:t>
            </a:r>
            <a:endParaRPr lang="en-US" sz="1200" dirty="0"/>
          </a:p>
        </p:txBody>
      </p:sp>
      <p:sp>
        <p:nvSpPr>
          <p:cNvPr id="44" name="Shape 40"/>
          <p:cNvSpPr/>
          <p:nvPr/>
        </p:nvSpPr>
        <p:spPr>
          <a:xfrm>
            <a:off x="6095848" y="6382512"/>
            <a:ext cx="365760" cy="365760"/>
          </a:xfrm>
          <a:prstGeom prst="ellipse">
            <a:avLst/>
          </a:prstGeom>
          <a:solidFill>
            <a:srgbClr val="1F2A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095848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6" name="Text 42"/>
          <p:cNvSpPr txBox="1"/>
          <p:nvPr/>
        </p:nvSpPr>
        <p:spPr>
          <a:xfrm>
            <a:off x="6553048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  ·  Qual é a ideia?</a:t>
            </a:r>
            <a:endParaRPr lang="en-US" sz="1200" dirty="0"/>
          </a:p>
        </p:txBody>
      </p:sp>
      <p:sp>
        <p:nvSpPr>
          <p:cNvPr id="47" name="Shape 43"/>
          <p:cNvSpPr/>
          <p:nvPr/>
        </p:nvSpPr>
        <p:spPr>
          <a:xfrm>
            <a:off x="8869451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8869451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9" name="Text 45"/>
          <p:cNvSpPr txBox="1"/>
          <p:nvPr/>
        </p:nvSpPr>
        <p:spPr>
          <a:xfrm>
            <a:off x="9326651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  ·  Como fica de verdade?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4ª PERNA  ·  AP-ARQ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FICA DE VERDADE?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anteprojeto pega a ideia aprovada e a deixa definida e medida. É a próxima etapa do Arena Poty:</a:t>
            </a:r>
            <a:endParaRPr lang="en-US" sz="1600" dirty="0"/>
          </a:p>
        </p:txBody>
      </p:sp>
      <p:pic>
        <p:nvPicPr>
          <p:cNvPr id="5" name="Image 0" descr="Golei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320040"/>
            <a:ext cx="2377440" cy="161231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1488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ESTUDO PRELIMINAR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92240" y="21488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ANTEPROJETO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560320"/>
            <a:ext cx="5120640" cy="548640"/>
          </a:xfrm>
          <a:prstGeom prst="roundRect">
            <a:avLst>
              <a:gd name="adj" fmla="val 16667"/>
            </a:avLst>
          </a:prstGeom>
          <a:solidFill>
            <a:srgbClr val="EFEBE0"/>
          </a:solidFill>
          <a:ln w="12700">
            <a:solidFill>
              <a:srgbClr val="EFEB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25603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Volumes esboçados no croqui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715000" y="25603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492240" y="2560320"/>
            <a:ext cx="5166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675120" y="256032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Volumetria definida: alturas, cobertura, fachadas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3218688"/>
            <a:ext cx="5120640" cy="548640"/>
          </a:xfrm>
          <a:prstGeom prst="roundRect">
            <a:avLst>
              <a:gd name="adj" fmla="val 16667"/>
            </a:avLst>
          </a:prstGeom>
          <a:solidFill>
            <a:srgbClr val="EFEBE0"/>
          </a:solidFill>
          <a:ln w="12700">
            <a:solidFill>
              <a:srgbClr val="EFEBE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21868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 ligados no fluxograma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715000" y="321868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92240" y="3218688"/>
            <a:ext cx="5166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675120" y="3218688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funcional final, com rotas acessíveis (NBR 9050)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48640" y="3877056"/>
            <a:ext cx="5120640" cy="548640"/>
          </a:xfrm>
          <a:prstGeom prst="roundRect">
            <a:avLst>
              <a:gd name="adj" fmla="val 16667"/>
            </a:avLst>
          </a:prstGeom>
          <a:solidFill>
            <a:srgbClr val="EFEBE0"/>
          </a:solidFill>
          <a:ln w="12700">
            <a:solidFill>
              <a:srgbClr val="EFEBE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" y="3877056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estimadas do programa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715000" y="387705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492240" y="3877056"/>
            <a:ext cx="5166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675120" y="3877056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Plantas, cortes e elevações cotados, em escala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48640" y="4535424"/>
            <a:ext cx="5120640" cy="548640"/>
          </a:xfrm>
          <a:prstGeom prst="roundRect">
            <a:avLst>
              <a:gd name="adj" fmla="val 16667"/>
            </a:avLst>
          </a:prstGeom>
          <a:solidFill>
            <a:srgbClr val="EFEBE0"/>
          </a:solidFill>
          <a:ln w="12700">
            <a:solidFill>
              <a:srgbClr val="EFEBE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" y="453542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Moodboard de referências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715000" y="453542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2000" dirty="0"/>
          </a:p>
        </p:txBody>
      </p:sp>
      <p:sp>
        <p:nvSpPr>
          <p:cNvPr id="26" name="Shape 23"/>
          <p:cNvSpPr/>
          <p:nvPr/>
        </p:nvSpPr>
        <p:spPr>
          <a:xfrm>
            <a:off x="6492240" y="4535424"/>
            <a:ext cx="5166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6675120" y="4535424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 especificados, com brises e cobogós posicionados</a:t>
            </a:r>
            <a:endParaRPr lang="en-US" sz="1400" dirty="0"/>
          </a:p>
        </p:txBody>
      </p:sp>
      <p:pic>
        <p:nvPicPr>
          <p:cNvPr id="28" name="Image 1" descr="Materiais do mood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230368"/>
            <a:ext cx="5120640" cy="91252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6492240" y="5458968"/>
            <a:ext cx="5166360" cy="438912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766560" y="545896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BASTÃO PASSADO  ▸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segue para o projeto legal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6382512"/>
            <a:ext cx="365760" cy="365760"/>
          </a:xfrm>
          <a:prstGeom prst="ellipse">
            <a:avLst/>
          </a:prstGeom>
          <a:solidFill>
            <a:srgbClr val="E9CD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1005840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  ·  Onde estou?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3322244" y="6382512"/>
            <a:ext cx="365760" cy="365760"/>
          </a:xfrm>
          <a:prstGeom prst="ellipse">
            <a:avLst/>
          </a:prstGeom>
          <a:solidFill>
            <a:srgbClr val="E9CD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322244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3779444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  ·  O que preciso?</a:t>
            </a:r>
            <a:endParaRPr lang="en-US" sz="1200" dirty="0"/>
          </a:p>
        </p:txBody>
      </p:sp>
      <p:sp>
        <p:nvSpPr>
          <p:cNvPr id="38" name="Shape 34"/>
          <p:cNvSpPr/>
          <p:nvPr/>
        </p:nvSpPr>
        <p:spPr>
          <a:xfrm>
            <a:off x="6095848" y="6382512"/>
            <a:ext cx="365760" cy="365760"/>
          </a:xfrm>
          <a:prstGeom prst="ellipse">
            <a:avLst/>
          </a:prstGeom>
          <a:solidFill>
            <a:srgbClr val="E9CD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095848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0" name="Text 36"/>
          <p:cNvSpPr txBox="1"/>
          <p:nvPr/>
        </p:nvSpPr>
        <p:spPr>
          <a:xfrm>
            <a:off x="6553048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  ·  Qual é a ideia?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8869451" y="6382512"/>
            <a:ext cx="365760" cy="365760"/>
          </a:xfrm>
          <a:prstGeom prst="ellipse">
            <a:avLst/>
          </a:prstGeom>
          <a:solidFill>
            <a:srgbClr val="1F2A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8869451" y="6382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3" name="Text 39"/>
          <p:cNvSpPr txBox="1"/>
          <p:nvPr/>
        </p:nvSpPr>
        <p:spPr>
          <a:xfrm>
            <a:off x="9326651" y="6382512"/>
            <a:ext cx="222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  ·  Como fica de verdade?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LINHA DE CHEGADA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FA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perguntas para lembrar das etapas iniciais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606040" cy="2606040"/>
          </a:xfrm>
          <a:prstGeom prst="roundRect">
            <a:avLst>
              <a:gd name="adj" fmla="val 5263"/>
            </a:avLst>
          </a:prstGeom>
          <a:solidFill>
            <a:srgbClr val="2C3A5C"/>
          </a:solidFill>
          <a:ln w="12700">
            <a:solidFill>
              <a:srgbClr val="3A4A7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031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834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estou?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6576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condicionantes + índices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1965960"/>
            <a:ext cx="2606040" cy="2606040"/>
          </a:xfrm>
          <a:prstGeom prst="roundRect">
            <a:avLst>
              <a:gd name="adj" fmla="val 5263"/>
            </a:avLst>
          </a:prstGeom>
          <a:solidFill>
            <a:srgbClr val="2C3A5C"/>
          </a:solidFill>
          <a:ln w="12700">
            <a:solidFill>
              <a:srgbClr val="3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21031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834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preciso?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36576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setores, 10.936 m²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1965960"/>
            <a:ext cx="2606040" cy="2606040"/>
          </a:xfrm>
          <a:prstGeom prst="roundRect">
            <a:avLst>
              <a:gd name="adj" fmla="val 5263"/>
            </a:avLst>
          </a:prstGeom>
          <a:solidFill>
            <a:srgbClr val="2C3A5C"/>
          </a:solidFill>
          <a:ln w="12700">
            <a:solidFill>
              <a:srgbClr val="3A4A7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21031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834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é a ideia?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36576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conceito, partido, fluxograma e croqui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052560" y="1965960"/>
            <a:ext cx="2606040" cy="2606040"/>
          </a:xfrm>
          <a:prstGeom prst="roundRect">
            <a:avLst>
              <a:gd name="adj" fmla="val 5263"/>
            </a:avLst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81160" y="21031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9281160" y="2834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fica de verdade?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9281160" y="36576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plantas cotadas e volumetria definida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4892040"/>
            <a:ext cx="12191695" cy="68580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892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Seguir a ordem da norma = menos retrabalho, mais clareza para quem projeta, aprova e constrói.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897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Referências: ABNT NBR 16636-1:2017. Elaboração e desenvolvimento de serviços técnicos especializados de projetos arquitetônicos e urbanísticos, Parte 1: Diretrizes e terminologia.  ·  OLIVEIRA JÚNIOR, C. C. Centro Esportivo Arena Poty. TCC II, Arquitetura e Urbanismo, Teresina, 2026.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NBR 16636-1 — Etapas Iniciais do Projeto</dc:title>
  <dc:subject>PptxGenJS Presentation</dc:subject>
  <dc:creator>Cláudio Castro de Oliveira Júnior</dc:creator>
  <cp:lastModifiedBy>Cláudio Castro de Oliveira Júnior</cp:lastModifiedBy>
  <cp:revision>1</cp:revision>
  <dcterms:created xsi:type="dcterms:W3CDTF">2026-09-29T00:34:01Z</dcterms:created>
  <dcterms:modified xsi:type="dcterms:W3CDTF">2026-09-29T00:34:01Z</dcterms:modified>
</cp:coreProperties>
</file>