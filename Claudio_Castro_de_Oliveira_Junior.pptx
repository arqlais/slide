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Meu trabalho é o 07: a NBR 16636-1 e as etapas iniciais do projeto de arquitetura. Vou mostrar cada etapa com o que a norma diz e o que ela entregou no meu TCC, o Centro Esportivo Arena Poty.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Pelo escopo, a NBR 16636-1 estabelece os procedimentos gerais e as diretrizes para produzir as principais etapas dos projetos arquitetônicos e urbanísticos. Vale para edificações e espaços abertos, públicos ou privados, e substitui as antigas NBR 13531 e 13532. Serviço técnico é a atividade de um profissional habilitado, e ela acontece em etapas, que a norma define como períodos de trabalho em sequência. A tabela resume o que a Parte 1 diz de cada etapa; as siglas terminadas em ARQ seguem o enunciado. As cinco primeiras são as etapas iniciais, tema deste trabalho; as finais ficam para o Trabalho 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etapas vêm em sequência, e cada uma entrega um produto que é a base da seguinte. A norma exige que o contratante aceite os documentos de uma etapa antes de a próxima começar, item 5.2.2. Hoje o foco são as cinco iniciais. O estudo de caso é o Arena Poty: 14.762 m² de terreno e 10.936 m² de programa.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Etapa 1, levantamento de dados. A norma define como a coleta das informações das condições que já existem no lugar. No TCC isso virou seis mapas: terreno, clima, sistema viário, uso do solo, gabarito e equipamentos. O lote está vazio, então não há edificação existente para levantar.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no levantamento, o registro fotográfico. As fotos mostram o lote vazio e cercado, a avenida com ciclofaixa e, à noite, muita gente caminhando e correndo. O lugar já é usado para esporte.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legislação também faz parte do levantamento. Na ZOM-4, até 80% do terreno pode ser ocupado, no mínimo 7,5% fica permeável e, somando todos os andares, posso construir até 6 vezes a área do terreno: 88.572 m². O projeto usa só 3.376 m². Área sobra; o desafio é o clima. O corte, que eu fiz a partir do partido do TCC, mostra a resposta: brise, cobogó e beiral.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Etapa 2, programa de necessidades: as necessidades do contratante organizadas em ambientes e áreas. São 10.936 m², e 69% é ao ar livre: campo, pista, praças e estacionamento. É, antes de tudo, um projeto de espaços abertos.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Etapa 3, estudo preliminar. A norma define como o dimensionamento preliminar dos conceitos do projeto. No TCC: o conceito, esporte como elemento de conexão; o partido, com praça de acesso, pátios, conexão com o Rio Poti e conforto passivo; e o pré-dimensionamento, que confirma que tudo cabe no terreno.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produtos gráficos do estudo preliminar: o fluxograma, com a praça central ligando todos os setores, e o croqui, que na norma é um plano de massas, item 3.87. Os números mostram onde fica cada setor no terreno.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Etapa 4, anteprojeto. A norma define como as informações técnicas iniciais de detalhamento. É a próxima etapa do TCC: o croqui vira volumetria definida, o fluxograma vira solução funcional com rotas acessíveis, as áreas viram plantas cotadas e o moodboard vira especificação de materiais. Ele é a base do projeto legal.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levantamento, programa, estudo preliminar e anteprojeto, cada um com a sua entrega. Seguir essa ordem evita retrabalho e deixa o projeto claro para quem projeta, aprova e constrói.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52069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96646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41223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66160" y="5074920"/>
            <a:ext cx="7772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  →  diagnóstico do lugar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5520690"/>
            <a:ext cx="7772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 →  ambientes e áreas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5966460"/>
            <a:ext cx="7772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preliminar  →  conceito, partido e croqui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6412230"/>
            <a:ext cx="7772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Anteprojeto  →  volumetria e plantas cotadas</a:t>
            </a:r>
            <a:endParaRPr lang="en-US" sz="1800" dirty="0"/>
          </a:p>
        </p:txBody>
      </p:sp>
      <p:pic>
        <p:nvPicPr>
          <p:cNvPr id="10" name="Image 0" descr="Atleta chutando b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14600"/>
            <a:ext cx="2743200" cy="3289945"/>
          </a:xfrm>
          <a:prstGeom prst="rect">
            <a:avLst/>
          </a:prstGeom>
        </p:spPr>
      </p:pic>
      <p:pic>
        <p:nvPicPr>
          <p:cNvPr id="11" name="Image 1" descr="Atleta sac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103120"/>
            <a:ext cx="2240280" cy="3210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07  ·  NBR 16636-1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463040" y="914400"/>
            <a:ext cx="9235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4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TERRENO</a:t>
            </a:r>
            <a:endParaRPr lang="en-US" sz="5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54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ANTEPROJETO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27889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etapas iniciais do projeto de arquitetura, aplicadas ao meu TCC: o Centro Esportivo Arena Poty.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8404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Cláudio Castro de Oliveira Júnior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Urbanismo  ·  Prof. Danilo Sérvio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DIZ A NBR 16636-1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31520" cy="7315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73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05740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os procedimentos gerais e as diretrizes para produzir as principais etapas dos serviços de projeto arquitetônico e urbanístico (item 1, Escopo).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731520" cy="7315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375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136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 de abrangência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35204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de edificações ou espaços abertos, públicos ou privados. Parte 1: diretrizes e terminologia · Parte 2: projeto arquitetônico · Parte 3: urbanístico. Substitui as NBR 13531 e 13532.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617720"/>
            <a:ext cx="731520" cy="73152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0060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4599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Serviço técnico de projeto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49834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técnica de profissional habilitado, física ou intelectual (item 3.113), feita em etapas: períodos de trabalho em sequência (item 3.56).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989320" y="1645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do projeto e o que a Parte 1 diz de cada uma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2011680"/>
          <a:ext cx="5669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 Parte 1 diz (item)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Condições preexistentes (LV-PRE, 3.67)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Necessidades do contratante (PGN, 3.91)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Seleção de alternativas (3.49)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preliminar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Dimensiona os conceitos (3.54)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Anteprojeto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Detalhamento inicial (3.4)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e alvará (3.106)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básico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definido na Parte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executivo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Informações finais para a obra (3.96)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</a:tbl>
          </a:graphicData>
        </a:graphic>
      </p:graphicFrame>
      <p:sp>
        <p:nvSpPr>
          <p:cNvPr id="18" name="Text 12"/>
          <p:cNvSpPr txBox="1"/>
          <p:nvPr/>
        </p:nvSpPr>
        <p:spPr>
          <a:xfrm>
            <a:off x="5989320" y="5623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iniciais: tema deste trabalho   </a:t>
            </a:r>
            <a:pPr indent="0" marL="0">
              <a:buNone/>
            </a:pPr>
            <a:r>
              <a:rPr lang="en-US" sz="1100" dirty="0">
                <a:solidFill>
                  <a:srgbClr val="E4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finais (Trab. 08)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989320" y="58978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Siglas -ARQ conforme o enunciado. Na Parte 1, o PL se chama “projeto para licenciamentos”.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NA PRÁTICA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EM SEQUÊNCIA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</a:t>
            </a:r>
            <a:pPr indent="0" marL="0">
              <a:buNone/>
            </a:pPr>
            <a:r>
              <a:rPr lang="en-US" sz="16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um produto</a:t>
            </a:r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é a base da seguinte, e a próxima só começa depois que a anterior é aceita pelo contratante (item 5.2.2).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2880360"/>
            <a:ext cx="12191695" cy="118872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7472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do lugar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171700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71700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924812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24812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ambientes e áreas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593592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93592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346704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346704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avaliadas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15484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15484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768596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768596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37376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7376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190488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90488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cotadas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59268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9268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7612380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legal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612380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 para aprovação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281160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81160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básico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034272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 orçamento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703052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703052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10456164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executivo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456164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obra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48640" y="2377440"/>
            <a:ext cx="7040880" cy="365760"/>
          </a:xfrm>
          <a:prstGeom prst="roundRect">
            <a:avLst>
              <a:gd name="adj" fmla="val 50000"/>
            </a:avLst>
          </a:prstGeom>
          <a:solidFill>
            <a:srgbClr val="E9CDB8"/>
          </a:solidFill>
          <a:ln w="12700">
            <a:solidFill>
              <a:srgbClr val="E9CDB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23774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INICIAIS: TEMA DE HOJE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26680" y="2377440"/>
            <a:ext cx="3931920" cy="365760"/>
          </a:xfrm>
          <a:prstGeom prst="roundRect">
            <a:avLst>
              <a:gd name="adj" fmla="val 50000"/>
            </a:avLst>
          </a:prstGeom>
          <a:solidFill>
            <a:srgbClr val="FBF9F1"/>
          </a:solidFill>
          <a:ln w="12700">
            <a:solidFill>
              <a:srgbClr val="DDD6C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2668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FINAIS: TRABALHO 08</a:t>
            </a:r>
            <a:endParaRPr lang="en-US" sz="1200" dirty="0"/>
          </a:p>
        </p:txBody>
      </p:sp>
      <p:pic>
        <p:nvPicPr>
          <p:cNvPr id="43" name="Image 0" descr="Atle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274320"/>
            <a:ext cx="1965960" cy="1930611"/>
          </a:xfrm>
          <a:prstGeom prst="rect">
            <a:avLst/>
          </a:prstGeom>
        </p:spPr>
      </p:pic>
      <p:sp>
        <p:nvSpPr>
          <p:cNvPr id="44" name="Shape 41"/>
          <p:cNvSpPr/>
          <p:nvPr/>
        </p:nvSpPr>
        <p:spPr>
          <a:xfrm>
            <a:off x="548640" y="5257800"/>
            <a:ext cx="11109960" cy="1188720"/>
          </a:xfrm>
          <a:prstGeom prst="roundRect">
            <a:avLst>
              <a:gd name="adj" fmla="val 9231"/>
            </a:avLst>
          </a:prstGeom>
          <a:solidFill>
            <a:srgbClr val="1F2A44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822960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22960" y="5669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Esportivo Arena Poty</a:t>
            </a:r>
            <a:endParaRPr lang="en-US" sz="2200" dirty="0"/>
          </a:p>
        </p:txBody>
      </p:sp>
      <p:sp>
        <p:nvSpPr>
          <p:cNvPr id="47" name="Text 44"/>
          <p:cNvSpPr txBox="1"/>
          <p:nvPr/>
        </p:nvSpPr>
        <p:spPr>
          <a:xfrm>
            <a:off x="822960" y="60533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TCC · Teresina – PI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54864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14.762 m²</a:t>
            </a:r>
            <a:endParaRPr lang="en-US" sz="26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terreno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5438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10.936 m²</a:t>
            </a:r>
            <a:endParaRPr lang="en-US" sz="2600" dirty="0"/>
          </a:p>
        </p:txBody>
      </p:sp>
      <p:sp>
        <p:nvSpPr>
          <p:cNvPr id="51" name="Text 48"/>
          <p:cNvSpPr txBox="1"/>
          <p:nvPr/>
        </p:nvSpPr>
        <p:spPr>
          <a:xfrm>
            <a:off x="75438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programa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96012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53" name="Text 50"/>
          <p:cNvSpPr txBox="1"/>
          <p:nvPr/>
        </p:nvSpPr>
        <p:spPr>
          <a:xfrm>
            <a:off x="96012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  ·  LV-ARQ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 DE DADOS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(LV-PRE, 3.67):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das informações das condições preexistentes do lugar.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03704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0391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Topográfico cadastral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3225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limites, medidas e área: 14.762,06 m²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91693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7523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Físico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30358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poente a oeste, vento leste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630168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34655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Arquitetônico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1234440" y="3749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vazio: nada construído a levantar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34340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41788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Fotográfico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234440" y="44622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lote e das visadas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05663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34440" y="48920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 imediato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1234440" y="51755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vias, usos, gabaritos e equipamentos</a:t>
            </a:r>
            <a:endParaRPr lang="en-US" sz="1200" dirty="0"/>
          </a:p>
        </p:txBody>
      </p:sp>
      <p:pic>
        <p:nvPicPr>
          <p:cNvPr id="25" name="Image 5" descr="Terren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3208" y="2011680"/>
            <a:ext cx="1280160" cy="128016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61772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461772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e área</a:t>
            </a:r>
            <a:endParaRPr lang="en-US" sz="1000" dirty="0"/>
          </a:p>
        </p:txBody>
      </p:sp>
      <p:pic>
        <p:nvPicPr>
          <p:cNvPr id="28" name="Image 6" descr="Clim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48" y="2011680"/>
            <a:ext cx="1280160" cy="12801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99516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</a:t>
            </a:r>
            <a:endParaRPr lang="en-US" sz="1100" dirty="0"/>
          </a:p>
        </p:txBody>
      </p:sp>
      <p:sp>
        <p:nvSpPr>
          <p:cNvPr id="30" name="Text 21"/>
          <p:cNvSpPr txBox="1"/>
          <p:nvPr/>
        </p:nvSpPr>
        <p:spPr>
          <a:xfrm>
            <a:off x="699516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e ventos</a:t>
            </a:r>
            <a:endParaRPr lang="en-US" sz="1000" dirty="0"/>
          </a:p>
        </p:txBody>
      </p:sp>
      <p:pic>
        <p:nvPicPr>
          <p:cNvPr id="31" name="Image 7" descr="Sistema viári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8088" y="2011680"/>
            <a:ext cx="1280160" cy="12801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937260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viário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937260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Raul Lopes: via rápida</a:t>
            </a:r>
            <a:endParaRPr lang="en-US" sz="1000" dirty="0"/>
          </a:p>
        </p:txBody>
      </p:sp>
      <p:pic>
        <p:nvPicPr>
          <p:cNvPr id="34" name="Image 8" descr="Uso do sol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3208" y="3794760"/>
            <a:ext cx="1280160" cy="128016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461772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do solo</a:t>
            </a:r>
            <a:endParaRPr lang="en-US" sz="1100" dirty="0"/>
          </a:p>
        </p:txBody>
      </p:sp>
      <p:sp>
        <p:nvSpPr>
          <p:cNvPr id="36" name="Text 25"/>
          <p:cNvSpPr txBox="1"/>
          <p:nvPr/>
        </p:nvSpPr>
        <p:spPr>
          <a:xfrm>
            <a:off x="461772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residência, serviço, comércio</a:t>
            </a:r>
            <a:endParaRPr lang="en-US" sz="1000" dirty="0"/>
          </a:p>
        </p:txBody>
      </p:sp>
      <p:pic>
        <p:nvPicPr>
          <p:cNvPr id="37" name="Image 9" descr="Gabarit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70648" y="3794760"/>
            <a:ext cx="1280160" cy="1280160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99516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</a:t>
            </a:r>
            <a:endParaRPr lang="en-US" sz="1100" dirty="0"/>
          </a:p>
        </p:txBody>
      </p:sp>
      <p:sp>
        <p:nvSpPr>
          <p:cNvPr id="39" name="Text 27"/>
          <p:cNvSpPr txBox="1"/>
          <p:nvPr/>
        </p:nvSpPr>
        <p:spPr>
          <a:xfrm>
            <a:off x="699516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térreo a 5+ pavimentos</a:t>
            </a:r>
            <a:endParaRPr lang="en-US" sz="1000" dirty="0"/>
          </a:p>
        </p:txBody>
      </p:sp>
      <p:pic>
        <p:nvPicPr>
          <p:cNvPr id="40" name="Image 10" descr="Equipamento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48088" y="3794760"/>
            <a:ext cx="1280160" cy="128016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37260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37260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escolas e esporte perto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do lugar: terreno, clima e entorno mapeados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8" name="Text 35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Levantamento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1" name="Text 38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Programa</a:t>
            </a:r>
            <a:endParaRPr lang="en-US" sz="1200" dirty="0"/>
          </a:p>
        </p:txBody>
      </p:sp>
      <p:sp>
        <p:nvSpPr>
          <p:cNvPr id="52" name="Shape 39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Text 41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Estudo preliminar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44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  ·  LV-ARQ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 FOTOGRÁFICO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 fotográfico: o registro do lote e do entorno, pedido no enunciado.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26060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vazio visto da avenida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64992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6060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64992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2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364992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Ciclofaixa e iluminação pública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81344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5764" y="260604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181344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3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181344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Pedestres e corredores à noite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997696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2116" y="260604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997696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4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8997696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já é usada para esporte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45262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822960" y="45262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as fotos mostram:  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vazio e cercado, carros estacionados ao longo da calçada, ciclofaixa e iluminação pública e, à noite, gente caminhando, correndo e pedalando. </a:t>
            </a:r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lugar já tem vocação esportiva.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local: o lugar já é usado para esporte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Levantamento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Programa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Estudo preliminar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1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  ·  LV-ARQ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LEGISLAÇÃO DO TERRENO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lei da zona ZOM-4 também é levantamento: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933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Terreno: 14.762 m²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5559552" cy="914400"/>
          </a:xfrm>
          <a:prstGeom prst="rect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08192" y="2377440"/>
            <a:ext cx="868680" cy="914400"/>
          </a:xfrm>
          <a:prstGeom prst="rect">
            <a:avLst/>
          </a:prstGeom>
          <a:solidFill>
            <a:srgbClr val="BFA5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76872" y="2377440"/>
            <a:ext cx="521208" cy="914400"/>
          </a:xfrm>
          <a:prstGeom prst="rect">
            <a:avLst/>
          </a:prstGeom>
          <a:solidFill>
            <a:srgbClr val="6B77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77440"/>
            <a:ext cx="5285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80% pode ser ocupado  ·  11.809 m²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62349" y="3401568"/>
            <a:ext cx="33357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7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7,5% </a:t>
            </a:r>
            <a:pPr algn="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mínimo tem que ser permeável: 1.107 m²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aproveitamento 6,0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303520"/>
            <a:ext cx="2194560" cy="137160"/>
          </a:xfrm>
          <a:prstGeom prst="rect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5120640"/>
            <a:ext cx="2194560" cy="137160"/>
          </a:xfrm>
          <a:prstGeom prst="rect">
            <a:avLst/>
          </a:prstGeom>
          <a:solidFill>
            <a:srgbClr val="E9CDB8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937760"/>
            <a:ext cx="2194560" cy="137160"/>
          </a:xfrm>
          <a:prstGeom prst="rect">
            <a:avLst/>
          </a:prstGeom>
          <a:solidFill>
            <a:srgbClr val="E9CDB8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754880"/>
            <a:ext cx="2194560" cy="137160"/>
          </a:xfrm>
          <a:prstGeom prst="rect">
            <a:avLst/>
          </a:prstGeom>
          <a:solidFill>
            <a:srgbClr val="E9CDB8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572000"/>
            <a:ext cx="2194560" cy="137160"/>
          </a:xfrm>
          <a:prstGeom prst="rect">
            <a:avLst/>
          </a:prstGeom>
          <a:solidFill>
            <a:srgbClr val="E9CDB8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389120"/>
            <a:ext cx="2194560" cy="137160"/>
          </a:xfrm>
          <a:prstGeom prst="rect">
            <a:avLst/>
          </a:prstGeom>
          <a:solidFill>
            <a:srgbClr val="E9CDB8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429768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todos os andares, posso construir até 6 vezes a área do terreno: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× 14.762 m² = 88.572 m²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Arena Poty usa 3.376 m², cerca de 4% disso.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18120" y="1600200"/>
            <a:ext cx="3840480" cy="3886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01000" y="17190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esquemático: resposta ao clima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197510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elaborado para esta apresentação, a partir do partido do TCC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46720" y="2331720"/>
            <a:ext cx="384048" cy="384048"/>
          </a:xfrm>
          <a:prstGeom prst="ellipse">
            <a:avLst/>
          </a:prstGeom>
          <a:solidFill>
            <a:srgbClr val="E3A857"/>
          </a:solidFill>
          <a:ln w="12700">
            <a:solidFill>
              <a:srgbClr val="E3A8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66760" y="269748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389620" y="274320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412480" y="278892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503920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da tarde (oeste)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961120" y="3429000"/>
            <a:ext cx="1600200" cy="1325880"/>
          </a:xfrm>
          <a:prstGeom prst="rect">
            <a:avLst/>
          </a:prstGeom>
          <a:solidFill>
            <a:srgbClr val="EFEBE0"/>
          </a:solidFill>
          <a:ln w="15875">
            <a:solidFill>
              <a:srgbClr val="1F2A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58200" y="3291840"/>
            <a:ext cx="2606040" cy="13716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cobertura com beiral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9536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7824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6968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4160" y="361188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15600" y="361188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3785616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515600" y="3785616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24160" y="3959352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515600" y="3959352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4133088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15600" y="4133088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424160" y="4306824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515600" y="4306824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24160" y="448056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515600" y="448056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458200" y="4069080"/>
            <a:ext cx="2971800" cy="0"/>
          </a:xfrm>
          <a:prstGeom prst="line">
            <a:avLst/>
          </a:prstGeom>
          <a:noFill/>
          <a:ln w="25400">
            <a:solidFill>
              <a:srgbClr val="2F6592"/>
            </a:solidFill>
            <a:prstDash val="solid"/>
            <a:headEnd type="triangle"/>
          </a:ln>
        </p:spPr>
      </p:sp>
      <p:sp>
        <p:nvSpPr>
          <p:cNvPr id="47" name="Text 45"/>
          <p:cNvSpPr txBox="1"/>
          <p:nvPr/>
        </p:nvSpPr>
        <p:spPr>
          <a:xfrm>
            <a:off x="10744200" y="37490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vento leste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1247120" y="4434840"/>
            <a:ext cx="45720" cy="320040"/>
          </a:xfrm>
          <a:prstGeom prst="rect">
            <a:avLst/>
          </a:prstGeom>
          <a:solidFill>
            <a:srgbClr val="7A5C3E"/>
          </a:solidFill>
          <a:ln w="12700">
            <a:solidFill>
              <a:srgbClr val="7A5C3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064240" y="4206240"/>
            <a:ext cx="411480" cy="365760"/>
          </a:xfrm>
          <a:prstGeom prst="ellipse">
            <a:avLst/>
          </a:prstGeom>
          <a:solidFill>
            <a:srgbClr val="6B7751"/>
          </a:solidFill>
          <a:ln w="12700">
            <a:solidFill>
              <a:srgbClr val="6B775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01000" y="4754880"/>
            <a:ext cx="3520440" cy="0"/>
          </a:xfrm>
          <a:prstGeom prst="line">
            <a:avLst/>
          </a:prstGeom>
          <a:noFill/>
          <a:ln w="19050">
            <a:solidFill>
              <a:srgbClr val="1F2A4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001000" y="48463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o sol da tarde  ·  </a:t>
            </a:r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cobogó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deixa o vento passar  ·  </a:t>
            </a:r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beiral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sombreia as fachadas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ocupação, construção e permeabilidade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Levantamento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Programa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Estudo preliminar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2  ·  PN-ARQ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NECESSIDADES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(PGN, item 3.91): as necessidades do contratante, organizadas.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67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total: 10.936 m²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4795114" cy="914400"/>
          </a:xfrm>
          <a:prstGeom prst="rect">
            <a:avLst/>
          </a:prstGeom>
          <a:solidFill>
            <a:srgbClr val="6B77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3754" y="2514600"/>
            <a:ext cx="2154326" cy="914400"/>
          </a:xfrm>
          <a:prstGeom prst="rect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14600"/>
            <a:ext cx="45207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ar livre · 7.560 m²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0914" y="2514600"/>
            <a:ext cx="19714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edificado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57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ar livre (m²)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society  1.800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Paisagismo  1.800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Estacionamento  1.500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de corrida  1.100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 de tênis  670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Praças  650  ·  Bicicletário  40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3657600"/>
            <a:ext cx="3017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Edificado (m²)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3.376 m² em 8 setores,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detalhados no quadro ao lado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Conclusão: é, antes de tudo, um projeto de espaços abertos.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63840" y="1600200"/>
            <a:ext cx="3794760" cy="388620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92440" y="1737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edificados (m²)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92440" y="21488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Esportivo interno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875520" y="2221992"/>
            <a:ext cx="1097280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18520" y="21488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1510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092440" y="256032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Convivência / alimentação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875520" y="2633472"/>
            <a:ext cx="603141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24381" y="25603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297180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875520" y="3044952"/>
            <a:ext cx="192569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3809" y="2971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33832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/ serviços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75520" y="3456432"/>
            <a:ext cx="178035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099275" y="33832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37947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esportivo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875520" y="3867912"/>
            <a:ext cx="150422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71662" y="3794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092440" y="4206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75520" y="4279392"/>
            <a:ext cx="129348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50588" y="42062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092440" y="461772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75520" y="4690872"/>
            <a:ext cx="58134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979374" y="46177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502920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Sanitários públicos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875520" y="5102352"/>
            <a:ext cx="45720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966960" y="50292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ambientes com áreas, base do estudo preliminar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Levantamento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Programa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Estudo preliminar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3  ·  EP-ARQ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(item 3.54): dimensionamento preliminar dos conceitos do projeto, podendo incluir alternativas. Em três passos: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77440"/>
            <a:ext cx="868680" cy="86868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596896"/>
            <a:ext cx="429768" cy="4297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92608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ideia-força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“Esporte como elemento de conexão” entre pessoas, cidade e paisagem.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4340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7720" y="2377440"/>
            <a:ext cx="868680" cy="86868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596896"/>
            <a:ext cx="429768" cy="4297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72084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PARTIDO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vira decisão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acesso como transição · pátios que ligam os setores · conexão com o Rio Poti · brises, vegetação, grandes coberturas e ventilação natural.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81812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813816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412480" y="2377440"/>
            <a:ext cx="868680" cy="86868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36" y="2596896"/>
            <a:ext cx="429768" cy="4297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51560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25" name="Text 20"/>
          <p:cNvSpPr txBox="1"/>
          <p:nvPr/>
        </p:nvSpPr>
        <p:spPr>
          <a:xfrm>
            <a:off x="841248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DIMENSIONAMENTO PRÉVIO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no terreno?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41248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3.376 m² edificados, bem abaixo dos 88.572 m² permitidos · 1.800 m² de paisagismo, acima dos 1.107 m² exigidos.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conceito, partido e pré-dimensionamento conferido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Levantamento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Programa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Estudo preliminar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3  ·  EP-ARQ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FLUXOGRAMA E CROQUI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Fluxogram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783080"/>
            <a:ext cx="3931920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9834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Fluxograma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praça central é o “coração”: todos os setores passam por ela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983480" y="1554480"/>
            <a:ext cx="6766560" cy="3360975"/>
          </a:xfrm>
          <a:prstGeom prst="roundRect">
            <a:avLst>
              <a:gd name="adj" fmla="val 2721"/>
            </a:avLst>
          </a:prstGeom>
          <a:solidFill>
            <a:srgbClr val="F3E6DC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8" name="Image 1" descr="Croqui de implantaç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645920"/>
            <a:ext cx="6583680" cy="31780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104534" y="3111301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104534" y="31113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697066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97066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762902" y="3079520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762902" y="3079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421270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421270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079638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79638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672170" y="2602805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72170" y="26028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882128" y="3174862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82128" y="31748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725558" y="2634586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725558" y="26345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935517" y="3238424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35517" y="3238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507492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acesso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26948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(2 pisos)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946404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+ adm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07492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726948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esportivo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46404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 poliesportiva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Comedoria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726948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society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46404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 de tênis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5577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━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vermelha: pista de corrida contornando o conjunto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5184648" y="1755648"/>
            <a:ext cx="3657600" cy="32918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184648" y="175564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MASSAS  ·  item 3.87 da norma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Levantamento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Programa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Estudo preliminar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4  ·  AP-ARQ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norma (item 3.4): concepção e representação das informações técnicas iniciais de detalhamento. É a próxima etapa do TCC:</a:t>
            </a:r>
            <a:endParaRPr lang="en-US" sz="1600" dirty="0"/>
          </a:p>
        </p:txBody>
      </p:sp>
      <p:pic>
        <p:nvPicPr>
          <p:cNvPr id="5" name="Image 0" descr="Golei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320040"/>
            <a:ext cx="2377440" cy="16123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ESTUDO PRELIMINAR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ANTEPROJETO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560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esboçados no croqui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675120" y="256032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Volumetria definida: alturas, cobertura, fachadas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218688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2186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ligados no fluxograma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21868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92240" y="3218688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675120" y="3218688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funcional final, com rotas acessíveis (NBR 9050)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877056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87705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estimadas do programa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87705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492240" y="3877056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675120" y="3877056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Plantas, cortes e elevações cotados, em escala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4535424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5354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Moodboard de referências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45354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6492240" y="4535424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675120" y="4535424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 especificados, com brises e cobogós posicionados</a:t>
            </a:r>
            <a:endParaRPr lang="en-US" sz="1400" dirty="0"/>
          </a:p>
        </p:txBody>
      </p:sp>
      <p:pic>
        <p:nvPicPr>
          <p:cNvPr id="28" name="Image 1" descr="Materiais do mood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230368"/>
            <a:ext cx="5120640" cy="9125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492240" y="5458968"/>
            <a:ext cx="516636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766560" y="545896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 projeto legal (PL)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Levantamento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Programa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Estudo preliminar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DAS ETAPAS INICIAIS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cada etapa entregou no Arena Poty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mapas do lugar + índices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setores, 10.936 m²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conceito, partido, fluxograma e croqui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8116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cotadas e volumetria definida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892040"/>
            <a:ext cx="12191695" cy="68580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892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a ordem da norma = menos retrabalho, mais clareza para quem projeta, aprova e constrói.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ABNT NBR 16636-1:2017. Elaboração e desenvolvimento de serviços técnicos especializados de projetos arquitetônicos e urbanísticos, Parte 1: Diretrizes e terminologia (itens 1, 3.4, 3.54, 3.67, 3.87, 3.91, 5.2.2).  ·  OLIVEIRA JÚNIOR, C. C. Centro Esportivo Arena Poty. TCC II, Arquitetura e Urbanismo, Teresina, 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NBR 16636-1 — Etapas Iniciais do Projeto</dc:title>
  <dc:subject>PptxGenJS Presentation</dc:subject>
  <dc:creator>Cláudio Castro de Oliveira Júnior</dc:creator>
  <cp:lastModifiedBy>Cláudio Castro de Oliveira Júnior</cp:lastModifiedBy>
  <cp:revision>1</cp:revision>
  <dcterms:created xsi:type="dcterms:W3CDTF">2026-09-29T02:34:52Z</dcterms:created>
  <dcterms:modified xsi:type="dcterms:W3CDTF">2026-09-29T02:34:52Z</dcterms:modified>
</cp:coreProperties>
</file>