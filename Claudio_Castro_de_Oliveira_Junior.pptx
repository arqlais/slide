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Meu trabalho é o 07, sobre a NBR 16636-1 e as etapas iniciais do projeto. Para ficar fácil de acompanhar, vou tratar o projeto como uma corrida de revezamento, e o atleta dessa corrida é o meu TCC, o Centro Esportivo Arena Poty.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Pelo escopo, a NBR 16636-1 estabelece os procedimentos gerais e as diretrizes para produzir as principais etapas dos projetos arquitetônicos e urbanísticos. Vale para edificações e espaços abertos, públicos ou privados, e substitui as antigas NBR 13531 e 13532. Serviço técnico é a atividade de um profissional habilitado, e ela acontece em etapas, que a norma define como períodos de trabalho em sequência. A tabela resume o que a Parte 1 diz de cada etapa; as siglas terminadas em ARQ seguem o enunciado. As cinco primeiras são as etapas iniciais, tema deste trabalho; as finais ficam para o Trabalho 08.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Para ficar fácil de acompanhar, trato o projeto como um revezamento: cada etapa responde uma pergunta simples e passa um produto, o bastão, para a próxima. E isso está na norma: a introdução fala em etapas numa sequência predeterminada, e o item 5.2.2 diz que a aceitação dos documentos de uma etapa é condição para começar a seguinte. O atleta dessa corrida é o meu TCC, o Centro Esportivo Arena Poty, em Teresina: 14.762 m² de terreno e 10.936 m² de programa em 9 setores. Nos próximos slides ele corre as etapas iniciais.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Primeira perna: onde estou? Na norma, o levantamento é a coleta das informações de referência que mostram as condições que já existem no lugar. O enunciado pede o levantamento topográfico, físico, arquitetônico, fotográfico e do entorno. No TCC isso virou estes mapas: o terreno com medidas e 14.762 m²; o clima, com o sol se pondo do lado da Avenida Raul Lopes e o vento de leste; o sistema viário, em que a Raul Lopes é via de trânsito rápido ao lado do Rio Poti; o uso do solo, os gabaritos e os equipamentos do entorno. O lote está vazio, então não há edificação existente para levantar.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Ainda no levantamento, o registro fotográfico. As fotos mostram o lote vazio e cercado, a avenida com ciclofaixa e iluminação e, à noite, muita gente caminhando, correndo e pedalando. Ou seja, o lugar já é usado para esporte, e o centro esportivo responde a um uso que já existe.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Ainda no levantamento: a legislação. Na ZOM-4, até 80% do terreno pode ser ocupado, pelo menos 7,5% tem que ficar permeável e o índice de aproveitamento é 6: somando todos os andares, posso construir até seis vezes a área do terreno, 88.572 m². O Arena Poty usa só 3.376 m², cerca de 4% disso. Conclusão: área sobra; o que pesa no desenho é o clima quente. O corte à direita é um esquema que eu fiz para esta apresentação, a partir do partido do TCC, e mostra a resposta ao clima: brise contra o sol da tarde, cobogó para o vento leste passar e uma grande cobertura com beiral.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Segunda perna: o que preciso? É o programa de necessidades. O dado que mais chama atenção é que quase 70% do programa é ao ar livre: campo, pista, praças. Só 31% é edificado, cerca de 3.376 m², com o setor esportivo como o maior. Isso já diz que o projeto é, antes de tudo, um projeto de espaços abertos.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Terceira perna: qual é a ideia? A norma define o estudo preliminar como o dimensionamento preliminar dos conceitos do projeto, podendo ter alternativas. Aqui ele tem três passos. O conceito: esporte como elemento de conexão. O partido: praça de acesso, pátios, conexão com o Rio Poti e conforto passivo, que responde ao problema de clima visto no levantamento. E o dimensionamento prévio, que confere se tudo cabe: cabe com folga.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Os produtos gráficos do estudo preliminar no TCC são dois. Na norma, o croqui é um plano de massas: estudo esquemático com volumetrias básicas e alternativas de implantação, item 3.87. O fluxograma mostra a praça central como o coração do projeto, distribuindo todos os setores. E o croqui de implantação mostra a ideia no terreno: a praça de acesso na Avenida Raul Lopes, os blocos cultural, de atendimento, piscina, apoio e quadra ao longo da rua, a comedoria no centro, a pista de corrida contornando tudo e o campo e a quadra de tênis ao fundo.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Quarta perna: como fica de verdade? A norma define o anteprojeto como a etapa de concepção e representação das informações técnicas iniciais de detalhamento. Na prática, ele pega a ideia e define tudo com medida. O volume esboçado vira volumetria definida, o fluxograma vira solução funcional com rotas acessíveis, as áreas estimadas viram plantas cotadas e o moodboard vira especificação de materiais. Esse é o bastão para o projeto legal, que é tema do Trabalho 08.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Para fechar, quatro perguntas: onde estou, o que preciso, qual é a ideia e como fica de verdade. São as quatro etapas iniciais da NBR 16636-1, e cada uma entregou um produto concreto no Arena Poty. Seguir essa ordem evita retrabalho e deixa o projeto claro para quem projeta, aprova e constrói. Obrigado.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image" Target="../media/image-4-8.png"/><Relationship Id="rId9" Type="http://schemas.openxmlformats.org/officeDocument/2006/relationships/image" Target="../media/image-4-9.png"/><Relationship Id="rId10" Type="http://schemas.openxmlformats.org/officeDocument/2006/relationships/image" Target="../media/image-4-10.png"/><Relationship Id="rId11" Type="http://schemas.openxmlformats.org/officeDocument/2006/relationships/image" Target="../media/image-4-11.png"/><Relationship Id="rId12" Type="http://schemas.openxmlformats.org/officeDocument/2006/relationships/slideLayout" Target="../slideLayouts/slideLayout1.xml"/><Relationship Id="rId1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BF9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5074920"/>
            <a:ext cx="12191695" cy="1783080"/>
          </a:xfrm>
          <a:prstGeom prst="rect">
            <a:avLst/>
          </a:prstGeom>
          <a:solidFill>
            <a:srgbClr val="B85A40"/>
          </a:solidFill>
          <a:ln w="12700">
            <a:solidFill>
              <a:srgbClr val="B85A4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520690"/>
            <a:ext cx="12191695" cy="0"/>
          </a:xfrm>
          <a:prstGeom prst="line">
            <a:avLst/>
          </a:prstGeom>
          <a:noFill/>
          <a:ln w="15875">
            <a:solidFill>
              <a:srgbClr val="FFFFFF">
                <a:alpha val="7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5966460"/>
            <a:ext cx="12191695" cy="0"/>
          </a:xfrm>
          <a:prstGeom prst="line">
            <a:avLst/>
          </a:prstGeom>
          <a:noFill/>
          <a:ln w="15875">
            <a:solidFill>
              <a:srgbClr val="FFFFFF">
                <a:alpha val="7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6412230"/>
            <a:ext cx="12191695" cy="0"/>
          </a:xfrm>
          <a:prstGeom prst="line">
            <a:avLst/>
          </a:prstGeom>
          <a:noFill/>
          <a:ln w="15875">
            <a:solidFill>
              <a:srgbClr val="FFFFFF">
                <a:alpha val="70000"/>
              </a:srgbClr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320040" y="5074920"/>
            <a:ext cx="731520" cy="4457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i="1" dirty="0">
                <a:solidFill>
                  <a:srgbClr val="FFFFFF">
                    <a:alpha val="8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LV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320040" y="5520690"/>
            <a:ext cx="731520" cy="4457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i="1" dirty="0">
                <a:solidFill>
                  <a:srgbClr val="FFFFFF">
                    <a:alpha val="8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PN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320040" y="5966460"/>
            <a:ext cx="731520" cy="4457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i="1" dirty="0">
                <a:solidFill>
                  <a:srgbClr val="FFFFFF">
                    <a:alpha val="8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320040" y="6412230"/>
            <a:ext cx="731520" cy="4457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i="1" dirty="0">
                <a:solidFill>
                  <a:srgbClr val="FFFFFF">
                    <a:alpha val="8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</a:t>
            </a:r>
            <a:endParaRPr lang="en-US" sz="1800" dirty="0"/>
          </a:p>
        </p:txBody>
      </p:sp>
      <p:pic>
        <p:nvPicPr>
          <p:cNvPr id="10" name="Image 0" descr="Atleta chutando bola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2514600"/>
            <a:ext cx="2743200" cy="3289945"/>
          </a:xfrm>
          <a:prstGeom prst="rect">
            <a:avLst/>
          </a:prstGeom>
        </p:spPr>
      </p:pic>
      <p:pic>
        <p:nvPicPr>
          <p:cNvPr id="11" name="Image 1" descr="Atleta sacando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64040" y="2103120"/>
            <a:ext cx="2240280" cy="3210343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3291840" y="502920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400" kern="0" dirty="0">
                <a:solidFill>
                  <a:srgbClr val="B057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TRABALHO 07  ·  NBR 16636-1</a:t>
            </a:r>
            <a:endParaRPr lang="en-US" sz="1400" dirty="0"/>
          </a:p>
        </p:txBody>
      </p:sp>
      <p:sp>
        <p:nvSpPr>
          <p:cNvPr id="13" name="Text 9"/>
          <p:cNvSpPr txBox="1"/>
          <p:nvPr/>
        </p:nvSpPr>
        <p:spPr>
          <a:xfrm>
            <a:off x="1463040" y="914400"/>
            <a:ext cx="92354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5400" b="1" i="1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 TERRENO</a:t>
            </a:r>
            <a:endParaRPr lang="en-US" sz="540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5400" b="1" i="1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AO ANTEPROJETO</a:t>
            </a:r>
            <a:endParaRPr lang="en-US" sz="5400" dirty="0"/>
          </a:p>
        </p:txBody>
      </p:sp>
      <p:sp>
        <p:nvSpPr>
          <p:cNvPr id="14" name="Text 10"/>
          <p:cNvSpPr txBox="1"/>
          <p:nvPr/>
        </p:nvSpPr>
        <p:spPr>
          <a:xfrm>
            <a:off x="3429000" y="2788920"/>
            <a:ext cx="5303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etapas iniciais do projeto explicadas como uma corrida de revezamento, com o meu TCC, o Centro Esportivo Arena Poty, na pista.</a:t>
            </a:r>
            <a:endParaRPr lang="en-US" sz="1700" dirty="0"/>
          </a:p>
        </p:txBody>
      </p:sp>
      <p:sp>
        <p:nvSpPr>
          <p:cNvPr id="15" name="Text 11"/>
          <p:cNvSpPr txBox="1"/>
          <p:nvPr/>
        </p:nvSpPr>
        <p:spPr>
          <a:xfrm>
            <a:off x="3429000" y="3840480"/>
            <a:ext cx="5303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E6A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Cláudio Castro de Oliveira Júnior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6E6A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Arquitetura e Urbanismo  ·  Prof. Danilo Sérvio  ·  2026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BF9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B057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NORMA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i="1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QUE DIZ A NBR 16636-1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731520" cy="731520"/>
          </a:xfrm>
          <a:prstGeom prst="ellipse">
            <a:avLst/>
          </a:prstGeom>
          <a:solidFill>
            <a:srgbClr val="1F2A44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874520"/>
            <a:ext cx="365760" cy="36576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463040" y="1673352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Objetivo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1463040" y="2057400"/>
            <a:ext cx="4114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Estabelecer os procedimentos gerais e as diretrizes para produzir as principais etapas dos serviços de projeto arquitetônico e urbanístico (item 1, Escopo).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548640" y="3154680"/>
            <a:ext cx="731520" cy="731520"/>
          </a:xfrm>
          <a:prstGeom prst="ellipse">
            <a:avLst/>
          </a:prstGeom>
          <a:solidFill>
            <a:srgbClr val="1F2A44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3337560"/>
            <a:ext cx="365760" cy="365760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463040" y="3136392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Campo de abrangência</a:t>
            </a:r>
            <a:endParaRPr lang="en-US" sz="1600" dirty="0"/>
          </a:p>
        </p:txBody>
      </p:sp>
      <p:sp>
        <p:nvSpPr>
          <p:cNvPr id="11" name="Text 7"/>
          <p:cNvSpPr txBox="1"/>
          <p:nvPr/>
        </p:nvSpPr>
        <p:spPr>
          <a:xfrm>
            <a:off x="1463040" y="3520440"/>
            <a:ext cx="4114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Projetos de edificações ou espaços abertos, públicos ou privados. Parte 1: diretrizes e terminologia · Parte 2: projeto arquitetônico · Parte 3: urbanístico. Substitui as NBR 13531 e 13532.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548640" y="4617720"/>
            <a:ext cx="731520" cy="731520"/>
          </a:xfrm>
          <a:prstGeom prst="ellipse">
            <a:avLst/>
          </a:prstGeom>
          <a:solidFill>
            <a:srgbClr val="B0573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4800600"/>
            <a:ext cx="365760" cy="365760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1463040" y="4599432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Serviço técnico de projeto</a:t>
            </a:r>
            <a:endParaRPr lang="en-US" sz="1600" dirty="0"/>
          </a:p>
        </p:txBody>
      </p:sp>
      <p:sp>
        <p:nvSpPr>
          <p:cNvPr id="15" name="Text 10"/>
          <p:cNvSpPr txBox="1"/>
          <p:nvPr/>
        </p:nvSpPr>
        <p:spPr>
          <a:xfrm>
            <a:off x="1463040" y="4983480"/>
            <a:ext cx="4114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Atividade técnica de profissional habilitado, física ou intelectual (item 3.113), feita em etapas: períodos de trabalho em sequência (item 3.56).</a:t>
            </a:r>
            <a:endParaRPr lang="en-US" sz="1300" dirty="0"/>
          </a:p>
        </p:txBody>
      </p:sp>
      <p:sp>
        <p:nvSpPr>
          <p:cNvPr id="16" name="Text 11"/>
          <p:cNvSpPr txBox="1"/>
          <p:nvPr/>
        </p:nvSpPr>
        <p:spPr>
          <a:xfrm>
            <a:off x="5989320" y="1645920"/>
            <a:ext cx="5669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Etapas do projeto e o que a Parte 1 diz de cada uma</a:t>
            </a:r>
            <a:endParaRPr lang="en-US" sz="14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89320" y="2011680"/>
          <a:ext cx="5669280" cy="914400"/>
        </p:xfrm>
        <a:graphic>
          <a:graphicData uri="http://schemas.openxmlformats.org/drawingml/2006/table">
            <a:tbl>
              <a:tblPr/>
              <a:tblGrid>
                <a:gridCol w="868680"/>
                <a:gridCol w="1691640"/>
                <a:gridCol w="310896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Sigla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D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Etapa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D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 que a Parte 1 diz (item)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D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4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LV-ARQ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D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0573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Levantamento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D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Condições preexistentes (LV-PRE, 3.67)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D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PN-ARQ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D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0573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Programa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D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Necessidades do contratante (PGN, 3.91)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D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EV-ARQ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D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0573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Viabilidade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D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Seleção de alternativas (3.49)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D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EP-ARQ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D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0573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Estudo preliminar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D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Dimensiona os conceitos (3.54)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D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AP-ARQ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D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0573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Anteprojeto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D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Detalhamento inicial (3.4)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D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6E6A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PL-ARQ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D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DFD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6E6A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Projeto legal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D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E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6E6A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Aprovação e alvará (3.106)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D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EE6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6E6A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PB-ARQ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D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DFD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6E6A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Projeto básico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D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E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6E6A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Não definido na Parte 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D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EE6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6E6A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PE-ARQ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D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DFD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6E6A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Projeto executivo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D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E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6E6A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Informações finais para a obra (3.96)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D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6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EE6"/>
                    </a:solidFill>
                  </a:tcPr>
                </a:tc>
              </a:tr>
            </a:tbl>
          </a:graphicData>
        </a:graphic>
      </p:graphicFrame>
      <p:sp>
        <p:nvSpPr>
          <p:cNvPr id="18" name="Text 12"/>
          <p:cNvSpPr txBox="1"/>
          <p:nvPr/>
        </p:nvSpPr>
        <p:spPr>
          <a:xfrm>
            <a:off x="5989320" y="5623560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5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■ </a:t>
            </a:r>
            <a:pPr indent="0" marL="0">
              <a:buNone/>
            </a:pPr>
            <a:r>
              <a:rPr lang="en-US" sz="1100" dirty="0">
                <a:solidFill>
                  <a:srgbClr val="6E6A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etapas iniciais: tema deste trabalho   </a:t>
            </a:r>
            <a:pPr indent="0" marL="0">
              <a:buNone/>
            </a:pPr>
            <a:r>
              <a:rPr lang="en-US" sz="1100" dirty="0">
                <a:solidFill>
                  <a:srgbClr val="E4DF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■ </a:t>
            </a:r>
            <a:pPr indent="0" marL="0">
              <a:buNone/>
            </a:pPr>
            <a:r>
              <a:rPr lang="en-US" sz="1100" dirty="0">
                <a:solidFill>
                  <a:srgbClr val="6E6A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etapas finais (Trab. 08)</a:t>
            </a:r>
            <a:endParaRPr lang="en-US" sz="1100" dirty="0"/>
          </a:p>
        </p:txBody>
      </p:sp>
      <p:sp>
        <p:nvSpPr>
          <p:cNvPr id="19" name="Text 13"/>
          <p:cNvSpPr txBox="1"/>
          <p:nvPr/>
        </p:nvSpPr>
        <p:spPr>
          <a:xfrm>
            <a:off x="5989320" y="5897880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E6A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Siglas -ARQ conforme o enunciado. Na Parte 1, o PL se chama “projeto para licenciamentos”.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BF9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B057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NORMA EM UMA IMAGEM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8869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i="1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PROJETAR É UM REVEZAMENTO</a:t>
            </a:r>
            <a:endParaRPr lang="en-US" sz="3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572768"/>
            <a:ext cx="8503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etapa responde uma pergunta e entrega um produto, o </a:t>
            </a:r>
            <a:pPr indent="0" marL="0">
              <a:buNone/>
            </a:pPr>
            <a:r>
              <a:rPr lang="en-US" sz="1600" b="1" dirty="0">
                <a:solidFill>
                  <a:srgbClr val="B05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bastão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para a próxima. A norma exige que o contratante aceite os documentos de uma etapa antes de a seguinte começar (item 5.2.2).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0" y="2880360"/>
            <a:ext cx="12191695" cy="1188720"/>
          </a:xfrm>
          <a:prstGeom prst="rect">
            <a:avLst/>
          </a:prstGeom>
          <a:solidFill>
            <a:srgbClr val="B85A40"/>
          </a:solidFill>
          <a:ln w="12700">
            <a:solidFill>
              <a:srgbClr val="B85A4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3474720"/>
            <a:ext cx="12191695" cy="0"/>
          </a:xfrm>
          <a:prstGeom prst="line">
            <a:avLst/>
          </a:prstGeom>
          <a:noFill/>
          <a:ln w="15875">
            <a:solidFill>
              <a:srgbClr val="FFFFFF">
                <a:alpha val="7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49808" y="2971800"/>
            <a:ext cx="1005840" cy="1005840"/>
          </a:xfrm>
          <a:prstGeom prst="ellipse">
            <a:avLst/>
          </a:prstGeom>
          <a:solidFill>
            <a:srgbClr val="1F2A44"/>
          </a:solidFill>
          <a:ln w="31750">
            <a:solidFill>
              <a:srgbClr val="FFFFF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49808" y="297180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LV</a:t>
            </a:r>
            <a:endParaRPr lang="en-US" sz="2600" dirty="0"/>
          </a:p>
        </p:txBody>
      </p:sp>
      <p:sp>
        <p:nvSpPr>
          <p:cNvPr id="9" name="Text 7"/>
          <p:cNvSpPr txBox="1"/>
          <p:nvPr/>
        </p:nvSpPr>
        <p:spPr>
          <a:xfrm>
            <a:off x="502920" y="4206240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Levantamento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502920" y="4526280"/>
            <a:ext cx="1508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B05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Onde estou?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2171700" y="2971800"/>
            <a:ext cx="1005840" cy="1005840"/>
          </a:xfrm>
          <a:prstGeom prst="ellipse">
            <a:avLst/>
          </a:prstGeom>
          <a:solidFill>
            <a:srgbClr val="1F2A44"/>
          </a:solidFill>
          <a:ln w="3175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2171700" y="297180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PN</a:t>
            </a:r>
            <a:endParaRPr lang="en-US" sz="2600" dirty="0"/>
          </a:p>
        </p:txBody>
      </p:sp>
      <p:sp>
        <p:nvSpPr>
          <p:cNvPr id="13" name="Text 11"/>
          <p:cNvSpPr txBox="1"/>
          <p:nvPr/>
        </p:nvSpPr>
        <p:spPr>
          <a:xfrm>
            <a:off x="1924812" y="4206240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Programa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1924812" y="4526280"/>
            <a:ext cx="1508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B05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preciso?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593592" y="2971800"/>
            <a:ext cx="1005840" cy="1005840"/>
          </a:xfrm>
          <a:prstGeom prst="ellipse">
            <a:avLst/>
          </a:prstGeom>
          <a:solidFill>
            <a:srgbClr val="1F2A44"/>
          </a:solidFill>
          <a:ln w="31750">
            <a:solidFill>
              <a:srgbClr val="FFFFF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3593592" y="297180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</a:t>
            </a:r>
            <a:endParaRPr lang="en-US" sz="2600" dirty="0"/>
          </a:p>
        </p:txBody>
      </p:sp>
      <p:sp>
        <p:nvSpPr>
          <p:cNvPr id="17" name="Text 15"/>
          <p:cNvSpPr txBox="1"/>
          <p:nvPr/>
        </p:nvSpPr>
        <p:spPr>
          <a:xfrm>
            <a:off x="3346704" y="4206240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Viabilidade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3346704" y="4526280"/>
            <a:ext cx="1508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B05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Dá para fazer?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5015484" y="2971800"/>
            <a:ext cx="1005840" cy="1005840"/>
          </a:xfrm>
          <a:prstGeom prst="ellipse">
            <a:avLst/>
          </a:prstGeom>
          <a:solidFill>
            <a:srgbClr val="1F2A44"/>
          </a:solidFill>
          <a:ln w="31750">
            <a:solidFill>
              <a:srgbClr val="FFFFFF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015484" y="297180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</a:t>
            </a:r>
            <a:endParaRPr lang="en-US" sz="2600" dirty="0"/>
          </a:p>
        </p:txBody>
      </p:sp>
      <p:sp>
        <p:nvSpPr>
          <p:cNvPr id="21" name="Text 19"/>
          <p:cNvSpPr txBox="1"/>
          <p:nvPr/>
        </p:nvSpPr>
        <p:spPr>
          <a:xfrm>
            <a:off x="4768596" y="4206240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Estudo preliminar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4768596" y="4526280"/>
            <a:ext cx="1508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B05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 é a ideia?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6437376" y="2971800"/>
            <a:ext cx="1005840" cy="1005840"/>
          </a:xfrm>
          <a:prstGeom prst="ellipse">
            <a:avLst/>
          </a:prstGeom>
          <a:solidFill>
            <a:srgbClr val="1F2A44"/>
          </a:solidFill>
          <a:ln w="31750">
            <a:solidFill>
              <a:srgbClr val="FFFFFF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437376" y="297180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</a:t>
            </a:r>
            <a:endParaRPr lang="en-US" sz="2600" dirty="0"/>
          </a:p>
        </p:txBody>
      </p:sp>
      <p:sp>
        <p:nvSpPr>
          <p:cNvPr id="25" name="Text 23"/>
          <p:cNvSpPr txBox="1"/>
          <p:nvPr/>
        </p:nvSpPr>
        <p:spPr>
          <a:xfrm>
            <a:off x="6190488" y="4206240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Anteprojeto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6190488" y="4526280"/>
            <a:ext cx="1508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B05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fica de verdade?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7859268" y="2971800"/>
            <a:ext cx="1005840" cy="1005840"/>
          </a:xfrm>
          <a:prstGeom prst="ellipse">
            <a:avLst/>
          </a:prstGeom>
          <a:solidFill>
            <a:srgbClr val="FBF9F1"/>
          </a:solidFill>
          <a:ln w="31750">
            <a:solidFill>
              <a:srgbClr val="FFFFFF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7859268" y="297180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i="1" dirty="0">
                <a:solidFill>
                  <a:srgbClr val="6E6A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</a:t>
            </a:r>
            <a:endParaRPr lang="en-US" sz="2600" dirty="0"/>
          </a:p>
        </p:txBody>
      </p:sp>
      <p:sp>
        <p:nvSpPr>
          <p:cNvPr id="29" name="Text 27"/>
          <p:cNvSpPr txBox="1"/>
          <p:nvPr/>
        </p:nvSpPr>
        <p:spPr>
          <a:xfrm>
            <a:off x="7612380" y="4206240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E6A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Projeto legal</a:t>
            </a:r>
            <a:endParaRPr lang="en-US" sz="1200" dirty="0"/>
          </a:p>
        </p:txBody>
      </p:sp>
      <p:sp>
        <p:nvSpPr>
          <p:cNvPr id="30" name="Text 28"/>
          <p:cNvSpPr txBox="1"/>
          <p:nvPr/>
        </p:nvSpPr>
        <p:spPr>
          <a:xfrm>
            <a:off x="7612380" y="4526280"/>
            <a:ext cx="1508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6E6A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prefeitura aprova?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9281160" y="2971800"/>
            <a:ext cx="1005840" cy="1005840"/>
          </a:xfrm>
          <a:prstGeom prst="ellipse">
            <a:avLst/>
          </a:prstGeom>
          <a:solidFill>
            <a:srgbClr val="FBF9F1"/>
          </a:solidFill>
          <a:ln w="31750">
            <a:solidFill>
              <a:srgbClr val="FFFFFF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9281160" y="297180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i="1" dirty="0">
                <a:solidFill>
                  <a:srgbClr val="6E6A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PB</a:t>
            </a:r>
            <a:endParaRPr lang="en-US" sz="2600" dirty="0"/>
          </a:p>
        </p:txBody>
      </p:sp>
      <p:sp>
        <p:nvSpPr>
          <p:cNvPr id="33" name="Text 31"/>
          <p:cNvSpPr txBox="1"/>
          <p:nvPr/>
        </p:nvSpPr>
        <p:spPr>
          <a:xfrm>
            <a:off x="9034272" y="4206240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E6A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Projeto básico</a:t>
            </a:r>
            <a:endParaRPr lang="en-US" sz="1200" dirty="0"/>
          </a:p>
        </p:txBody>
      </p:sp>
      <p:sp>
        <p:nvSpPr>
          <p:cNvPr id="34" name="Text 32"/>
          <p:cNvSpPr txBox="1"/>
          <p:nvPr/>
        </p:nvSpPr>
        <p:spPr>
          <a:xfrm>
            <a:off x="9034272" y="4526280"/>
            <a:ext cx="1508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6E6A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Quanto custa?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10703052" y="2971800"/>
            <a:ext cx="1005840" cy="1005840"/>
          </a:xfrm>
          <a:prstGeom prst="ellipse">
            <a:avLst/>
          </a:prstGeom>
          <a:solidFill>
            <a:srgbClr val="FBF9F1"/>
          </a:solidFill>
          <a:ln w="31750">
            <a:solidFill>
              <a:srgbClr val="FFFFFF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10703052" y="297180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i="1" dirty="0">
                <a:solidFill>
                  <a:srgbClr val="6E6A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</a:t>
            </a:r>
            <a:endParaRPr lang="en-US" sz="2600" dirty="0"/>
          </a:p>
        </p:txBody>
      </p:sp>
      <p:sp>
        <p:nvSpPr>
          <p:cNvPr id="37" name="Text 35"/>
          <p:cNvSpPr txBox="1"/>
          <p:nvPr/>
        </p:nvSpPr>
        <p:spPr>
          <a:xfrm>
            <a:off x="10456164" y="4206240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E6A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Projeto executivo</a:t>
            </a:r>
            <a:endParaRPr lang="en-US" sz="1200" dirty="0"/>
          </a:p>
        </p:txBody>
      </p:sp>
      <p:sp>
        <p:nvSpPr>
          <p:cNvPr id="38" name="Text 36"/>
          <p:cNvSpPr txBox="1"/>
          <p:nvPr/>
        </p:nvSpPr>
        <p:spPr>
          <a:xfrm>
            <a:off x="10456164" y="4526280"/>
            <a:ext cx="1508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6E6A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se constrói?</a:t>
            </a:r>
            <a:endParaRPr lang="en-US" sz="1300" dirty="0"/>
          </a:p>
        </p:txBody>
      </p:sp>
      <p:sp>
        <p:nvSpPr>
          <p:cNvPr id="39" name="Shape 37"/>
          <p:cNvSpPr/>
          <p:nvPr/>
        </p:nvSpPr>
        <p:spPr>
          <a:xfrm>
            <a:off x="548640" y="2377440"/>
            <a:ext cx="7040880" cy="365760"/>
          </a:xfrm>
          <a:prstGeom prst="roundRect">
            <a:avLst>
              <a:gd name="adj" fmla="val 50000"/>
            </a:avLst>
          </a:prstGeom>
          <a:solidFill>
            <a:srgbClr val="E9CDB8"/>
          </a:solidFill>
          <a:ln w="12700">
            <a:solidFill>
              <a:srgbClr val="E9CDB8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548640" y="2377440"/>
            <a:ext cx="7040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ETAPAS INICIAIS: TEMA DE HOJE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7726680" y="2377440"/>
            <a:ext cx="3931920" cy="365760"/>
          </a:xfrm>
          <a:prstGeom prst="roundRect">
            <a:avLst>
              <a:gd name="adj" fmla="val 50000"/>
            </a:avLst>
          </a:prstGeom>
          <a:solidFill>
            <a:srgbClr val="FBF9F1"/>
          </a:solidFill>
          <a:ln w="12700">
            <a:solidFill>
              <a:srgbClr val="DDD6C6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7726680" y="237744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6E6A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ETAPAS FINAIS: TRABALHO 08</a:t>
            </a:r>
            <a:endParaRPr lang="en-US" sz="1200" dirty="0"/>
          </a:p>
        </p:txBody>
      </p:sp>
      <p:pic>
        <p:nvPicPr>
          <p:cNvPr id="43" name="Image 0" descr="Atleta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92640" y="274320"/>
            <a:ext cx="1965960" cy="1930611"/>
          </a:xfrm>
          <a:prstGeom prst="rect">
            <a:avLst/>
          </a:prstGeom>
        </p:spPr>
      </p:pic>
      <p:sp>
        <p:nvSpPr>
          <p:cNvPr id="44" name="Shape 41"/>
          <p:cNvSpPr/>
          <p:nvPr/>
        </p:nvSpPr>
        <p:spPr>
          <a:xfrm>
            <a:off x="548640" y="5257800"/>
            <a:ext cx="11109960" cy="1188720"/>
          </a:xfrm>
          <a:prstGeom prst="roundRect">
            <a:avLst>
              <a:gd name="adj" fmla="val 9231"/>
            </a:avLst>
          </a:prstGeom>
          <a:solidFill>
            <a:srgbClr val="1F2A44"/>
          </a:solidFill>
          <a:ln w="9525">
            <a:solidFill>
              <a:srgbClr val="DDD6C6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3000"/>
              </a:srgbClr>
            </a:outerShdw>
          </a:effectLst>
        </p:spPr>
      </p:sp>
      <p:sp>
        <p:nvSpPr>
          <p:cNvPr id="45" name="Text 42"/>
          <p:cNvSpPr txBox="1"/>
          <p:nvPr/>
        </p:nvSpPr>
        <p:spPr>
          <a:xfrm>
            <a:off x="822960" y="53949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BFA5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NOSSO ATLETA</a:t>
            </a:r>
            <a:endParaRPr lang="en-US" sz="1100" dirty="0"/>
          </a:p>
        </p:txBody>
      </p:sp>
      <p:sp>
        <p:nvSpPr>
          <p:cNvPr id="46" name="Text 43"/>
          <p:cNvSpPr txBox="1"/>
          <p:nvPr/>
        </p:nvSpPr>
        <p:spPr>
          <a:xfrm>
            <a:off x="822960" y="566928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Centro Esportivo Arena Poty</a:t>
            </a:r>
            <a:endParaRPr lang="en-US" sz="2200" dirty="0"/>
          </a:p>
        </p:txBody>
      </p:sp>
      <p:sp>
        <p:nvSpPr>
          <p:cNvPr id="47" name="Text 44"/>
          <p:cNvSpPr txBox="1"/>
          <p:nvPr/>
        </p:nvSpPr>
        <p:spPr>
          <a:xfrm>
            <a:off x="822960" y="6053328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FA5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TCC · Teresina – PI</a:t>
            </a:r>
            <a:endParaRPr lang="en-US" sz="1200" dirty="0"/>
          </a:p>
        </p:txBody>
      </p:sp>
      <p:sp>
        <p:nvSpPr>
          <p:cNvPr id="48" name="Text 45"/>
          <p:cNvSpPr txBox="1"/>
          <p:nvPr/>
        </p:nvSpPr>
        <p:spPr>
          <a:xfrm>
            <a:off x="5486400" y="539496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600" b="1" i="1" dirty="0">
                <a:solidFill>
                  <a:srgbClr val="E9CD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14.762 m²</a:t>
            </a:r>
            <a:endParaRPr lang="en-US" sz="2600" dirty="0"/>
          </a:p>
        </p:txBody>
      </p:sp>
      <p:sp>
        <p:nvSpPr>
          <p:cNvPr id="49" name="Text 46"/>
          <p:cNvSpPr txBox="1"/>
          <p:nvPr/>
        </p:nvSpPr>
        <p:spPr>
          <a:xfrm>
            <a:off x="5486400" y="596188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FA5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terreno</a:t>
            </a:r>
            <a:endParaRPr lang="en-US" sz="1200" dirty="0"/>
          </a:p>
        </p:txBody>
      </p:sp>
      <p:sp>
        <p:nvSpPr>
          <p:cNvPr id="50" name="Text 47"/>
          <p:cNvSpPr txBox="1"/>
          <p:nvPr/>
        </p:nvSpPr>
        <p:spPr>
          <a:xfrm>
            <a:off x="7543800" y="539496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600" b="1" i="1" dirty="0">
                <a:solidFill>
                  <a:srgbClr val="E9CD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10.936 m²</a:t>
            </a:r>
            <a:endParaRPr lang="en-US" sz="2600" dirty="0"/>
          </a:p>
        </p:txBody>
      </p:sp>
      <p:sp>
        <p:nvSpPr>
          <p:cNvPr id="51" name="Text 48"/>
          <p:cNvSpPr txBox="1"/>
          <p:nvPr/>
        </p:nvSpPr>
        <p:spPr>
          <a:xfrm>
            <a:off x="7543800" y="596188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FA5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programa</a:t>
            </a:r>
            <a:endParaRPr lang="en-US" sz="1200" dirty="0"/>
          </a:p>
        </p:txBody>
      </p:sp>
      <p:sp>
        <p:nvSpPr>
          <p:cNvPr id="52" name="Text 49"/>
          <p:cNvSpPr txBox="1"/>
          <p:nvPr/>
        </p:nvSpPr>
        <p:spPr>
          <a:xfrm>
            <a:off x="9601200" y="539496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600" b="1" i="1" dirty="0">
                <a:solidFill>
                  <a:srgbClr val="E9CD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2600" dirty="0"/>
          </a:p>
        </p:txBody>
      </p:sp>
      <p:sp>
        <p:nvSpPr>
          <p:cNvPr id="53" name="Text 50"/>
          <p:cNvSpPr txBox="1"/>
          <p:nvPr/>
        </p:nvSpPr>
        <p:spPr>
          <a:xfrm>
            <a:off x="9601200" y="596188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FA5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setores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BF9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B057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1ª PERNA  ·  LV-ARQ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8778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i="1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ONDE ESTOU?</a:t>
            </a:r>
            <a:endParaRPr lang="en-US" sz="3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536192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05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 norma (LV-PRE, 3.67): </a:t>
            </a:r>
            <a:pPr indent="0" marL="0">
              <a:buNone/>
            </a:pPr>
            <a:r>
              <a:rPr lang="en-US" sz="15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coleta das informações das condições preexistentes do lugar.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057400"/>
            <a:ext cx="548640" cy="548640"/>
          </a:xfrm>
          <a:prstGeom prst="ellipse">
            <a:avLst/>
          </a:prstGeom>
          <a:solidFill>
            <a:srgbClr val="B0573F"/>
          </a:solidFill>
          <a:ln w="12700">
            <a:solidFill>
              <a:srgbClr val="B0573F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4944" y="2203704"/>
            <a:ext cx="256032" cy="256032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234440" y="2039112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Topográfico cadastral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1234440" y="2322576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6A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limites, medidas e área: 14.762,06 m²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548640" y="2770632"/>
            <a:ext cx="548640" cy="548640"/>
          </a:xfrm>
          <a:prstGeom prst="ellipse">
            <a:avLst/>
          </a:prstGeom>
          <a:solidFill>
            <a:srgbClr val="B0573F"/>
          </a:solidFill>
          <a:ln w="12700">
            <a:solidFill>
              <a:srgbClr val="B0573F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944" y="2916936"/>
            <a:ext cx="256032" cy="256032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1234440" y="2752344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Físico</a:t>
            </a:r>
            <a:endParaRPr lang="en-US" sz="1300" dirty="0"/>
          </a:p>
        </p:txBody>
      </p:sp>
      <p:sp>
        <p:nvSpPr>
          <p:cNvPr id="12" name="Text 8"/>
          <p:cNvSpPr txBox="1"/>
          <p:nvPr/>
        </p:nvSpPr>
        <p:spPr>
          <a:xfrm>
            <a:off x="1234440" y="3035808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6A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 poente a oeste, vento leste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548640" y="3483864"/>
            <a:ext cx="548640" cy="548640"/>
          </a:xfrm>
          <a:prstGeom prst="ellipse">
            <a:avLst/>
          </a:prstGeom>
          <a:solidFill>
            <a:srgbClr val="B0573F"/>
          </a:solidFill>
          <a:ln w="12700">
            <a:solidFill>
              <a:srgbClr val="B0573F"/>
            </a:solidFill>
            <a:prstDash val="solid"/>
          </a:ln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944" y="3630168"/>
            <a:ext cx="256032" cy="256032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1234440" y="3465576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Arquitetônico</a:t>
            </a:r>
            <a:endParaRPr lang="en-US" sz="1300" dirty="0"/>
          </a:p>
        </p:txBody>
      </p:sp>
      <p:sp>
        <p:nvSpPr>
          <p:cNvPr id="16" name="Text 11"/>
          <p:cNvSpPr txBox="1"/>
          <p:nvPr/>
        </p:nvSpPr>
        <p:spPr>
          <a:xfrm>
            <a:off x="1234440" y="3749040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6A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lote vazio: nada construído a levantar</a:t>
            </a:r>
            <a:endParaRPr lang="en-US" sz="1200" dirty="0"/>
          </a:p>
        </p:txBody>
      </p:sp>
      <p:sp>
        <p:nvSpPr>
          <p:cNvPr id="17" name="Shape 12"/>
          <p:cNvSpPr/>
          <p:nvPr/>
        </p:nvSpPr>
        <p:spPr>
          <a:xfrm>
            <a:off x="548640" y="4197096"/>
            <a:ext cx="548640" cy="548640"/>
          </a:xfrm>
          <a:prstGeom prst="ellipse">
            <a:avLst/>
          </a:prstGeom>
          <a:solidFill>
            <a:srgbClr val="B0573F"/>
          </a:solidFill>
          <a:ln w="12700">
            <a:solidFill>
              <a:srgbClr val="B0573F"/>
            </a:solidFill>
            <a:prstDash val="solid"/>
          </a:ln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4944" y="4343400"/>
            <a:ext cx="256032" cy="256032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1234440" y="4178808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Fotográfico</a:t>
            </a:r>
            <a:endParaRPr lang="en-US" sz="1300" dirty="0"/>
          </a:p>
        </p:txBody>
      </p:sp>
      <p:sp>
        <p:nvSpPr>
          <p:cNvPr id="20" name="Text 14"/>
          <p:cNvSpPr txBox="1"/>
          <p:nvPr/>
        </p:nvSpPr>
        <p:spPr>
          <a:xfrm>
            <a:off x="1234440" y="4462272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6A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registro do lote e das visadas</a:t>
            </a:r>
            <a:endParaRPr lang="en-US" sz="1200" dirty="0"/>
          </a:p>
        </p:txBody>
      </p:sp>
      <p:sp>
        <p:nvSpPr>
          <p:cNvPr id="21" name="Shape 15"/>
          <p:cNvSpPr/>
          <p:nvPr/>
        </p:nvSpPr>
        <p:spPr>
          <a:xfrm>
            <a:off x="548640" y="4910328"/>
            <a:ext cx="548640" cy="548640"/>
          </a:xfrm>
          <a:prstGeom prst="ellipse">
            <a:avLst/>
          </a:prstGeom>
          <a:solidFill>
            <a:srgbClr val="B0573F"/>
          </a:solidFill>
          <a:ln w="12700">
            <a:solidFill>
              <a:srgbClr val="B0573F"/>
            </a:solidFill>
            <a:prstDash val="solid"/>
          </a:ln>
        </p:spPr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4944" y="5056632"/>
            <a:ext cx="256032" cy="256032"/>
          </a:xfrm>
          <a:prstGeom prst="rect">
            <a:avLst/>
          </a:prstGeom>
        </p:spPr>
      </p:pic>
      <p:sp>
        <p:nvSpPr>
          <p:cNvPr id="23" name="Text 16"/>
          <p:cNvSpPr txBox="1"/>
          <p:nvPr/>
        </p:nvSpPr>
        <p:spPr>
          <a:xfrm>
            <a:off x="1234440" y="4892040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Entorno imediato</a:t>
            </a:r>
            <a:endParaRPr lang="en-US" sz="1300" dirty="0"/>
          </a:p>
        </p:txBody>
      </p:sp>
      <p:sp>
        <p:nvSpPr>
          <p:cNvPr id="24" name="Text 17"/>
          <p:cNvSpPr txBox="1"/>
          <p:nvPr/>
        </p:nvSpPr>
        <p:spPr>
          <a:xfrm>
            <a:off x="1234440" y="5175504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6A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vias, usos, gabaritos e equipamentos</a:t>
            </a:r>
            <a:endParaRPr lang="en-US" sz="1200" dirty="0"/>
          </a:p>
        </p:txBody>
      </p:sp>
      <p:pic>
        <p:nvPicPr>
          <p:cNvPr id="25" name="Image 5" descr="Terreno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93208" y="2011680"/>
            <a:ext cx="1280160" cy="1280160"/>
          </a:xfrm>
          <a:prstGeom prst="rect">
            <a:avLst/>
          </a:prstGeom>
        </p:spPr>
      </p:pic>
      <p:sp>
        <p:nvSpPr>
          <p:cNvPr id="26" name="Text 18"/>
          <p:cNvSpPr txBox="1"/>
          <p:nvPr/>
        </p:nvSpPr>
        <p:spPr>
          <a:xfrm>
            <a:off x="4617720" y="3319272"/>
            <a:ext cx="2240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Terreno</a:t>
            </a:r>
            <a:endParaRPr lang="en-US" sz="1100" dirty="0"/>
          </a:p>
        </p:txBody>
      </p:sp>
      <p:sp>
        <p:nvSpPr>
          <p:cNvPr id="27" name="Text 19"/>
          <p:cNvSpPr txBox="1"/>
          <p:nvPr/>
        </p:nvSpPr>
        <p:spPr>
          <a:xfrm>
            <a:off x="4617720" y="3538728"/>
            <a:ext cx="2240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E6A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medidas e área</a:t>
            </a:r>
            <a:endParaRPr lang="en-US" sz="1000" dirty="0"/>
          </a:p>
        </p:txBody>
      </p:sp>
      <p:pic>
        <p:nvPicPr>
          <p:cNvPr id="28" name="Image 6" descr="Clima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470648" y="2011680"/>
            <a:ext cx="1280160" cy="1280160"/>
          </a:xfrm>
          <a:prstGeom prst="rect">
            <a:avLst/>
          </a:prstGeom>
        </p:spPr>
      </p:pic>
      <p:sp>
        <p:nvSpPr>
          <p:cNvPr id="29" name="Text 20"/>
          <p:cNvSpPr txBox="1"/>
          <p:nvPr/>
        </p:nvSpPr>
        <p:spPr>
          <a:xfrm>
            <a:off x="6995160" y="3319272"/>
            <a:ext cx="2240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Clima</a:t>
            </a:r>
            <a:endParaRPr lang="en-US" sz="1100" dirty="0"/>
          </a:p>
        </p:txBody>
      </p:sp>
      <p:sp>
        <p:nvSpPr>
          <p:cNvPr id="30" name="Text 21"/>
          <p:cNvSpPr txBox="1"/>
          <p:nvPr/>
        </p:nvSpPr>
        <p:spPr>
          <a:xfrm>
            <a:off x="6995160" y="3538728"/>
            <a:ext cx="2240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E6A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 e ventos</a:t>
            </a:r>
            <a:endParaRPr lang="en-US" sz="1000" dirty="0"/>
          </a:p>
        </p:txBody>
      </p:sp>
      <p:pic>
        <p:nvPicPr>
          <p:cNvPr id="31" name="Image 7" descr="Sistema viário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848088" y="2011680"/>
            <a:ext cx="1280160" cy="1280160"/>
          </a:xfrm>
          <a:prstGeom prst="rect">
            <a:avLst/>
          </a:prstGeom>
        </p:spPr>
      </p:pic>
      <p:sp>
        <p:nvSpPr>
          <p:cNvPr id="32" name="Text 22"/>
          <p:cNvSpPr txBox="1"/>
          <p:nvPr/>
        </p:nvSpPr>
        <p:spPr>
          <a:xfrm>
            <a:off x="9372600" y="3319272"/>
            <a:ext cx="2240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Sistema viário</a:t>
            </a:r>
            <a:endParaRPr lang="en-US" sz="1100" dirty="0"/>
          </a:p>
        </p:txBody>
      </p:sp>
      <p:sp>
        <p:nvSpPr>
          <p:cNvPr id="33" name="Text 23"/>
          <p:cNvSpPr txBox="1"/>
          <p:nvPr/>
        </p:nvSpPr>
        <p:spPr>
          <a:xfrm>
            <a:off x="9372600" y="3538728"/>
            <a:ext cx="2240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E6A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Raul Lopes: via rápida</a:t>
            </a:r>
            <a:endParaRPr lang="en-US" sz="1000" dirty="0"/>
          </a:p>
        </p:txBody>
      </p:sp>
      <p:pic>
        <p:nvPicPr>
          <p:cNvPr id="34" name="Image 8" descr="Uso do solo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093208" y="3794760"/>
            <a:ext cx="1280160" cy="1280160"/>
          </a:xfrm>
          <a:prstGeom prst="rect">
            <a:avLst/>
          </a:prstGeom>
        </p:spPr>
      </p:pic>
      <p:sp>
        <p:nvSpPr>
          <p:cNvPr id="35" name="Text 24"/>
          <p:cNvSpPr txBox="1"/>
          <p:nvPr/>
        </p:nvSpPr>
        <p:spPr>
          <a:xfrm>
            <a:off x="4617720" y="5102352"/>
            <a:ext cx="2240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Uso do solo</a:t>
            </a:r>
            <a:endParaRPr lang="en-US" sz="1100" dirty="0"/>
          </a:p>
        </p:txBody>
      </p:sp>
      <p:sp>
        <p:nvSpPr>
          <p:cNvPr id="36" name="Text 25"/>
          <p:cNvSpPr txBox="1"/>
          <p:nvPr/>
        </p:nvSpPr>
        <p:spPr>
          <a:xfrm>
            <a:off x="4617720" y="5321808"/>
            <a:ext cx="2240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E6A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residência, serviço, comércio</a:t>
            </a:r>
            <a:endParaRPr lang="en-US" sz="1000" dirty="0"/>
          </a:p>
        </p:txBody>
      </p:sp>
      <p:pic>
        <p:nvPicPr>
          <p:cNvPr id="37" name="Image 9" descr="Gabarito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470648" y="3794760"/>
            <a:ext cx="1280160" cy="1280160"/>
          </a:xfrm>
          <a:prstGeom prst="rect">
            <a:avLst/>
          </a:prstGeom>
        </p:spPr>
      </p:pic>
      <p:sp>
        <p:nvSpPr>
          <p:cNvPr id="38" name="Text 26"/>
          <p:cNvSpPr txBox="1"/>
          <p:nvPr/>
        </p:nvSpPr>
        <p:spPr>
          <a:xfrm>
            <a:off x="6995160" y="5102352"/>
            <a:ext cx="2240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Gabarito</a:t>
            </a:r>
            <a:endParaRPr lang="en-US" sz="1100" dirty="0"/>
          </a:p>
        </p:txBody>
      </p:sp>
      <p:sp>
        <p:nvSpPr>
          <p:cNvPr id="39" name="Text 27"/>
          <p:cNvSpPr txBox="1"/>
          <p:nvPr/>
        </p:nvSpPr>
        <p:spPr>
          <a:xfrm>
            <a:off x="6995160" y="5321808"/>
            <a:ext cx="2240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E6A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térreo a 5+ pavimentos</a:t>
            </a:r>
            <a:endParaRPr lang="en-US" sz="1000" dirty="0"/>
          </a:p>
        </p:txBody>
      </p:sp>
      <p:pic>
        <p:nvPicPr>
          <p:cNvPr id="40" name="Image 10" descr="Equipamentos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848088" y="3794760"/>
            <a:ext cx="1280160" cy="1280160"/>
          </a:xfrm>
          <a:prstGeom prst="rect">
            <a:avLst/>
          </a:prstGeom>
        </p:spPr>
      </p:pic>
      <p:sp>
        <p:nvSpPr>
          <p:cNvPr id="41" name="Text 28"/>
          <p:cNvSpPr txBox="1"/>
          <p:nvPr/>
        </p:nvSpPr>
        <p:spPr>
          <a:xfrm>
            <a:off x="9372600" y="5102352"/>
            <a:ext cx="2240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Equipamentos</a:t>
            </a:r>
            <a:endParaRPr lang="en-US" sz="1100" dirty="0"/>
          </a:p>
        </p:txBody>
      </p:sp>
      <p:sp>
        <p:nvSpPr>
          <p:cNvPr id="42" name="Text 29"/>
          <p:cNvSpPr txBox="1"/>
          <p:nvPr/>
        </p:nvSpPr>
        <p:spPr>
          <a:xfrm>
            <a:off x="9372600" y="5321808"/>
            <a:ext cx="2240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E6A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escolas e esporte perto</a:t>
            </a:r>
            <a:endParaRPr lang="en-US" sz="1000" dirty="0"/>
          </a:p>
        </p:txBody>
      </p:sp>
      <p:sp>
        <p:nvSpPr>
          <p:cNvPr id="43" name="Shape 30"/>
          <p:cNvSpPr/>
          <p:nvPr/>
        </p:nvSpPr>
        <p:spPr>
          <a:xfrm>
            <a:off x="548640" y="5669280"/>
            <a:ext cx="11064240" cy="438912"/>
          </a:xfrm>
          <a:prstGeom prst="roundRect">
            <a:avLst>
              <a:gd name="adj" fmla="val 50000"/>
            </a:avLst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sp>
        <p:nvSpPr>
          <p:cNvPr id="44" name="Text 31"/>
          <p:cNvSpPr txBox="1"/>
          <p:nvPr/>
        </p:nvSpPr>
        <p:spPr>
          <a:xfrm>
            <a:off x="822960" y="5669280"/>
            <a:ext cx="10515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E9CD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BASTÃO PASSADO  ▸ 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diagnóstico do lugar: terreno, clima e entorno mapeados</a:t>
            </a:r>
            <a:endParaRPr lang="en-US" sz="1200" dirty="0"/>
          </a:p>
        </p:txBody>
      </p:sp>
      <p:sp>
        <p:nvSpPr>
          <p:cNvPr id="45" name="Shape 32"/>
          <p:cNvSpPr/>
          <p:nvPr/>
        </p:nvSpPr>
        <p:spPr>
          <a:xfrm>
            <a:off x="0" y="6263640"/>
            <a:ext cx="12191695" cy="594360"/>
          </a:xfrm>
          <a:prstGeom prst="rect">
            <a:avLst/>
          </a:prstGeom>
          <a:solidFill>
            <a:srgbClr val="B85A40"/>
          </a:solidFill>
          <a:ln w="12700">
            <a:solidFill>
              <a:srgbClr val="B85A40"/>
            </a:solidFill>
            <a:prstDash val="solid"/>
          </a:ln>
        </p:spPr>
      </p:sp>
      <p:sp>
        <p:nvSpPr>
          <p:cNvPr id="46" name="Shape 33"/>
          <p:cNvSpPr/>
          <p:nvPr/>
        </p:nvSpPr>
        <p:spPr>
          <a:xfrm>
            <a:off x="548640" y="6382512"/>
            <a:ext cx="365760" cy="365760"/>
          </a:xfrm>
          <a:prstGeom prst="ellipse">
            <a:avLst/>
          </a:prstGeom>
          <a:solidFill>
            <a:srgbClr val="1F2A44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47" name="Text 34"/>
          <p:cNvSpPr txBox="1"/>
          <p:nvPr/>
        </p:nvSpPr>
        <p:spPr>
          <a:xfrm>
            <a:off x="548640" y="638251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48" name="Text 35"/>
          <p:cNvSpPr txBox="1"/>
          <p:nvPr/>
        </p:nvSpPr>
        <p:spPr>
          <a:xfrm>
            <a:off x="1005840" y="6382512"/>
            <a:ext cx="22249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LV  ·  Onde estou?</a:t>
            </a:r>
            <a:endParaRPr lang="en-US" sz="1200" dirty="0"/>
          </a:p>
        </p:txBody>
      </p:sp>
      <p:sp>
        <p:nvSpPr>
          <p:cNvPr id="49" name="Shape 36"/>
          <p:cNvSpPr/>
          <p:nvPr/>
        </p:nvSpPr>
        <p:spPr>
          <a:xfrm>
            <a:off x="3322244" y="6382512"/>
            <a:ext cx="365760" cy="365760"/>
          </a:xfrm>
          <a:prstGeom prst="ellipse">
            <a:avLst/>
          </a:prstGeom>
          <a:solidFill>
            <a:srgbClr val="B85A40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0" name="Text 37"/>
          <p:cNvSpPr txBox="1"/>
          <p:nvPr/>
        </p:nvSpPr>
        <p:spPr>
          <a:xfrm>
            <a:off x="3322244" y="638251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51" name="Text 38"/>
          <p:cNvSpPr txBox="1"/>
          <p:nvPr/>
        </p:nvSpPr>
        <p:spPr>
          <a:xfrm>
            <a:off x="3779444" y="6382512"/>
            <a:ext cx="22249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>
                    <a:alpha val="7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PN  ·  O que preciso?</a:t>
            </a:r>
            <a:endParaRPr lang="en-US" sz="1200" dirty="0"/>
          </a:p>
        </p:txBody>
      </p:sp>
      <p:sp>
        <p:nvSpPr>
          <p:cNvPr id="52" name="Shape 39"/>
          <p:cNvSpPr/>
          <p:nvPr/>
        </p:nvSpPr>
        <p:spPr>
          <a:xfrm>
            <a:off x="6095848" y="6382512"/>
            <a:ext cx="365760" cy="365760"/>
          </a:xfrm>
          <a:prstGeom prst="ellipse">
            <a:avLst/>
          </a:prstGeom>
          <a:solidFill>
            <a:srgbClr val="B85A40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3" name="Text 40"/>
          <p:cNvSpPr txBox="1"/>
          <p:nvPr/>
        </p:nvSpPr>
        <p:spPr>
          <a:xfrm>
            <a:off x="6095848" y="638251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54" name="Text 41"/>
          <p:cNvSpPr txBox="1"/>
          <p:nvPr/>
        </p:nvSpPr>
        <p:spPr>
          <a:xfrm>
            <a:off x="6553048" y="6382512"/>
            <a:ext cx="22249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>
                    <a:alpha val="7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  ·  Qual é a ideia?</a:t>
            </a:r>
            <a:endParaRPr lang="en-US" sz="1200" dirty="0"/>
          </a:p>
        </p:txBody>
      </p:sp>
      <p:sp>
        <p:nvSpPr>
          <p:cNvPr id="55" name="Shape 42"/>
          <p:cNvSpPr/>
          <p:nvPr/>
        </p:nvSpPr>
        <p:spPr>
          <a:xfrm>
            <a:off x="8869451" y="6382512"/>
            <a:ext cx="365760" cy="365760"/>
          </a:xfrm>
          <a:prstGeom prst="ellipse">
            <a:avLst/>
          </a:prstGeom>
          <a:solidFill>
            <a:srgbClr val="B85A40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6" name="Text 43"/>
          <p:cNvSpPr txBox="1"/>
          <p:nvPr/>
        </p:nvSpPr>
        <p:spPr>
          <a:xfrm>
            <a:off x="8869451" y="638251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200" dirty="0"/>
          </a:p>
        </p:txBody>
      </p:sp>
      <p:sp>
        <p:nvSpPr>
          <p:cNvPr id="57" name="Text 44"/>
          <p:cNvSpPr txBox="1"/>
          <p:nvPr/>
        </p:nvSpPr>
        <p:spPr>
          <a:xfrm>
            <a:off x="9326651" y="6382512"/>
            <a:ext cx="22249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>
                    <a:alpha val="7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  ·  Como fica de verdade?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BF9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B057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1ª PERNA  ·  LV-ARQ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8778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i="1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LUGAR EM FOTOS</a:t>
            </a:r>
            <a:endParaRPr lang="en-US" sz="3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536192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Levantamento fotográfico: o registro do lote e do entorno, pedido no enunciado.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057400"/>
            <a:ext cx="2606040" cy="1956816"/>
          </a:xfrm>
          <a:prstGeom prst="roundRect">
            <a:avLst>
              <a:gd name="adj" fmla="val 3738"/>
            </a:avLst>
          </a:prstGeom>
          <a:solidFill>
            <a:srgbClr val="EFEBE0"/>
          </a:solidFill>
          <a:ln w="15875">
            <a:solidFill>
              <a:srgbClr val="BFA58E"/>
            </a:solidFill>
            <a:prstDash val="dash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23060" y="2606040"/>
            <a:ext cx="457200" cy="45720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548640" y="315468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BFA5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FOTO 1</a:t>
            </a:r>
            <a:endParaRPr lang="en-US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4087368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05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 </a:t>
            </a:r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Lote vazio visto da avenida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3364992" y="2057400"/>
            <a:ext cx="2606040" cy="1956816"/>
          </a:xfrm>
          <a:prstGeom prst="roundRect">
            <a:avLst>
              <a:gd name="adj" fmla="val 3738"/>
            </a:avLst>
          </a:prstGeom>
          <a:solidFill>
            <a:srgbClr val="EFEBE0"/>
          </a:solidFill>
          <a:ln w="15875">
            <a:solidFill>
              <a:srgbClr val="BFA58E"/>
            </a:solidFill>
            <a:prstDash val="dash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39412" y="2606040"/>
            <a:ext cx="457200" cy="45720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3364992" y="315468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BFA5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FOTO 2</a:t>
            </a:r>
            <a:endParaRPr lang="en-US" sz="1100" dirty="0"/>
          </a:p>
        </p:txBody>
      </p:sp>
      <p:sp>
        <p:nvSpPr>
          <p:cNvPr id="12" name="Text 8"/>
          <p:cNvSpPr txBox="1"/>
          <p:nvPr/>
        </p:nvSpPr>
        <p:spPr>
          <a:xfrm>
            <a:off x="3364992" y="4087368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05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 </a:t>
            </a:r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Ciclofaixa e iluminação pública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6181344" y="2057400"/>
            <a:ext cx="2606040" cy="1956816"/>
          </a:xfrm>
          <a:prstGeom prst="roundRect">
            <a:avLst>
              <a:gd name="adj" fmla="val 3738"/>
            </a:avLst>
          </a:prstGeom>
          <a:solidFill>
            <a:srgbClr val="EFEBE0"/>
          </a:solidFill>
          <a:ln w="15875">
            <a:solidFill>
              <a:srgbClr val="BFA58E"/>
            </a:solidFill>
            <a:prstDash val="dash"/>
          </a:ln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55764" y="2606040"/>
            <a:ext cx="457200" cy="457200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6181344" y="315468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BFA5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FOTO 3</a:t>
            </a:r>
            <a:endParaRPr lang="en-US" sz="1100" dirty="0"/>
          </a:p>
        </p:txBody>
      </p:sp>
      <p:sp>
        <p:nvSpPr>
          <p:cNvPr id="16" name="Text 11"/>
          <p:cNvSpPr txBox="1"/>
          <p:nvPr/>
        </p:nvSpPr>
        <p:spPr>
          <a:xfrm>
            <a:off x="6181344" y="4087368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05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 </a:t>
            </a:r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Pedestres e corredores à noite</a:t>
            </a:r>
            <a:endParaRPr lang="en-US" sz="1200" dirty="0"/>
          </a:p>
        </p:txBody>
      </p:sp>
      <p:sp>
        <p:nvSpPr>
          <p:cNvPr id="17" name="Shape 12"/>
          <p:cNvSpPr/>
          <p:nvPr/>
        </p:nvSpPr>
        <p:spPr>
          <a:xfrm>
            <a:off x="8997696" y="2057400"/>
            <a:ext cx="2606040" cy="1956816"/>
          </a:xfrm>
          <a:prstGeom prst="roundRect">
            <a:avLst>
              <a:gd name="adj" fmla="val 3738"/>
            </a:avLst>
          </a:prstGeom>
          <a:solidFill>
            <a:srgbClr val="EFEBE0"/>
          </a:solidFill>
          <a:ln w="15875">
            <a:solidFill>
              <a:srgbClr val="BFA58E"/>
            </a:solidFill>
            <a:prstDash val="dash"/>
          </a:ln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72116" y="2606040"/>
            <a:ext cx="457200" cy="457200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8997696" y="315468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BFA5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FOTO 4</a:t>
            </a:r>
            <a:endParaRPr lang="en-US" sz="1100" dirty="0"/>
          </a:p>
        </p:txBody>
      </p:sp>
      <p:sp>
        <p:nvSpPr>
          <p:cNvPr id="20" name="Text 14"/>
          <p:cNvSpPr txBox="1"/>
          <p:nvPr/>
        </p:nvSpPr>
        <p:spPr>
          <a:xfrm>
            <a:off x="8997696" y="4087368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05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 </a:t>
            </a:r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via já é usada para esporte</a:t>
            </a:r>
            <a:endParaRPr lang="en-US" sz="1200" dirty="0"/>
          </a:p>
        </p:txBody>
      </p:sp>
      <p:sp>
        <p:nvSpPr>
          <p:cNvPr id="21" name="Shape 15"/>
          <p:cNvSpPr/>
          <p:nvPr/>
        </p:nvSpPr>
        <p:spPr>
          <a:xfrm>
            <a:off x="548640" y="4526280"/>
            <a:ext cx="11064240" cy="96012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9525">
            <a:solidFill>
              <a:srgbClr val="DDD6C6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3000"/>
              </a:srgbClr>
            </a:outerShdw>
          </a:effectLst>
        </p:spPr>
      </p:sp>
      <p:sp>
        <p:nvSpPr>
          <p:cNvPr id="22" name="Text 16"/>
          <p:cNvSpPr txBox="1"/>
          <p:nvPr/>
        </p:nvSpPr>
        <p:spPr>
          <a:xfrm>
            <a:off x="822960" y="4526280"/>
            <a:ext cx="10515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05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as fotos mostram:  </a:t>
            </a:r>
            <a:pPr indent="0" marL="0">
              <a:buNone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lote vazio e cercado, carros estacionados ao longo da calçada, ciclofaixa e iluminação pública e, à noite, gente caminhando, correndo e pedalando. </a:t>
            </a:r>
            <a:pPr indent="0" marL="0">
              <a:buNone/>
            </a:pPr>
            <a:r>
              <a:rPr lang="en-US" sz="14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lugar já tem vocação esportiva.</a:t>
            </a:r>
            <a:endParaRPr lang="en-US" sz="1400" dirty="0"/>
          </a:p>
        </p:txBody>
      </p:sp>
      <p:sp>
        <p:nvSpPr>
          <p:cNvPr id="23" name="Shape 17"/>
          <p:cNvSpPr/>
          <p:nvPr/>
        </p:nvSpPr>
        <p:spPr>
          <a:xfrm>
            <a:off x="548640" y="5669280"/>
            <a:ext cx="11064240" cy="438912"/>
          </a:xfrm>
          <a:prstGeom prst="roundRect">
            <a:avLst>
              <a:gd name="adj" fmla="val 50000"/>
            </a:avLst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sp>
        <p:nvSpPr>
          <p:cNvPr id="24" name="Text 18"/>
          <p:cNvSpPr txBox="1"/>
          <p:nvPr/>
        </p:nvSpPr>
        <p:spPr>
          <a:xfrm>
            <a:off x="822960" y="5669280"/>
            <a:ext cx="10515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E9CD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BASTÃO PASSADO  ▸ 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prova de que o programa esportivo responde a um uso que já existe</a:t>
            </a:r>
            <a:endParaRPr lang="en-US" sz="1200" dirty="0"/>
          </a:p>
        </p:txBody>
      </p:sp>
      <p:sp>
        <p:nvSpPr>
          <p:cNvPr id="25" name="Shape 19"/>
          <p:cNvSpPr/>
          <p:nvPr/>
        </p:nvSpPr>
        <p:spPr>
          <a:xfrm>
            <a:off x="0" y="6263640"/>
            <a:ext cx="12191695" cy="594360"/>
          </a:xfrm>
          <a:prstGeom prst="rect">
            <a:avLst/>
          </a:prstGeom>
          <a:solidFill>
            <a:srgbClr val="B85A40"/>
          </a:solidFill>
          <a:ln w="12700">
            <a:solidFill>
              <a:srgbClr val="B85A40"/>
            </a:solidFill>
            <a:prstDash val="solid"/>
          </a:ln>
        </p:spPr>
      </p:sp>
      <p:sp>
        <p:nvSpPr>
          <p:cNvPr id="26" name="Shape 20"/>
          <p:cNvSpPr/>
          <p:nvPr/>
        </p:nvSpPr>
        <p:spPr>
          <a:xfrm>
            <a:off x="548640" y="6382512"/>
            <a:ext cx="365760" cy="365760"/>
          </a:xfrm>
          <a:prstGeom prst="ellipse">
            <a:avLst/>
          </a:prstGeom>
          <a:solidFill>
            <a:srgbClr val="1F2A44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7" name="Text 21"/>
          <p:cNvSpPr txBox="1"/>
          <p:nvPr/>
        </p:nvSpPr>
        <p:spPr>
          <a:xfrm>
            <a:off x="548640" y="638251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28" name="Text 22"/>
          <p:cNvSpPr txBox="1"/>
          <p:nvPr/>
        </p:nvSpPr>
        <p:spPr>
          <a:xfrm>
            <a:off x="1005840" y="6382512"/>
            <a:ext cx="22249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LV  ·  Onde estou?</a:t>
            </a:r>
            <a:endParaRPr lang="en-US" sz="1200" dirty="0"/>
          </a:p>
        </p:txBody>
      </p:sp>
      <p:sp>
        <p:nvSpPr>
          <p:cNvPr id="29" name="Shape 23"/>
          <p:cNvSpPr/>
          <p:nvPr/>
        </p:nvSpPr>
        <p:spPr>
          <a:xfrm>
            <a:off x="3322244" y="6382512"/>
            <a:ext cx="365760" cy="365760"/>
          </a:xfrm>
          <a:prstGeom prst="ellipse">
            <a:avLst/>
          </a:prstGeom>
          <a:solidFill>
            <a:srgbClr val="B85A40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0" name="Text 24"/>
          <p:cNvSpPr txBox="1"/>
          <p:nvPr/>
        </p:nvSpPr>
        <p:spPr>
          <a:xfrm>
            <a:off x="3322244" y="638251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31" name="Text 25"/>
          <p:cNvSpPr txBox="1"/>
          <p:nvPr/>
        </p:nvSpPr>
        <p:spPr>
          <a:xfrm>
            <a:off x="3779444" y="6382512"/>
            <a:ext cx="22249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>
                    <a:alpha val="7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PN  ·  O que preciso?</a:t>
            </a:r>
            <a:endParaRPr lang="en-US" sz="1200" dirty="0"/>
          </a:p>
        </p:txBody>
      </p:sp>
      <p:sp>
        <p:nvSpPr>
          <p:cNvPr id="32" name="Shape 26"/>
          <p:cNvSpPr/>
          <p:nvPr/>
        </p:nvSpPr>
        <p:spPr>
          <a:xfrm>
            <a:off x="6095848" y="6382512"/>
            <a:ext cx="365760" cy="365760"/>
          </a:xfrm>
          <a:prstGeom prst="ellipse">
            <a:avLst/>
          </a:prstGeom>
          <a:solidFill>
            <a:srgbClr val="B85A40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3" name="Text 27"/>
          <p:cNvSpPr txBox="1"/>
          <p:nvPr/>
        </p:nvSpPr>
        <p:spPr>
          <a:xfrm>
            <a:off x="6095848" y="638251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34" name="Text 28"/>
          <p:cNvSpPr txBox="1"/>
          <p:nvPr/>
        </p:nvSpPr>
        <p:spPr>
          <a:xfrm>
            <a:off x="6553048" y="6382512"/>
            <a:ext cx="22249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>
                    <a:alpha val="7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  ·  Qual é a ideia?</a:t>
            </a:r>
            <a:endParaRPr lang="en-US" sz="1200" dirty="0"/>
          </a:p>
        </p:txBody>
      </p:sp>
      <p:sp>
        <p:nvSpPr>
          <p:cNvPr id="35" name="Shape 29"/>
          <p:cNvSpPr/>
          <p:nvPr/>
        </p:nvSpPr>
        <p:spPr>
          <a:xfrm>
            <a:off x="8869451" y="6382512"/>
            <a:ext cx="365760" cy="365760"/>
          </a:xfrm>
          <a:prstGeom prst="ellipse">
            <a:avLst/>
          </a:prstGeom>
          <a:solidFill>
            <a:srgbClr val="B85A40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6" name="Text 30"/>
          <p:cNvSpPr txBox="1"/>
          <p:nvPr/>
        </p:nvSpPr>
        <p:spPr>
          <a:xfrm>
            <a:off x="8869451" y="638251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200" dirty="0"/>
          </a:p>
        </p:txBody>
      </p:sp>
      <p:sp>
        <p:nvSpPr>
          <p:cNvPr id="37" name="Text 31"/>
          <p:cNvSpPr txBox="1"/>
          <p:nvPr/>
        </p:nvSpPr>
        <p:spPr>
          <a:xfrm>
            <a:off x="9326651" y="6382512"/>
            <a:ext cx="22249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>
                    <a:alpha val="7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  ·  Como fica de verdade?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BF9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B057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1ª PERNA  ·  LV-ARQ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8778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i="1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QUE A LEI DEIXA FAZER?</a:t>
            </a:r>
            <a:endParaRPr lang="en-US" sz="3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572768"/>
            <a:ext cx="7040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lei da zona ZOM-4 também é levantamento: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993392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Terreno: 14.762 m²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2377440"/>
            <a:ext cx="5559552" cy="914400"/>
          </a:xfrm>
          <a:prstGeom prst="rect">
            <a:avLst/>
          </a:prstGeom>
          <a:solidFill>
            <a:srgbClr val="B0573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108192" y="2377440"/>
            <a:ext cx="868680" cy="914400"/>
          </a:xfrm>
          <a:prstGeom prst="rect">
            <a:avLst/>
          </a:prstGeom>
          <a:solidFill>
            <a:srgbClr val="BFA58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976872" y="2377440"/>
            <a:ext cx="521208" cy="914400"/>
          </a:xfrm>
          <a:prstGeom prst="rect">
            <a:avLst/>
          </a:prstGeom>
          <a:solidFill>
            <a:srgbClr val="6B775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31520" y="2377440"/>
            <a:ext cx="528523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até 80% pode ser ocupado  ·  11.809 m²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4162349" y="3401568"/>
            <a:ext cx="3335731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6B77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7,5% </a:t>
            </a:r>
            <a:pPr algn="r"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mínimo tem que ser permeável: 1.107 m²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39319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Índice de aproveitamento 6,0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5303520"/>
            <a:ext cx="2194560" cy="137160"/>
          </a:xfrm>
          <a:prstGeom prst="rect">
            <a:avLst/>
          </a:prstGeom>
          <a:solidFill>
            <a:srgbClr val="1F2A44"/>
          </a:solidFill>
          <a:ln w="9525">
            <a:solidFill>
              <a:srgbClr val="1F2A4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48640" y="5120640"/>
            <a:ext cx="2194560" cy="137160"/>
          </a:xfrm>
          <a:prstGeom prst="rect">
            <a:avLst/>
          </a:prstGeom>
          <a:solidFill>
            <a:srgbClr val="E9CDB8"/>
          </a:solidFill>
          <a:ln w="9525">
            <a:solidFill>
              <a:srgbClr val="1F2A44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48640" y="4937760"/>
            <a:ext cx="2194560" cy="137160"/>
          </a:xfrm>
          <a:prstGeom prst="rect">
            <a:avLst/>
          </a:prstGeom>
          <a:solidFill>
            <a:srgbClr val="E9CDB8"/>
          </a:solidFill>
          <a:ln w="9525">
            <a:solidFill>
              <a:srgbClr val="1F2A44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48640" y="4754880"/>
            <a:ext cx="2194560" cy="137160"/>
          </a:xfrm>
          <a:prstGeom prst="rect">
            <a:avLst/>
          </a:prstGeom>
          <a:solidFill>
            <a:srgbClr val="E9CDB8"/>
          </a:solidFill>
          <a:ln w="9525">
            <a:solidFill>
              <a:srgbClr val="1F2A44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48640" y="4572000"/>
            <a:ext cx="2194560" cy="137160"/>
          </a:xfrm>
          <a:prstGeom prst="rect">
            <a:avLst/>
          </a:prstGeom>
          <a:solidFill>
            <a:srgbClr val="E9CDB8"/>
          </a:solidFill>
          <a:ln w="9525">
            <a:solidFill>
              <a:srgbClr val="1F2A44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48640" y="4389120"/>
            <a:ext cx="2194560" cy="137160"/>
          </a:xfrm>
          <a:prstGeom prst="rect">
            <a:avLst/>
          </a:prstGeom>
          <a:solidFill>
            <a:srgbClr val="E9CDB8"/>
          </a:solidFill>
          <a:ln w="9525">
            <a:solidFill>
              <a:srgbClr val="1F2A44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3063240" y="4297680"/>
            <a:ext cx="44805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Somando todos os andares, posso construir até 6 vezes a área do terreno:</a:t>
            </a:r>
            <a:endParaRPr lang="en-US" sz="1250" dirty="0"/>
          </a:p>
          <a:p>
            <a:pPr indent="0" marL="0">
              <a:buNone/>
            </a:pPr>
            <a:r>
              <a:rPr lang="en-US" sz="12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× 14.762 m² = 88.572 m²</a:t>
            </a:r>
            <a:endParaRPr lang="en-US" sz="1250" dirty="0"/>
          </a:p>
          <a:p>
            <a:pPr indent="0" marL="0">
              <a:buNone/>
            </a:pPr>
            <a:r>
              <a:rPr lang="en-US" sz="1250" b="1" dirty="0">
                <a:solidFill>
                  <a:srgbClr val="B05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Arena Poty usa 3.376 m², cerca de 4% disso.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7818120" y="1600200"/>
            <a:ext cx="3840480" cy="388620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9525">
            <a:solidFill>
              <a:srgbClr val="DDD6C6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3000"/>
              </a:srgbClr>
            </a:outerShdw>
          </a:effectLst>
        </p:spPr>
      </p:sp>
      <p:sp>
        <p:nvSpPr>
          <p:cNvPr id="20" name="Text 18"/>
          <p:cNvSpPr txBox="1"/>
          <p:nvPr/>
        </p:nvSpPr>
        <p:spPr>
          <a:xfrm>
            <a:off x="8001000" y="1719072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Corte esquemático: resposta ao clima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8001000" y="1975104"/>
            <a:ext cx="3520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E6A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esquema elaborado para esta apresentação, a partir do partido do TCC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046720" y="2331720"/>
            <a:ext cx="384048" cy="384048"/>
          </a:xfrm>
          <a:prstGeom prst="ellipse">
            <a:avLst/>
          </a:prstGeom>
          <a:solidFill>
            <a:srgbClr val="E3A857"/>
          </a:solidFill>
          <a:ln w="12700">
            <a:solidFill>
              <a:srgbClr val="E3A857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366760" y="2697480"/>
            <a:ext cx="274320" cy="731520"/>
          </a:xfrm>
          <a:prstGeom prst="line">
            <a:avLst/>
          </a:prstGeom>
          <a:noFill/>
          <a:ln w="15875">
            <a:solidFill>
              <a:srgbClr val="E3A857"/>
            </a:solidFill>
            <a:prstDash val="dash"/>
          </a:ln>
        </p:spPr>
      </p:sp>
      <p:sp>
        <p:nvSpPr>
          <p:cNvPr id="24" name="Shape 22"/>
          <p:cNvSpPr/>
          <p:nvPr/>
        </p:nvSpPr>
        <p:spPr>
          <a:xfrm>
            <a:off x="8389620" y="2743200"/>
            <a:ext cx="274320" cy="731520"/>
          </a:xfrm>
          <a:prstGeom prst="line">
            <a:avLst/>
          </a:prstGeom>
          <a:noFill/>
          <a:ln w="15875">
            <a:solidFill>
              <a:srgbClr val="E3A857"/>
            </a:solidFill>
            <a:prstDash val="dash"/>
          </a:ln>
        </p:spPr>
      </p:sp>
      <p:sp>
        <p:nvSpPr>
          <p:cNvPr id="25" name="Shape 23"/>
          <p:cNvSpPr/>
          <p:nvPr/>
        </p:nvSpPr>
        <p:spPr>
          <a:xfrm>
            <a:off x="8412480" y="2788920"/>
            <a:ext cx="274320" cy="731520"/>
          </a:xfrm>
          <a:prstGeom prst="line">
            <a:avLst/>
          </a:prstGeom>
          <a:noFill/>
          <a:ln w="15875">
            <a:solidFill>
              <a:srgbClr val="E3A857"/>
            </a:solidFill>
            <a:prstDash val="dash"/>
          </a:ln>
        </p:spPr>
      </p:sp>
      <p:sp>
        <p:nvSpPr>
          <p:cNvPr id="26" name="Text 24"/>
          <p:cNvSpPr txBox="1"/>
          <p:nvPr/>
        </p:nvSpPr>
        <p:spPr>
          <a:xfrm>
            <a:off x="8503920" y="237744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05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 da tarde (oeste)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8961120" y="3429000"/>
            <a:ext cx="1600200" cy="1325880"/>
          </a:xfrm>
          <a:prstGeom prst="rect">
            <a:avLst/>
          </a:prstGeom>
          <a:solidFill>
            <a:srgbClr val="EFEBE0"/>
          </a:solidFill>
          <a:ln w="15875">
            <a:solidFill>
              <a:srgbClr val="1F2A44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458200" y="3291840"/>
            <a:ext cx="2606040" cy="137160"/>
          </a:xfrm>
          <a:prstGeom prst="rect">
            <a:avLst/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9326880" y="2999232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grande cobertura com beiral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8595360" y="3520440"/>
            <a:ext cx="41148" cy="1097280"/>
          </a:xfrm>
          <a:prstGeom prst="rect">
            <a:avLst/>
          </a:prstGeom>
          <a:solidFill>
            <a:srgbClr val="B0573F"/>
          </a:solidFill>
          <a:ln w="12700">
            <a:solidFill>
              <a:srgbClr val="B0573F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8686800" y="3520440"/>
            <a:ext cx="41148" cy="1097280"/>
          </a:xfrm>
          <a:prstGeom prst="rect">
            <a:avLst/>
          </a:prstGeom>
          <a:solidFill>
            <a:srgbClr val="B0573F"/>
          </a:solidFill>
          <a:ln w="12700">
            <a:solidFill>
              <a:srgbClr val="B0573F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8778240" y="3520440"/>
            <a:ext cx="41148" cy="1097280"/>
          </a:xfrm>
          <a:prstGeom prst="rect">
            <a:avLst/>
          </a:prstGeom>
          <a:solidFill>
            <a:srgbClr val="B0573F"/>
          </a:solidFill>
          <a:ln w="12700">
            <a:solidFill>
              <a:srgbClr val="B0573F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8869680" y="3520440"/>
            <a:ext cx="41148" cy="1097280"/>
          </a:xfrm>
          <a:prstGeom prst="rect">
            <a:avLst/>
          </a:prstGeom>
          <a:solidFill>
            <a:srgbClr val="B0573F"/>
          </a:solidFill>
          <a:ln w="12700">
            <a:solidFill>
              <a:srgbClr val="B0573F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10424160" y="3611880"/>
            <a:ext cx="64008" cy="118872"/>
          </a:xfrm>
          <a:prstGeom prst="rect">
            <a:avLst/>
          </a:prstGeom>
          <a:solidFill>
            <a:srgbClr val="BFA58E"/>
          </a:solidFill>
          <a:ln w="6350">
            <a:solidFill>
              <a:srgbClr val="B0573F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10515600" y="3611880"/>
            <a:ext cx="64008" cy="118872"/>
          </a:xfrm>
          <a:prstGeom prst="rect">
            <a:avLst/>
          </a:prstGeom>
          <a:solidFill>
            <a:srgbClr val="BFA58E"/>
          </a:solidFill>
          <a:ln w="6350">
            <a:solidFill>
              <a:srgbClr val="B0573F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10424160" y="3785616"/>
            <a:ext cx="64008" cy="118872"/>
          </a:xfrm>
          <a:prstGeom prst="rect">
            <a:avLst/>
          </a:prstGeom>
          <a:solidFill>
            <a:srgbClr val="BFA58E"/>
          </a:solidFill>
          <a:ln w="6350">
            <a:solidFill>
              <a:srgbClr val="B0573F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10515600" y="3785616"/>
            <a:ext cx="64008" cy="118872"/>
          </a:xfrm>
          <a:prstGeom prst="rect">
            <a:avLst/>
          </a:prstGeom>
          <a:solidFill>
            <a:srgbClr val="BFA58E"/>
          </a:solidFill>
          <a:ln w="6350">
            <a:solidFill>
              <a:srgbClr val="B0573F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10424160" y="3959352"/>
            <a:ext cx="64008" cy="118872"/>
          </a:xfrm>
          <a:prstGeom prst="rect">
            <a:avLst/>
          </a:prstGeom>
          <a:solidFill>
            <a:srgbClr val="BFA58E"/>
          </a:solidFill>
          <a:ln w="6350">
            <a:solidFill>
              <a:srgbClr val="B0573F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0515600" y="3959352"/>
            <a:ext cx="64008" cy="118872"/>
          </a:xfrm>
          <a:prstGeom prst="rect">
            <a:avLst/>
          </a:prstGeom>
          <a:solidFill>
            <a:srgbClr val="BFA58E"/>
          </a:solidFill>
          <a:ln w="6350">
            <a:solidFill>
              <a:srgbClr val="B0573F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10424160" y="4133088"/>
            <a:ext cx="64008" cy="118872"/>
          </a:xfrm>
          <a:prstGeom prst="rect">
            <a:avLst/>
          </a:prstGeom>
          <a:solidFill>
            <a:srgbClr val="BFA58E"/>
          </a:solidFill>
          <a:ln w="6350">
            <a:solidFill>
              <a:srgbClr val="B0573F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10515600" y="4133088"/>
            <a:ext cx="64008" cy="118872"/>
          </a:xfrm>
          <a:prstGeom prst="rect">
            <a:avLst/>
          </a:prstGeom>
          <a:solidFill>
            <a:srgbClr val="BFA58E"/>
          </a:solidFill>
          <a:ln w="6350">
            <a:solidFill>
              <a:srgbClr val="B0573F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10424160" y="4306824"/>
            <a:ext cx="64008" cy="118872"/>
          </a:xfrm>
          <a:prstGeom prst="rect">
            <a:avLst/>
          </a:prstGeom>
          <a:solidFill>
            <a:srgbClr val="BFA58E"/>
          </a:solidFill>
          <a:ln w="6350">
            <a:solidFill>
              <a:srgbClr val="B0573F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10515600" y="4306824"/>
            <a:ext cx="64008" cy="118872"/>
          </a:xfrm>
          <a:prstGeom prst="rect">
            <a:avLst/>
          </a:prstGeom>
          <a:solidFill>
            <a:srgbClr val="BFA58E"/>
          </a:solidFill>
          <a:ln w="6350">
            <a:solidFill>
              <a:srgbClr val="B0573F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10424160" y="4480560"/>
            <a:ext cx="64008" cy="118872"/>
          </a:xfrm>
          <a:prstGeom prst="rect">
            <a:avLst/>
          </a:prstGeom>
          <a:solidFill>
            <a:srgbClr val="BFA58E"/>
          </a:solidFill>
          <a:ln w="6350">
            <a:solidFill>
              <a:srgbClr val="B0573F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10515600" y="4480560"/>
            <a:ext cx="64008" cy="118872"/>
          </a:xfrm>
          <a:prstGeom prst="rect">
            <a:avLst/>
          </a:prstGeom>
          <a:solidFill>
            <a:srgbClr val="BFA58E"/>
          </a:solidFill>
          <a:ln w="6350">
            <a:solidFill>
              <a:srgbClr val="B0573F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8458200" y="4069080"/>
            <a:ext cx="2971800" cy="0"/>
          </a:xfrm>
          <a:prstGeom prst="line">
            <a:avLst/>
          </a:prstGeom>
          <a:noFill/>
          <a:ln w="25400">
            <a:solidFill>
              <a:srgbClr val="2F6592"/>
            </a:solidFill>
            <a:prstDash val="solid"/>
            <a:headEnd type="triangle"/>
          </a:ln>
        </p:spPr>
      </p:sp>
      <p:sp>
        <p:nvSpPr>
          <p:cNvPr id="47" name="Text 45"/>
          <p:cNvSpPr txBox="1"/>
          <p:nvPr/>
        </p:nvSpPr>
        <p:spPr>
          <a:xfrm>
            <a:off x="10744200" y="3749040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F65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vento leste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11247120" y="4434840"/>
            <a:ext cx="45720" cy="320040"/>
          </a:xfrm>
          <a:prstGeom prst="rect">
            <a:avLst/>
          </a:prstGeom>
          <a:solidFill>
            <a:srgbClr val="7A5C3E"/>
          </a:solidFill>
          <a:ln w="12700">
            <a:solidFill>
              <a:srgbClr val="7A5C3E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11064240" y="4206240"/>
            <a:ext cx="411480" cy="365760"/>
          </a:xfrm>
          <a:prstGeom prst="ellipse">
            <a:avLst/>
          </a:prstGeom>
          <a:solidFill>
            <a:srgbClr val="6B7751"/>
          </a:solidFill>
          <a:ln w="12700">
            <a:solidFill>
              <a:srgbClr val="6B7751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8001000" y="4754880"/>
            <a:ext cx="3520440" cy="0"/>
          </a:xfrm>
          <a:prstGeom prst="line">
            <a:avLst/>
          </a:prstGeom>
          <a:noFill/>
          <a:ln w="19050">
            <a:solidFill>
              <a:srgbClr val="1F2A44"/>
            </a:solidFill>
            <a:prstDash val="solid"/>
          </a:ln>
        </p:spPr>
      </p:sp>
      <p:sp>
        <p:nvSpPr>
          <p:cNvPr id="51" name="Text 49"/>
          <p:cNvSpPr txBox="1"/>
          <p:nvPr/>
        </p:nvSpPr>
        <p:spPr>
          <a:xfrm>
            <a:off x="8001000" y="4846320"/>
            <a:ext cx="3520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05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brise </a:t>
            </a:r>
            <a:pPr indent="0" marL="0">
              <a:buNone/>
            </a:pPr>
            <a:r>
              <a:rPr lang="en-US" sz="10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barra o sol da tarde  ·  </a:t>
            </a:r>
            <a:pPr indent="0" marL="0">
              <a:buNone/>
            </a:pPr>
            <a:r>
              <a:rPr lang="en-US" sz="1000" b="1" dirty="0">
                <a:solidFill>
                  <a:srgbClr val="B05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cobogó </a:t>
            </a:r>
            <a:pPr indent="0" marL="0">
              <a:buNone/>
            </a:pPr>
            <a:r>
              <a:rPr lang="en-US" sz="10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deixa o vento passar  ·  </a:t>
            </a:r>
            <a:pPr indent="0" marL="0">
              <a:buNone/>
            </a:pPr>
            <a:r>
              <a:rPr lang="en-US" sz="1000" b="1" dirty="0">
                <a:solidFill>
                  <a:srgbClr val="B05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beiral </a:t>
            </a:r>
            <a:pPr indent="0" marL="0">
              <a:buNone/>
            </a:pPr>
            <a:r>
              <a:rPr lang="en-US" sz="10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sombreia as fachadas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548640" y="5669280"/>
            <a:ext cx="11064240" cy="438912"/>
          </a:xfrm>
          <a:prstGeom prst="roundRect">
            <a:avLst>
              <a:gd name="adj" fmla="val 50000"/>
            </a:avLst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sp>
        <p:nvSpPr>
          <p:cNvPr id="53" name="Text 51"/>
          <p:cNvSpPr txBox="1"/>
          <p:nvPr/>
        </p:nvSpPr>
        <p:spPr>
          <a:xfrm>
            <a:off x="822960" y="5669280"/>
            <a:ext cx="10515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E9CD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BASTÃO PASSADO  ▸ 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quanto ocupar, quanto construir e quanto deixar permeável</a:t>
            </a:r>
            <a:endParaRPr lang="en-US" sz="1200" dirty="0"/>
          </a:p>
        </p:txBody>
      </p:sp>
      <p:sp>
        <p:nvSpPr>
          <p:cNvPr id="54" name="Shape 52"/>
          <p:cNvSpPr/>
          <p:nvPr/>
        </p:nvSpPr>
        <p:spPr>
          <a:xfrm>
            <a:off x="0" y="6263640"/>
            <a:ext cx="12191695" cy="594360"/>
          </a:xfrm>
          <a:prstGeom prst="rect">
            <a:avLst/>
          </a:prstGeom>
          <a:solidFill>
            <a:srgbClr val="B85A40"/>
          </a:solidFill>
          <a:ln w="12700">
            <a:solidFill>
              <a:srgbClr val="B85A40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548640" y="6382512"/>
            <a:ext cx="365760" cy="365760"/>
          </a:xfrm>
          <a:prstGeom prst="ellipse">
            <a:avLst/>
          </a:prstGeom>
          <a:solidFill>
            <a:srgbClr val="1F2A44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6" name="Text 54"/>
          <p:cNvSpPr txBox="1"/>
          <p:nvPr/>
        </p:nvSpPr>
        <p:spPr>
          <a:xfrm>
            <a:off x="548640" y="638251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57" name="Text 55"/>
          <p:cNvSpPr txBox="1"/>
          <p:nvPr/>
        </p:nvSpPr>
        <p:spPr>
          <a:xfrm>
            <a:off x="1005840" y="6382512"/>
            <a:ext cx="22249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LV  ·  Onde estou?</a:t>
            </a:r>
            <a:endParaRPr lang="en-US" sz="1200" dirty="0"/>
          </a:p>
        </p:txBody>
      </p:sp>
      <p:sp>
        <p:nvSpPr>
          <p:cNvPr id="58" name="Shape 56"/>
          <p:cNvSpPr/>
          <p:nvPr/>
        </p:nvSpPr>
        <p:spPr>
          <a:xfrm>
            <a:off x="3322244" y="6382512"/>
            <a:ext cx="365760" cy="365760"/>
          </a:xfrm>
          <a:prstGeom prst="ellipse">
            <a:avLst/>
          </a:prstGeom>
          <a:solidFill>
            <a:srgbClr val="B85A40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9" name="Text 57"/>
          <p:cNvSpPr txBox="1"/>
          <p:nvPr/>
        </p:nvSpPr>
        <p:spPr>
          <a:xfrm>
            <a:off x="3322244" y="638251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60" name="Text 58"/>
          <p:cNvSpPr txBox="1"/>
          <p:nvPr/>
        </p:nvSpPr>
        <p:spPr>
          <a:xfrm>
            <a:off x="3779444" y="6382512"/>
            <a:ext cx="22249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>
                    <a:alpha val="7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PN  ·  O que preciso?</a:t>
            </a:r>
            <a:endParaRPr lang="en-US" sz="1200" dirty="0"/>
          </a:p>
        </p:txBody>
      </p:sp>
      <p:sp>
        <p:nvSpPr>
          <p:cNvPr id="61" name="Shape 59"/>
          <p:cNvSpPr/>
          <p:nvPr/>
        </p:nvSpPr>
        <p:spPr>
          <a:xfrm>
            <a:off x="6095848" y="6382512"/>
            <a:ext cx="365760" cy="365760"/>
          </a:xfrm>
          <a:prstGeom prst="ellipse">
            <a:avLst/>
          </a:prstGeom>
          <a:solidFill>
            <a:srgbClr val="B85A40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2" name="Text 60"/>
          <p:cNvSpPr txBox="1"/>
          <p:nvPr/>
        </p:nvSpPr>
        <p:spPr>
          <a:xfrm>
            <a:off x="6095848" y="638251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63" name="Text 61"/>
          <p:cNvSpPr txBox="1"/>
          <p:nvPr/>
        </p:nvSpPr>
        <p:spPr>
          <a:xfrm>
            <a:off x="6553048" y="6382512"/>
            <a:ext cx="22249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>
                    <a:alpha val="7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  ·  Qual é a ideia?</a:t>
            </a:r>
            <a:endParaRPr lang="en-US" sz="1200" dirty="0"/>
          </a:p>
        </p:txBody>
      </p:sp>
      <p:sp>
        <p:nvSpPr>
          <p:cNvPr id="64" name="Shape 62"/>
          <p:cNvSpPr/>
          <p:nvPr/>
        </p:nvSpPr>
        <p:spPr>
          <a:xfrm>
            <a:off x="8869451" y="6382512"/>
            <a:ext cx="365760" cy="365760"/>
          </a:xfrm>
          <a:prstGeom prst="ellipse">
            <a:avLst/>
          </a:prstGeom>
          <a:solidFill>
            <a:srgbClr val="B85A40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5" name="Text 63"/>
          <p:cNvSpPr txBox="1"/>
          <p:nvPr/>
        </p:nvSpPr>
        <p:spPr>
          <a:xfrm>
            <a:off x="8869451" y="638251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200" dirty="0"/>
          </a:p>
        </p:txBody>
      </p:sp>
      <p:sp>
        <p:nvSpPr>
          <p:cNvPr id="66" name="Text 64"/>
          <p:cNvSpPr txBox="1"/>
          <p:nvPr/>
        </p:nvSpPr>
        <p:spPr>
          <a:xfrm>
            <a:off x="9326651" y="6382512"/>
            <a:ext cx="22249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>
                    <a:alpha val="7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  ·  Como fica de verdade?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BF9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B057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2ª PERNA  ·  PN-ARQ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8778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i="1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QUE PRECISO?</a:t>
            </a:r>
            <a:endParaRPr lang="en-US" sz="3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572768"/>
            <a:ext cx="7040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 norma (PGN, item 3.91): as necessidades do contratante, organizadas.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167128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Programa total: 10.936 m²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2514600"/>
            <a:ext cx="4795114" cy="914400"/>
          </a:xfrm>
          <a:prstGeom prst="rect">
            <a:avLst/>
          </a:prstGeom>
          <a:solidFill>
            <a:srgbClr val="6B775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343754" y="2514600"/>
            <a:ext cx="2154326" cy="914400"/>
          </a:xfrm>
          <a:prstGeom prst="rect">
            <a:avLst/>
          </a:prstGeom>
          <a:solidFill>
            <a:srgbClr val="B0573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31520" y="2514600"/>
            <a:ext cx="452079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69%  </a:t>
            </a:r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ao ar livre · 7.560 m²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5480914" y="2514600"/>
            <a:ext cx="197144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31%  </a:t>
            </a:r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edificado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3657600"/>
            <a:ext cx="384048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6B77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Ao ar livre (m²)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Campo society  1.800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Paisagismo  1.800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Estacionamento  1.500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Pista de corrida  1.100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Quadra de tênis  670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Praças  650  ·  Bicicletário  40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4526280" y="3657600"/>
            <a:ext cx="301752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B05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Edificado (m²)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3.376 m² em 8 setores,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detalhados no quadro ao lado</a:t>
            </a:r>
            <a:endParaRPr lang="en-US" sz="1200" dirty="0"/>
          </a:p>
          <a:p>
            <a:pPr indent="0" marL="0">
              <a:buNone/>
            </a:pPr>
            <a:r>
              <a:rPr lang="en-US" sz="6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Conclusão: é, antes de tudo, um projeto de espaços abertos.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863840" y="1600200"/>
            <a:ext cx="3794760" cy="3886200"/>
          </a:xfrm>
          <a:prstGeom prst="roundRect">
            <a:avLst>
              <a:gd name="adj" fmla="val 2892"/>
            </a:avLst>
          </a:prstGeom>
          <a:solidFill>
            <a:srgbClr val="FFFFFF"/>
          </a:solidFill>
          <a:ln w="9525">
            <a:solidFill>
              <a:srgbClr val="DDD6C6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3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8092440" y="173736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Setores edificados (m²)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8092440" y="2148840"/>
            <a:ext cx="1783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Esportivo interno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9875520" y="2221992"/>
            <a:ext cx="1097280" cy="201168"/>
          </a:xfrm>
          <a:prstGeom prst="rect">
            <a:avLst/>
          </a:prstGeom>
          <a:solidFill>
            <a:srgbClr val="B0573F"/>
          </a:solidFill>
          <a:ln w="12700">
            <a:solidFill>
              <a:srgbClr val="B0573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11018520" y="2148840"/>
            <a:ext cx="548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1510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8092440" y="2560320"/>
            <a:ext cx="1783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Convivência / alimentação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9875520" y="2633472"/>
            <a:ext cx="603141" cy="201168"/>
          </a:xfrm>
          <a:prstGeom prst="rect">
            <a:avLst/>
          </a:prstGeom>
          <a:solidFill>
            <a:srgbClr val="B0573F"/>
          </a:solidFill>
          <a:ln w="12700">
            <a:solidFill>
              <a:srgbClr val="B0573F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10524381" y="2560320"/>
            <a:ext cx="548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830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8092440" y="2971800"/>
            <a:ext cx="1783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Cultural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9875520" y="3044952"/>
            <a:ext cx="192569" cy="201168"/>
          </a:xfrm>
          <a:prstGeom prst="rect">
            <a:avLst/>
          </a:prstGeom>
          <a:solidFill>
            <a:srgbClr val="B0573F"/>
          </a:solidFill>
          <a:ln w="12700">
            <a:solidFill>
              <a:srgbClr val="B0573F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10113809" y="2971800"/>
            <a:ext cx="548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265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8092440" y="3383280"/>
            <a:ext cx="1783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Técnico / serviços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9875520" y="3456432"/>
            <a:ext cx="178035" cy="201168"/>
          </a:xfrm>
          <a:prstGeom prst="rect">
            <a:avLst/>
          </a:prstGeom>
          <a:solidFill>
            <a:srgbClr val="B0573F"/>
          </a:solidFill>
          <a:ln w="12700">
            <a:solidFill>
              <a:srgbClr val="B0573F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10099275" y="3383280"/>
            <a:ext cx="548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245</a:t>
            </a:r>
            <a:endParaRPr lang="en-US" sz="1100" dirty="0"/>
          </a:p>
        </p:txBody>
      </p:sp>
      <p:sp>
        <p:nvSpPr>
          <p:cNvPr id="26" name="Text 24"/>
          <p:cNvSpPr txBox="1"/>
          <p:nvPr/>
        </p:nvSpPr>
        <p:spPr>
          <a:xfrm>
            <a:off x="8092440" y="3794760"/>
            <a:ext cx="1783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Apoio esportivo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9875520" y="3867912"/>
            <a:ext cx="150422" cy="201168"/>
          </a:xfrm>
          <a:prstGeom prst="rect">
            <a:avLst/>
          </a:prstGeom>
          <a:solidFill>
            <a:srgbClr val="B0573F"/>
          </a:solidFill>
          <a:ln w="12700">
            <a:solidFill>
              <a:srgbClr val="B0573F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10071662" y="3794760"/>
            <a:ext cx="548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207</a:t>
            </a:r>
            <a:endParaRPr lang="en-US" sz="1100" dirty="0"/>
          </a:p>
        </p:txBody>
      </p:sp>
      <p:sp>
        <p:nvSpPr>
          <p:cNvPr id="29" name="Text 27"/>
          <p:cNvSpPr txBox="1"/>
          <p:nvPr/>
        </p:nvSpPr>
        <p:spPr>
          <a:xfrm>
            <a:off x="8092440" y="4206240"/>
            <a:ext cx="1783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Administrativo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9875520" y="4279392"/>
            <a:ext cx="129348" cy="201168"/>
          </a:xfrm>
          <a:prstGeom prst="rect">
            <a:avLst/>
          </a:prstGeom>
          <a:solidFill>
            <a:srgbClr val="B0573F"/>
          </a:solidFill>
          <a:ln w="12700">
            <a:solidFill>
              <a:srgbClr val="B0573F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10050588" y="4206240"/>
            <a:ext cx="548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178</a:t>
            </a:r>
            <a:endParaRPr lang="en-US" sz="1100" dirty="0"/>
          </a:p>
        </p:txBody>
      </p:sp>
      <p:sp>
        <p:nvSpPr>
          <p:cNvPr id="32" name="Text 30"/>
          <p:cNvSpPr txBox="1"/>
          <p:nvPr/>
        </p:nvSpPr>
        <p:spPr>
          <a:xfrm>
            <a:off x="8092440" y="4617720"/>
            <a:ext cx="1783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Saúde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9875520" y="4690872"/>
            <a:ext cx="58134" cy="201168"/>
          </a:xfrm>
          <a:prstGeom prst="rect">
            <a:avLst/>
          </a:prstGeom>
          <a:solidFill>
            <a:srgbClr val="B0573F"/>
          </a:solidFill>
          <a:ln w="12700">
            <a:solidFill>
              <a:srgbClr val="B0573F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9979374" y="4617720"/>
            <a:ext cx="548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</a:t>
            </a:r>
            <a:endParaRPr lang="en-US" sz="1100" dirty="0"/>
          </a:p>
        </p:txBody>
      </p:sp>
      <p:sp>
        <p:nvSpPr>
          <p:cNvPr id="35" name="Text 33"/>
          <p:cNvSpPr txBox="1"/>
          <p:nvPr/>
        </p:nvSpPr>
        <p:spPr>
          <a:xfrm>
            <a:off x="8092440" y="5029200"/>
            <a:ext cx="1783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Sanitários públicos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9875520" y="5102352"/>
            <a:ext cx="45720" cy="201168"/>
          </a:xfrm>
          <a:prstGeom prst="rect">
            <a:avLst/>
          </a:prstGeom>
          <a:solidFill>
            <a:srgbClr val="B0573F"/>
          </a:solidFill>
          <a:ln w="12700">
            <a:solidFill>
              <a:srgbClr val="B0573F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9966960" y="5029200"/>
            <a:ext cx="548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61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548640" y="5669280"/>
            <a:ext cx="11064240" cy="438912"/>
          </a:xfrm>
          <a:prstGeom prst="roundRect">
            <a:avLst>
              <a:gd name="adj" fmla="val 50000"/>
            </a:avLst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822960" y="5669280"/>
            <a:ext cx="10515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E9CD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BASTÃO PASSADO  ▸ 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lista de ambientes com áreas: é ela que vai ser “desenhada” no estudo preliminar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0" y="6263640"/>
            <a:ext cx="12191695" cy="594360"/>
          </a:xfrm>
          <a:prstGeom prst="rect">
            <a:avLst/>
          </a:prstGeom>
          <a:solidFill>
            <a:srgbClr val="B85A40"/>
          </a:solidFill>
          <a:ln w="12700">
            <a:solidFill>
              <a:srgbClr val="B85A40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548640" y="6382512"/>
            <a:ext cx="365760" cy="365760"/>
          </a:xfrm>
          <a:prstGeom prst="ellipse">
            <a:avLst/>
          </a:prstGeom>
          <a:solidFill>
            <a:srgbClr val="E9CDB8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548640" y="638251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43" name="Text 41"/>
          <p:cNvSpPr txBox="1"/>
          <p:nvPr/>
        </p:nvSpPr>
        <p:spPr>
          <a:xfrm>
            <a:off x="1005840" y="6382512"/>
            <a:ext cx="22249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LV  ·  Onde estou?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3322244" y="6382512"/>
            <a:ext cx="365760" cy="365760"/>
          </a:xfrm>
          <a:prstGeom prst="ellipse">
            <a:avLst/>
          </a:prstGeom>
          <a:solidFill>
            <a:srgbClr val="1F2A44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3322244" y="638251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46" name="Text 44"/>
          <p:cNvSpPr txBox="1"/>
          <p:nvPr/>
        </p:nvSpPr>
        <p:spPr>
          <a:xfrm>
            <a:off x="3779444" y="6382512"/>
            <a:ext cx="22249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PN  ·  O que preciso?</a:t>
            </a:r>
            <a:endParaRPr lang="en-US" sz="1200" dirty="0"/>
          </a:p>
        </p:txBody>
      </p:sp>
      <p:sp>
        <p:nvSpPr>
          <p:cNvPr id="47" name="Shape 45"/>
          <p:cNvSpPr/>
          <p:nvPr/>
        </p:nvSpPr>
        <p:spPr>
          <a:xfrm>
            <a:off x="6095848" y="6382512"/>
            <a:ext cx="365760" cy="365760"/>
          </a:xfrm>
          <a:prstGeom prst="ellipse">
            <a:avLst/>
          </a:prstGeom>
          <a:solidFill>
            <a:srgbClr val="B85A40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48" name="Text 46"/>
          <p:cNvSpPr txBox="1"/>
          <p:nvPr/>
        </p:nvSpPr>
        <p:spPr>
          <a:xfrm>
            <a:off x="6095848" y="638251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49" name="Text 47"/>
          <p:cNvSpPr txBox="1"/>
          <p:nvPr/>
        </p:nvSpPr>
        <p:spPr>
          <a:xfrm>
            <a:off x="6553048" y="6382512"/>
            <a:ext cx="22249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>
                    <a:alpha val="7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  ·  Qual é a ideia?</a:t>
            </a:r>
            <a:endParaRPr lang="en-US" sz="1200" dirty="0"/>
          </a:p>
        </p:txBody>
      </p:sp>
      <p:sp>
        <p:nvSpPr>
          <p:cNvPr id="50" name="Shape 48"/>
          <p:cNvSpPr/>
          <p:nvPr/>
        </p:nvSpPr>
        <p:spPr>
          <a:xfrm>
            <a:off x="8869451" y="6382512"/>
            <a:ext cx="365760" cy="365760"/>
          </a:xfrm>
          <a:prstGeom prst="ellipse">
            <a:avLst/>
          </a:prstGeom>
          <a:solidFill>
            <a:srgbClr val="B85A40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1" name="Text 49"/>
          <p:cNvSpPr txBox="1"/>
          <p:nvPr/>
        </p:nvSpPr>
        <p:spPr>
          <a:xfrm>
            <a:off x="8869451" y="638251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200" dirty="0"/>
          </a:p>
        </p:txBody>
      </p:sp>
      <p:sp>
        <p:nvSpPr>
          <p:cNvPr id="52" name="Text 50"/>
          <p:cNvSpPr txBox="1"/>
          <p:nvPr/>
        </p:nvSpPr>
        <p:spPr>
          <a:xfrm>
            <a:off x="9326651" y="6382512"/>
            <a:ext cx="22249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>
                    <a:alpha val="7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  ·  Como fica de verdade?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BF9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B057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3ª PERNA  ·  EP-ARQ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8778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i="1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 É A IDEIA?</a:t>
            </a:r>
            <a:endParaRPr lang="en-US" sz="3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572768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 norma (item 3.54): dimensionamento preliminar dos conceitos do projeto, podendo incluir alternativas. Em três passos: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2148840"/>
            <a:ext cx="3474720" cy="329184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9525">
            <a:solidFill>
              <a:srgbClr val="DDD6C6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3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22960" y="2377440"/>
            <a:ext cx="868680" cy="868680"/>
          </a:xfrm>
          <a:prstGeom prst="ellipse">
            <a:avLst/>
          </a:prstGeom>
          <a:solidFill>
            <a:srgbClr val="1F2A44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2416" y="2596896"/>
            <a:ext cx="429768" cy="429768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2926080" y="2331720"/>
            <a:ext cx="914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4000" b="1" i="1" dirty="0">
                <a:solidFill>
                  <a:srgbClr val="E9CD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4000" dirty="0"/>
          </a:p>
        </p:txBody>
      </p:sp>
      <p:sp>
        <p:nvSpPr>
          <p:cNvPr id="9" name="Text 6"/>
          <p:cNvSpPr txBox="1"/>
          <p:nvPr/>
        </p:nvSpPr>
        <p:spPr>
          <a:xfrm>
            <a:off x="822960" y="338328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CONCEITO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822960" y="3730752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B05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ideia-força</a:t>
            </a:r>
            <a:endParaRPr lang="en-US" sz="1300" dirty="0"/>
          </a:p>
        </p:txBody>
      </p:sp>
      <p:sp>
        <p:nvSpPr>
          <p:cNvPr id="11" name="Text 8"/>
          <p:cNvSpPr txBox="1"/>
          <p:nvPr/>
        </p:nvSpPr>
        <p:spPr>
          <a:xfrm>
            <a:off x="822960" y="4114800"/>
            <a:ext cx="29718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“Esporte como elemento de conexão” entre pessoas, cidade e paisagem.</a:t>
            </a:r>
            <a:endParaRPr lang="en-US" sz="1300" dirty="0"/>
          </a:p>
        </p:txBody>
      </p:sp>
      <p:sp>
        <p:nvSpPr>
          <p:cNvPr id="12" name="Text 9"/>
          <p:cNvSpPr txBox="1"/>
          <p:nvPr/>
        </p:nvSpPr>
        <p:spPr>
          <a:xfrm>
            <a:off x="4023360" y="3474720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B05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800" dirty="0"/>
          </a:p>
        </p:txBody>
      </p:sp>
      <p:sp>
        <p:nvSpPr>
          <p:cNvPr id="13" name="Shape 10"/>
          <p:cNvSpPr/>
          <p:nvPr/>
        </p:nvSpPr>
        <p:spPr>
          <a:xfrm>
            <a:off x="4343400" y="2148840"/>
            <a:ext cx="3474720" cy="329184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9525">
            <a:solidFill>
              <a:srgbClr val="DDD6C6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3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4617720" y="2377440"/>
            <a:ext cx="868680" cy="868680"/>
          </a:xfrm>
          <a:prstGeom prst="ellipse">
            <a:avLst/>
          </a:prstGeom>
          <a:solidFill>
            <a:srgbClr val="B0573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37176" y="2596896"/>
            <a:ext cx="429768" cy="429768"/>
          </a:xfrm>
          <a:prstGeom prst="rect">
            <a:avLst/>
          </a:prstGeom>
        </p:spPr>
      </p:pic>
      <p:sp>
        <p:nvSpPr>
          <p:cNvPr id="16" name="Text 12"/>
          <p:cNvSpPr txBox="1"/>
          <p:nvPr/>
        </p:nvSpPr>
        <p:spPr>
          <a:xfrm>
            <a:off x="6720840" y="2331720"/>
            <a:ext cx="914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4000" b="1" i="1" dirty="0">
                <a:solidFill>
                  <a:srgbClr val="E9CD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4000" dirty="0"/>
          </a:p>
        </p:txBody>
      </p:sp>
      <p:sp>
        <p:nvSpPr>
          <p:cNvPr id="17" name="Text 13"/>
          <p:cNvSpPr txBox="1"/>
          <p:nvPr/>
        </p:nvSpPr>
        <p:spPr>
          <a:xfrm>
            <a:off x="4617720" y="338328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PARTIDO</a:t>
            </a:r>
            <a:endParaRPr lang="en-US" sz="1500" dirty="0"/>
          </a:p>
        </p:txBody>
      </p:sp>
      <p:sp>
        <p:nvSpPr>
          <p:cNvPr id="18" name="Text 14"/>
          <p:cNvSpPr txBox="1"/>
          <p:nvPr/>
        </p:nvSpPr>
        <p:spPr>
          <a:xfrm>
            <a:off x="4617720" y="3730752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B05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ideia vira decisão</a:t>
            </a:r>
            <a:endParaRPr lang="en-US" sz="1300" dirty="0"/>
          </a:p>
        </p:txBody>
      </p:sp>
      <p:sp>
        <p:nvSpPr>
          <p:cNvPr id="19" name="Text 15"/>
          <p:cNvSpPr txBox="1"/>
          <p:nvPr/>
        </p:nvSpPr>
        <p:spPr>
          <a:xfrm>
            <a:off x="4617720" y="4114800"/>
            <a:ext cx="29718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Praça de acesso como transição · pátios que ligam os setores · conexão com o Rio Poti · brises, vegetação, grandes coberturas e ventilação natural.</a:t>
            </a:r>
            <a:endParaRPr lang="en-US" sz="1300" dirty="0"/>
          </a:p>
        </p:txBody>
      </p:sp>
      <p:sp>
        <p:nvSpPr>
          <p:cNvPr id="20" name="Text 16"/>
          <p:cNvSpPr txBox="1"/>
          <p:nvPr/>
        </p:nvSpPr>
        <p:spPr>
          <a:xfrm>
            <a:off x="7818120" y="3474720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B05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800" dirty="0"/>
          </a:p>
        </p:txBody>
      </p:sp>
      <p:sp>
        <p:nvSpPr>
          <p:cNvPr id="21" name="Shape 17"/>
          <p:cNvSpPr/>
          <p:nvPr/>
        </p:nvSpPr>
        <p:spPr>
          <a:xfrm>
            <a:off x="8138160" y="2148840"/>
            <a:ext cx="3474720" cy="329184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9525">
            <a:solidFill>
              <a:srgbClr val="DDD6C6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3000"/>
              </a:srgbClr>
            </a:outerShdw>
          </a:effectLst>
        </p:spPr>
      </p:sp>
      <p:sp>
        <p:nvSpPr>
          <p:cNvPr id="22" name="Shape 18"/>
          <p:cNvSpPr/>
          <p:nvPr/>
        </p:nvSpPr>
        <p:spPr>
          <a:xfrm>
            <a:off x="8412480" y="2377440"/>
            <a:ext cx="868680" cy="868680"/>
          </a:xfrm>
          <a:prstGeom prst="ellipse">
            <a:avLst/>
          </a:prstGeom>
          <a:solidFill>
            <a:srgbClr val="1F2A44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2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31936" y="2596896"/>
            <a:ext cx="429768" cy="429768"/>
          </a:xfrm>
          <a:prstGeom prst="rect">
            <a:avLst/>
          </a:prstGeom>
        </p:spPr>
      </p:pic>
      <p:sp>
        <p:nvSpPr>
          <p:cNvPr id="24" name="Text 19"/>
          <p:cNvSpPr txBox="1"/>
          <p:nvPr/>
        </p:nvSpPr>
        <p:spPr>
          <a:xfrm>
            <a:off x="10515600" y="2331720"/>
            <a:ext cx="914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4000" b="1" i="1" dirty="0">
                <a:solidFill>
                  <a:srgbClr val="E9CD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4000" dirty="0"/>
          </a:p>
        </p:txBody>
      </p:sp>
      <p:sp>
        <p:nvSpPr>
          <p:cNvPr id="25" name="Text 20"/>
          <p:cNvSpPr txBox="1"/>
          <p:nvPr/>
        </p:nvSpPr>
        <p:spPr>
          <a:xfrm>
            <a:off x="8412480" y="338328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DIMENSIONAMENTO PRÉVIO</a:t>
            </a:r>
            <a:endParaRPr lang="en-US" sz="1500" dirty="0"/>
          </a:p>
        </p:txBody>
      </p:sp>
      <p:sp>
        <p:nvSpPr>
          <p:cNvPr id="26" name="Text 21"/>
          <p:cNvSpPr txBox="1"/>
          <p:nvPr/>
        </p:nvSpPr>
        <p:spPr>
          <a:xfrm>
            <a:off x="8412480" y="3730752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B05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cabe no terreno?</a:t>
            </a:r>
            <a:endParaRPr lang="en-US" sz="1300" dirty="0"/>
          </a:p>
        </p:txBody>
      </p:sp>
      <p:sp>
        <p:nvSpPr>
          <p:cNvPr id="27" name="Text 22"/>
          <p:cNvSpPr txBox="1"/>
          <p:nvPr/>
        </p:nvSpPr>
        <p:spPr>
          <a:xfrm>
            <a:off x="8412480" y="4114800"/>
            <a:ext cx="29718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3.376 m² edificados, bem abaixo dos 88.572 m² permitidos · 1.800 m² de paisagismo, acima dos 1.107 m² exigidos.</a:t>
            </a:r>
            <a:endParaRPr lang="en-US" sz="1300" dirty="0"/>
          </a:p>
        </p:txBody>
      </p:sp>
      <p:sp>
        <p:nvSpPr>
          <p:cNvPr id="28" name="Shape 23"/>
          <p:cNvSpPr/>
          <p:nvPr/>
        </p:nvSpPr>
        <p:spPr>
          <a:xfrm>
            <a:off x="548640" y="5669280"/>
            <a:ext cx="11064240" cy="438912"/>
          </a:xfrm>
          <a:prstGeom prst="roundRect">
            <a:avLst>
              <a:gd name="adj" fmla="val 50000"/>
            </a:avLst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sp>
        <p:nvSpPr>
          <p:cNvPr id="29" name="Text 24"/>
          <p:cNvSpPr txBox="1"/>
          <p:nvPr/>
        </p:nvSpPr>
        <p:spPr>
          <a:xfrm>
            <a:off x="822960" y="5669280"/>
            <a:ext cx="10515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E9CD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BASTÃO PASSADO  ▸ 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conceito + partido + números conferidos. O desenho vem no próximo slide</a:t>
            </a:r>
            <a:endParaRPr lang="en-US" sz="1200" dirty="0"/>
          </a:p>
        </p:txBody>
      </p:sp>
      <p:sp>
        <p:nvSpPr>
          <p:cNvPr id="30" name="Shape 25"/>
          <p:cNvSpPr/>
          <p:nvPr/>
        </p:nvSpPr>
        <p:spPr>
          <a:xfrm>
            <a:off x="0" y="6263640"/>
            <a:ext cx="12191695" cy="594360"/>
          </a:xfrm>
          <a:prstGeom prst="rect">
            <a:avLst/>
          </a:prstGeom>
          <a:solidFill>
            <a:srgbClr val="B85A40"/>
          </a:solidFill>
          <a:ln w="12700">
            <a:solidFill>
              <a:srgbClr val="B85A40"/>
            </a:solidFill>
            <a:prstDash val="solid"/>
          </a:ln>
        </p:spPr>
      </p:sp>
      <p:sp>
        <p:nvSpPr>
          <p:cNvPr id="31" name="Shape 26"/>
          <p:cNvSpPr/>
          <p:nvPr/>
        </p:nvSpPr>
        <p:spPr>
          <a:xfrm>
            <a:off x="548640" y="6382512"/>
            <a:ext cx="365760" cy="365760"/>
          </a:xfrm>
          <a:prstGeom prst="ellipse">
            <a:avLst/>
          </a:prstGeom>
          <a:solidFill>
            <a:srgbClr val="E9CDB8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2" name="Text 27"/>
          <p:cNvSpPr txBox="1"/>
          <p:nvPr/>
        </p:nvSpPr>
        <p:spPr>
          <a:xfrm>
            <a:off x="548640" y="638251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33" name="Text 28"/>
          <p:cNvSpPr txBox="1"/>
          <p:nvPr/>
        </p:nvSpPr>
        <p:spPr>
          <a:xfrm>
            <a:off x="1005840" y="6382512"/>
            <a:ext cx="22249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LV  ·  Onde estou?</a:t>
            </a:r>
            <a:endParaRPr lang="en-US" sz="1200" dirty="0"/>
          </a:p>
        </p:txBody>
      </p:sp>
      <p:sp>
        <p:nvSpPr>
          <p:cNvPr id="34" name="Shape 29"/>
          <p:cNvSpPr/>
          <p:nvPr/>
        </p:nvSpPr>
        <p:spPr>
          <a:xfrm>
            <a:off x="3322244" y="6382512"/>
            <a:ext cx="365760" cy="365760"/>
          </a:xfrm>
          <a:prstGeom prst="ellipse">
            <a:avLst/>
          </a:prstGeom>
          <a:solidFill>
            <a:srgbClr val="E9CDB8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5" name="Text 30"/>
          <p:cNvSpPr txBox="1"/>
          <p:nvPr/>
        </p:nvSpPr>
        <p:spPr>
          <a:xfrm>
            <a:off x="3322244" y="638251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36" name="Text 31"/>
          <p:cNvSpPr txBox="1"/>
          <p:nvPr/>
        </p:nvSpPr>
        <p:spPr>
          <a:xfrm>
            <a:off x="3779444" y="6382512"/>
            <a:ext cx="22249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PN  ·  O que preciso?</a:t>
            </a:r>
            <a:endParaRPr lang="en-US" sz="1200" dirty="0"/>
          </a:p>
        </p:txBody>
      </p:sp>
      <p:sp>
        <p:nvSpPr>
          <p:cNvPr id="37" name="Shape 32"/>
          <p:cNvSpPr/>
          <p:nvPr/>
        </p:nvSpPr>
        <p:spPr>
          <a:xfrm>
            <a:off x="6095848" y="6382512"/>
            <a:ext cx="365760" cy="365760"/>
          </a:xfrm>
          <a:prstGeom prst="ellipse">
            <a:avLst/>
          </a:prstGeom>
          <a:solidFill>
            <a:srgbClr val="1F2A44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8" name="Text 33"/>
          <p:cNvSpPr txBox="1"/>
          <p:nvPr/>
        </p:nvSpPr>
        <p:spPr>
          <a:xfrm>
            <a:off x="6095848" y="638251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39" name="Text 34"/>
          <p:cNvSpPr txBox="1"/>
          <p:nvPr/>
        </p:nvSpPr>
        <p:spPr>
          <a:xfrm>
            <a:off x="6553048" y="6382512"/>
            <a:ext cx="22249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  ·  Qual é a ideia?</a:t>
            </a:r>
            <a:endParaRPr lang="en-US" sz="1200" dirty="0"/>
          </a:p>
        </p:txBody>
      </p:sp>
      <p:sp>
        <p:nvSpPr>
          <p:cNvPr id="40" name="Shape 35"/>
          <p:cNvSpPr/>
          <p:nvPr/>
        </p:nvSpPr>
        <p:spPr>
          <a:xfrm>
            <a:off x="8869451" y="6382512"/>
            <a:ext cx="365760" cy="365760"/>
          </a:xfrm>
          <a:prstGeom prst="ellipse">
            <a:avLst/>
          </a:prstGeom>
          <a:solidFill>
            <a:srgbClr val="B85A40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41" name="Text 36"/>
          <p:cNvSpPr txBox="1"/>
          <p:nvPr/>
        </p:nvSpPr>
        <p:spPr>
          <a:xfrm>
            <a:off x="8869451" y="638251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200" dirty="0"/>
          </a:p>
        </p:txBody>
      </p:sp>
      <p:sp>
        <p:nvSpPr>
          <p:cNvPr id="42" name="Text 37"/>
          <p:cNvSpPr txBox="1"/>
          <p:nvPr/>
        </p:nvSpPr>
        <p:spPr>
          <a:xfrm>
            <a:off x="9326651" y="6382512"/>
            <a:ext cx="22249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>
                    <a:alpha val="7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  ·  Como fica de verdade?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BF9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B057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3ª PERNA  ·  EP-ARQ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8778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i="1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IDEIA NO PAPEL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4206240" cy="3246120"/>
          </a:xfrm>
          <a:prstGeom prst="roundRect">
            <a:avLst>
              <a:gd name="adj" fmla="val 3380"/>
            </a:avLst>
          </a:prstGeom>
          <a:solidFill>
            <a:srgbClr val="FFFFFF"/>
          </a:solidFill>
          <a:ln w="9525">
            <a:solidFill>
              <a:srgbClr val="DDD6C6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3000"/>
              </a:srgbClr>
            </a:outerShdw>
          </a:effectLst>
        </p:spPr>
      </p:sp>
      <p:pic>
        <p:nvPicPr>
          <p:cNvPr id="5" name="Image 0" descr="Fluxograma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85800" y="1783080"/>
            <a:ext cx="3931920" cy="297180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48640" y="4983480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Fluxograma  </a:t>
            </a:r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praça central é o “coração”: todos os setores passam por ela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4983480" y="1554480"/>
            <a:ext cx="6766560" cy="3360975"/>
          </a:xfrm>
          <a:prstGeom prst="roundRect">
            <a:avLst>
              <a:gd name="adj" fmla="val 2721"/>
            </a:avLst>
          </a:prstGeom>
          <a:solidFill>
            <a:srgbClr val="F3E6DC"/>
          </a:solidFill>
          <a:ln w="12700">
            <a:solidFill>
              <a:srgbClr val="DDD6C6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3000"/>
              </a:srgbClr>
            </a:outerShdw>
          </a:effectLst>
        </p:spPr>
      </p:sp>
      <p:pic>
        <p:nvPicPr>
          <p:cNvPr id="8" name="Image 1" descr="Croqui de implantação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74920" y="1645920"/>
            <a:ext cx="6583680" cy="3178095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6104534" y="3111301"/>
            <a:ext cx="310896" cy="310896"/>
          </a:xfrm>
          <a:prstGeom prst="ellipse">
            <a:avLst/>
          </a:prstGeom>
          <a:solidFill>
            <a:srgbClr val="B0573F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6104534" y="3111301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6697066" y="2666367"/>
            <a:ext cx="310896" cy="310896"/>
          </a:xfrm>
          <a:prstGeom prst="ellipse">
            <a:avLst/>
          </a:prstGeom>
          <a:solidFill>
            <a:srgbClr val="B0573F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6697066" y="2666367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6762902" y="3079520"/>
            <a:ext cx="310896" cy="310896"/>
          </a:xfrm>
          <a:prstGeom prst="ellipse">
            <a:avLst/>
          </a:prstGeom>
          <a:solidFill>
            <a:srgbClr val="B0573F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4" name="Text 10"/>
          <p:cNvSpPr txBox="1"/>
          <p:nvPr/>
        </p:nvSpPr>
        <p:spPr>
          <a:xfrm>
            <a:off x="6762902" y="307952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7421270" y="2666367"/>
            <a:ext cx="310896" cy="310896"/>
          </a:xfrm>
          <a:prstGeom prst="ellipse">
            <a:avLst/>
          </a:prstGeom>
          <a:solidFill>
            <a:srgbClr val="B0573F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6" name="Text 12"/>
          <p:cNvSpPr txBox="1"/>
          <p:nvPr/>
        </p:nvSpPr>
        <p:spPr>
          <a:xfrm>
            <a:off x="7421270" y="2666367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100" dirty="0"/>
          </a:p>
        </p:txBody>
      </p:sp>
      <p:sp>
        <p:nvSpPr>
          <p:cNvPr id="17" name="Shape 13"/>
          <p:cNvSpPr/>
          <p:nvPr/>
        </p:nvSpPr>
        <p:spPr>
          <a:xfrm>
            <a:off x="8079638" y="2666367"/>
            <a:ext cx="310896" cy="310896"/>
          </a:xfrm>
          <a:prstGeom prst="ellipse">
            <a:avLst/>
          </a:prstGeom>
          <a:solidFill>
            <a:srgbClr val="B0573F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8" name="Text 14"/>
          <p:cNvSpPr txBox="1"/>
          <p:nvPr/>
        </p:nvSpPr>
        <p:spPr>
          <a:xfrm>
            <a:off x="8079638" y="2666367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100" dirty="0"/>
          </a:p>
        </p:txBody>
      </p:sp>
      <p:sp>
        <p:nvSpPr>
          <p:cNvPr id="19" name="Shape 15"/>
          <p:cNvSpPr/>
          <p:nvPr/>
        </p:nvSpPr>
        <p:spPr>
          <a:xfrm>
            <a:off x="8672170" y="2602805"/>
            <a:ext cx="310896" cy="310896"/>
          </a:xfrm>
          <a:prstGeom prst="ellipse">
            <a:avLst/>
          </a:prstGeom>
          <a:solidFill>
            <a:srgbClr val="B0573F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0" name="Text 16"/>
          <p:cNvSpPr txBox="1"/>
          <p:nvPr/>
        </p:nvSpPr>
        <p:spPr>
          <a:xfrm>
            <a:off x="8672170" y="2602805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100" dirty="0"/>
          </a:p>
        </p:txBody>
      </p:sp>
      <p:sp>
        <p:nvSpPr>
          <p:cNvPr id="21" name="Shape 17"/>
          <p:cNvSpPr/>
          <p:nvPr/>
        </p:nvSpPr>
        <p:spPr>
          <a:xfrm>
            <a:off x="7882128" y="3174862"/>
            <a:ext cx="310896" cy="310896"/>
          </a:xfrm>
          <a:prstGeom prst="ellipse">
            <a:avLst/>
          </a:prstGeom>
          <a:solidFill>
            <a:srgbClr val="B0573F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2" name="Text 18"/>
          <p:cNvSpPr txBox="1"/>
          <p:nvPr/>
        </p:nvSpPr>
        <p:spPr>
          <a:xfrm>
            <a:off x="7882128" y="317486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100" dirty="0"/>
          </a:p>
        </p:txBody>
      </p:sp>
      <p:sp>
        <p:nvSpPr>
          <p:cNvPr id="23" name="Shape 19"/>
          <p:cNvSpPr/>
          <p:nvPr/>
        </p:nvSpPr>
        <p:spPr>
          <a:xfrm>
            <a:off x="9725558" y="2634586"/>
            <a:ext cx="310896" cy="310896"/>
          </a:xfrm>
          <a:prstGeom prst="ellipse">
            <a:avLst/>
          </a:prstGeom>
          <a:solidFill>
            <a:srgbClr val="B0573F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4" name="Text 20"/>
          <p:cNvSpPr txBox="1"/>
          <p:nvPr/>
        </p:nvSpPr>
        <p:spPr>
          <a:xfrm>
            <a:off x="9725558" y="263458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100" dirty="0"/>
          </a:p>
        </p:txBody>
      </p:sp>
      <p:sp>
        <p:nvSpPr>
          <p:cNvPr id="25" name="Shape 21"/>
          <p:cNvSpPr/>
          <p:nvPr/>
        </p:nvSpPr>
        <p:spPr>
          <a:xfrm>
            <a:off x="8935517" y="3238424"/>
            <a:ext cx="310896" cy="310896"/>
          </a:xfrm>
          <a:prstGeom prst="ellipse">
            <a:avLst/>
          </a:prstGeom>
          <a:solidFill>
            <a:srgbClr val="B0573F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6" name="Text 22"/>
          <p:cNvSpPr txBox="1"/>
          <p:nvPr/>
        </p:nvSpPr>
        <p:spPr>
          <a:xfrm>
            <a:off x="8935517" y="323842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1100" dirty="0"/>
          </a:p>
        </p:txBody>
      </p:sp>
      <p:sp>
        <p:nvSpPr>
          <p:cNvPr id="27" name="Text 23"/>
          <p:cNvSpPr txBox="1"/>
          <p:nvPr/>
        </p:nvSpPr>
        <p:spPr>
          <a:xfrm>
            <a:off x="5074920" y="4961175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05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 </a:t>
            </a:r>
            <a:pPr indent="0" marL="0">
              <a:buNone/>
            </a:pPr>
            <a:r>
              <a:rPr lang="en-US" sz="11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Praça de acesso</a:t>
            </a:r>
            <a:endParaRPr lang="en-US" sz="1100" dirty="0"/>
          </a:p>
        </p:txBody>
      </p:sp>
      <p:sp>
        <p:nvSpPr>
          <p:cNvPr id="28" name="Text 24"/>
          <p:cNvSpPr txBox="1"/>
          <p:nvPr/>
        </p:nvSpPr>
        <p:spPr>
          <a:xfrm>
            <a:off x="7269480" y="4961175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05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 </a:t>
            </a:r>
            <a:pPr indent="0" marL="0">
              <a:buNone/>
            </a:pPr>
            <a:r>
              <a:rPr lang="en-US" sz="11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Cultural (2 pisos)</a:t>
            </a:r>
            <a:endParaRPr lang="en-US" sz="1100" dirty="0"/>
          </a:p>
        </p:txBody>
      </p:sp>
      <p:sp>
        <p:nvSpPr>
          <p:cNvPr id="29" name="Text 25"/>
          <p:cNvSpPr txBox="1"/>
          <p:nvPr/>
        </p:nvSpPr>
        <p:spPr>
          <a:xfrm>
            <a:off x="9464040" y="4961175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05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 </a:t>
            </a:r>
            <a:pPr indent="0" marL="0">
              <a:buNone/>
            </a:pPr>
            <a:r>
              <a:rPr lang="en-US" sz="11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Atendimento + adm</a:t>
            </a:r>
            <a:endParaRPr lang="en-US" sz="1100" dirty="0"/>
          </a:p>
        </p:txBody>
      </p:sp>
      <p:sp>
        <p:nvSpPr>
          <p:cNvPr id="30" name="Text 26"/>
          <p:cNvSpPr txBox="1"/>
          <p:nvPr/>
        </p:nvSpPr>
        <p:spPr>
          <a:xfrm>
            <a:off x="5074920" y="5235495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05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 </a:t>
            </a:r>
            <a:pPr indent="0" marL="0">
              <a:buNone/>
            </a:pPr>
            <a:r>
              <a:rPr lang="en-US" sz="11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Piscina</a:t>
            </a:r>
            <a:endParaRPr lang="en-US" sz="1100" dirty="0"/>
          </a:p>
        </p:txBody>
      </p:sp>
      <p:sp>
        <p:nvSpPr>
          <p:cNvPr id="31" name="Text 27"/>
          <p:cNvSpPr txBox="1"/>
          <p:nvPr/>
        </p:nvSpPr>
        <p:spPr>
          <a:xfrm>
            <a:off x="7269480" y="5235495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05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 </a:t>
            </a:r>
            <a:pPr indent="0" marL="0">
              <a:buNone/>
            </a:pPr>
            <a:r>
              <a:rPr lang="en-US" sz="11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Apoio esportivo</a:t>
            </a:r>
            <a:endParaRPr lang="en-US" sz="1100" dirty="0"/>
          </a:p>
        </p:txBody>
      </p:sp>
      <p:sp>
        <p:nvSpPr>
          <p:cNvPr id="32" name="Text 28"/>
          <p:cNvSpPr txBox="1"/>
          <p:nvPr/>
        </p:nvSpPr>
        <p:spPr>
          <a:xfrm>
            <a:off x="9464040" y="5235495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05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 </a:t>
            </a:r>
            <a:pPr indent="0" marL="0">
              <a:buNone/>
            </a:pPr>
            <a:r>
              <a:rPr lang="en-US" sz="11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Quadra poliesportiva</a:t>
            </a:r>
            <a:endParaRPr lang="en-US" sz="1100" dirty="0"/>
          </a:p>
        </p:txBody>
      </p:sp>
      <p:sp>
        <p:nvSpPr>
          <p:cNvPr id="33" name="Text 29"/>
          <p:cNvSpPr txBox="1"/>
          <p:nvPr/>
        </p:nvSpPr>
        <p:spPr>
          <a:xfrm>
            <a:off x="5074920" y="5509815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05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 </a:t>
            </a:r>
            <a:pPr indent="0" marL="0">
              <a:buNone/>
            </a:pPr>
            <a:r>
              <a:rPr lang="en-US" sz="11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Comedoria</a:t>
            </a:r>
            <a:endParaRPr lang="en-US" sz="1100" dirty="0"/>
          </a:p>
        </p:txBody>
      </p:sp>
      <p:sp>
        <p:nvSpPr>
          <p:cNvPr id="34" name="Text 30"/>
          <p:cNvSpPr txBox="1"/>
          <p:nvPr/>
        </p:nvSpPr>
        <p:spPr>
          <a:xfrm>
            <a:off x="7269480" y="5509815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05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 </a:t>
            </a:r>
            <a:pPr indent="0" marL="0">
              <a:buNone/>
            </a:pPr>
            <a:r>
              <a:rPr lang="en-US" sz="11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Campo society</a:t>
            </a:r>
            <a:endParaRPr lang="en-US" sz="1100" dirty="0"/>
          </a:p>
        </p:txBody>
      </p:sp>
      <p:sp>
        <p:nvSpPr>
          <p:cNvPr id="35" name="Text 31"/>
          <p:cNvSpPr txBox="1"/>
          <p:nvPr/>
        </p:nvSpPr>
        <p:spPr>
          <a:xfrm>
            <a:off x="9464040" y="5509815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05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 </a:t>
            </a:r>
            <a:pPr indent="0" marL="0">
              <a:buNone/>
            </a:pPr>
            <a:r>
              <a:rPr lang="en-US" sz="11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Quadra de tênis</a:t>
            </a:r>
            <a:endParaRPr lang="en-US" sz="1100" dirty="0"/>
          </a:p>
        </p:txBody>
      </p:sp>
      <p:sp>
        <p:nvSpPr>
          <p:cNvPr id="36" name="Text 32"/>
          <p:cNvSpPr txBox="1"/>
          <p:nvPr/>
        </p:nvSpPr>
        <p:spPr>
          <a:xfrm>
            <a:off x="548640" y="557784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━  </a:t>
            </a:r>
            <a:pPr indent="0" marL="0">
              <a:buNone/>
            </a:pPr>
            <a:r>
              <a:rPr lang="en-US" sz="11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linha vermelha: pista de corrida contornando o conjunto</a:t>
            </a:r>
            <a:endParaRPr lang="en-US" sz="1100" dirty="0"/>
          </a:p>
        </p:txBody>
      </p:sp>
      <p:sp>
        <p:nvSpPr>
          <p:cNvPr id="37" name="Shape 33"/>
          <p:cNvSpPr/>
          <p:nvPr/>
        </p:nvSpPr>
        <p:spPr>
          <a:xfrm>
            <a:off x="5184648" y="1755648"/>
            <a:ext cx="3657600" cy="329184"/>
          </a:xfrm>
          <a:prstGeom prst="roundRect">
            <a:avLst>
              <a:gd name="adj" fmla="val 50000"/>
            </a:avLst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sp>
        <p:nvSpPr>
          <p:cNvPr id="38" name="Text 34"/>
          <p:cNvSpPr txBox="1"/>
          <p:nvPr/>
        </p:nvSpPr>
        <p:spPr>
          <a:xfrm>
            <a:off x="5184648" y="1755648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PLANO DE MASSAS  ·  item 3.87 da norma</a:t>
            </a:r>
            <a:endParaRPr lang="en-US" sz="1000" dirty="0"/>
          </a:p>
        </p:txBody>
      </p:sp>
      <p:sp>
        <p:nvSpPr>
          <p:cNvPr id="39" name="Shape 35"/>
          <p:cNvSpPr/>
          <p:nvPr/>
        </p:nvSpPr>
        <p:spPr>
          <a:xfrm>
            <a:off x="0" y="6263640"/>
            <a:ext cx="12191695" cy="594360"/>
          </a:xfrm>
          <a:prstGeom prst="rect">
            <a:avLst/>
          </a:prstGeom>
          <a:solidFill>
            <a:srgbClr val="B85A40"/>
          </a:solidFill>
          <a:ln w="12700">
            <a:solidFill>
              <a:srgbClr val="B85A40"/>
            </a:solidFill>
            <a:prstDash val="solid"/>
          </a:ln>
        </p:spPr>
      </p:sp>
      <p:sp>
        <p:nvSpPr>
          <p:cNvPr id="40" name="Shape 36"/>
          <p:cNvSpPr/>
          <p:nvPr/>
        </p:nvSpPr>
        <p:spPr>
          <a:xfrm>
            <a:off x="548640" y="6382512"/>
            <a:ext cx="365760" cy="365760"/>
          </a:xfrm>
          <a:prstGeom prst="ellipse">
            <a:avLst/>
          </a:prstGeom>
          <a:solidFill>
            <a:srgbClr val="E9CDB8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41" name="Text 37"/>
          <p:cNvSpPr txBox="1"/>
          <p:nvPr/>
        </p:nvSpPr>
        <p:spPr>
          <a:xfrm>
            <a:off x="548640" y="638251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42" name="Text 38"/>
          <p:cNvSpPr txBox="1"/>
          <p:nvPr/>
        </p:nvSpPr>
        <p:spPr>
          <a:xfrm>
            <a:off x="1005840" y="6382512"/>
            <a:ext cx="22249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LV  ·  Onde estou?</a:t>
            </a:r>
            <a:endParaRPr lang="en-US" sz="1200" dirty="0"/>
          </a:p>
        </p:txBody>
      </p:sp>
      <p:sp>
        <p:nvSpPr>
          <p:cNvPr id="43" name="Shape 39"/>
          <p:cNvSpPr/>
          <p:nvPr/>
        </p:nvSpPr>
        <p:spPr>
          <a:xfrm>
            <a:off x="3322244" y="6382512"/>
            <a:ext cx="365760" cy="365760"/>
          </a:xfrm>
          <a:prstGeom prst="ellipse">
            <a:avLst/>
          </a:prstGeom>
          <a:solidFill>
            <a:srgbClr val="E9CDB8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44" name="Text 40"/>
          <p:cNvSpPr txBox="1"/>
          <p:nvPr/>
        </p:nvSpPr>
        <p:spPr>
          <a:xfrm>
            <a:off x="3322244" y="638251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45" name="Text 41"/>
          <p:cNvSpPr txBox="1"/>
          <p:nvPr/>
        </p:nvSpPr>
        <p:spPr>
          <a:xfrm>
            <a:off x="3779444" y="6382512"/>
            <a:ext cx="22249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PN  ·  O que preciso?</a:t>
            </a:r>
            <a:endParaRPr lang="en-US" sz="1200" dirty="0"/>
          </a:p>
        </p:txBody>
      </p:sp>
      <p:sp>
        <p:nvSpPr>
          <p:cNvPr id="46" name="Shape 42"/>
          <p:cNvSpPr/>
          <p:nvPr/>
        </p:nvSpPr>
        <p:spPr>
          <a:xfrm>
            <a:off x="6095848" y="6382512"/>
            <a:ext cx="365760" cy="365760"/>
          </a:xfrm>
          <a:prstGeom prst="ellipse">
            <a:avLst/>
          </a:prstGeom>
          <a:solidFill>
            <a:srgbClr val="1F2A44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47" name="Text 43"/>
          <p:cNvSpPr txBox="1"/>
          <p:nvPr/>
        </p:nvSpPr>
        <p:spPr>
          <a:xfrm>
            <a:off x="6095848" y="638251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48" name="Text 44"/>
          <p:cNvSpPr txBox="1"/>
          <p:nvPr/>
        </p:nvSpPr>
        <p:spPr>
          <a:xfrm>
            <a:off x="6553048" y="6382512"/>
            <a:ext cx="22249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  ·  Qual é a ideia?</a:t>
            </a:r>
            <a:endParaRPr lang="en-US" sz="1200" dirty="0"/>
          </a:p>
        </p:txBody>
      </p:sp>
      <p:sp>
        <p:nvSpPr>
          <p:cNvPr id="49" name="Shape 45"/>
          <p:cNvSpPr/>
          <p:nvPr/>
        </p:nvSpPr>
        <p:spPr>
          <a:xfrm>
            <a:off x="8869451" y="6382512"/>
            <a:ext cx="365760" cy="365760"/>
          </a:xfrm>
          <a:prstGeom prst="ellipse">
            <a:avLst/>
          </a:prstGeom>
          <a:solidFill>
            <a:srgbClr val="B85A40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0" name="Text 46"/>
          <p:cNvSpPr txBox="1"/>
          <p:nvPr/>
        </p:nvSpPr>
        <p:spPr>
          <a:xfrm>
            <a:off x="8869451" y="638251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200" dirty="0"/>
          </a:p>
        </p:txBody>
      </p:sp>
      <p:sp>
        <p:nvSpPr>
          <p:cNvPr id="51" name="Text 47"/>
          <p:cNvSpPr txBox="1"/>
          <p:nvPr/>
        </p:nvSpPr>
        <p:spPr>
          <a:xfrm>
            <a:off x="9326651" y="6382512"/>
            <a:ext cx="22249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>
                    <a:alpha val="7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  ·  Como fica de verdade?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BF9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B057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4ª PERNA  ·  AP-ARQ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8778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i="1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COMO FICA DE VERDADE?</a:t>
            </a:r>
            <a:endParaRPr lang="en-US" sz="3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572768"/>
            <a:ext cx="8503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 norma (item 3.4): concepção e representação das informações técnicas iniciais de detalhamento. É a próxima etapa do TCC:</a:t>
            </a:r>
            <a:endParaRPr lang="en-US" sz="1600" dirty="0"/>
          </a:p>
        </p:txBody>
      </p:sp>
      <p:pic>
        <p:nvPicPr>
          <p:cNvPr id="5" name="Image 0" descr="Goleira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26880" y="320040"/>
            <a:ext cx="2377440" cy="1612317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48640" y="214884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E6A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ESTUDO PRELIMINAR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6492240" y="214884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057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ANTEPROJETO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548640" y="2560320"/>
            <a:ext cx="5120640" cy="548640"/>
          </a:xfrm>
          <a:prstGeom prst="roundRect">
            <a:avLst>
              <a:gd name="adj" fmla="val 16667"/>
            </a:avLst>
          </a:prstGeom>
          <a:solidFill>
            <a:srgbClr val="EFEBE0"/>
          </a:solidFill>
          <a:ln w="12700">
            <a:solidFill>
              <a:srgbClr val="EFEBE0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731520" y="2560320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E6A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Volumes esboçados no croqui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5715000" y="2560320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B05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➜</a:t>
            </a:r>
            <a:endParaRPr lang="en-US" sz="2000" dirty="0"/>
          </a:p>
        </p:txBody>
      </p:sp>
      <p:sp>
        <p:nvSpPr>
          <p:cNvPr id="11" name="Shape 8"/>
          <p:cNvSpPr/>
          <p:nvPr/>
        </p:nvSpPr>
        <p:spPr>
          <a:xfrm>
            <a:off x="6492240" y="2560320"/>
            <a:ext cx="5166360" cy="5486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DD6C6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3000"/>
              </a:srgbClr>
            </a:outerShdw>
          </a:effectLst>
        </p:spPr>
      </p:sp>
      <p:sp>
        <p:nvSpPr>
          <p:cNvPr id="12" name="Text 9"/>
          <p:cNvSpPr txBox="1"/>
          <p:nvPr/>
        </p:nvSpPr>
        <p:spPr>
          <a:xfrm>
            <a:off x="6675120" y="2560320"/>
            <a:ext cx="4892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Volumetria definida: alturas, cobertura, fachadas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548640" y="3218688"/>
            <a:ext cx="5120640" cy="548640"/>
          </a:xfrm>
          <a:prstGeom prst="roundRect">
            <a:avLst>
              <a:gd name="adj" fmla="val 16667"/>
            </a:avLst>
          </a:prstGeom>
          <a:solidFill>
            <a:srgbClr val="EFEBE0"/>
          </a:solidFill>
          <a:ln w="12700">
            <a:solidFill>
              <a:srgbClr val="EFEBE0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731520" y="3218688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E6A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Setores ligados no fluxograma</a:t>
            </a:r>
            <a:endParaRPr lang="en-US" sz="1400" dirty="0"/>
          </a:p>
        </p:txBody>
      </p:sp>
      <p:sp>
        <p:nvSpPr>
          <p:cNvPr id="15" name="Text 12"/>
          <p:cNvSpPr txBox="1"/>
          <p:nvPr/>
        </p:nvSpPr>
        <p:spPr>
          <a:xfrm>
            <a:off x="5715000" y="3218688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B05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➜</a:t>
            </a:r>
            <a:endParaRPr lang="en-US" sz="2000" dirty="0"/>
          </a:p>
        </p:txBody>
      </p:sp>
      <p:sp>
        <p:nvSpPr>
          <p:cNvPr id="16" name="Shape 13"/>
          <p:cNvSpPr/>
          <p:nvPr/>
        </p:nvSpPr>
        <p:spPr>
          <a:xfrm>
            <a:off x="6492240" y="3218688"/>
            <a:ext cx="5166360" cy="5486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DD6C6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3000"/>
              </a:srgbClr>
            </a:outerShdw>
          </a:effectLst>
        </p:spPr>
      </p:sp>
      <p:sp>
        <p:nvSpPr>
          <p:cNvPr id="17" name="Text 14"/>
          <p:cNvSpPr txBox="1"/>
          <p:nvPr/>
        </p:nvSpPr>
        <p:spPr>
          <a:xfrm>
            <a:off x="6675120" y="3218688"/>
            <a:ext cx="4892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Solução funcional final, com rotas acessíveis (NBR 9050)</a:t>
            </a:r>
            <a:endParaRPr lang="en-US" sz="1400" dirty="0"/>
          </a:p>
        </p:txBody>
      </p:sp>
      <p:sp>
        <p:nvSpPr>
          <p:cNvPr id="18" name="Shape 15"/>
          <p:cNvSpPr/>
          <p:nvPr/>
        </p:nvSpPr>
        <p:spPr>
          <a:xfrm>
            <a:off x="548640" y="3877056"/>
            <a:ext cx="5120640" cy="548640"/>
          </a:xfrm>
          <a:prstGeom prst="roundRect">
            <a:avLst>
              <a:gd name="adj" fmla="val 16667"/>
            </a:avLst>
          </a:prstGeom>
          <a:solidFill>
            <a:srgbClr val="EFEBE0"/>
          </a:solidFill>
          <a:ln w="12700">
            <a:solidFill>
              <a:srgbClr val="EFEBE0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731520" y="3877056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E6A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Áreas estimadas do programa</a:t>
            </a:r>
            <a:endParaRPr lang="en-US" sz="1400" dirty="0"/>
          </a:p>
        </p:txBody>
      </p:sp>
      <p:sp>
        <p:nvSpPr>
          <p:cNvPr id="20" name="Text 17"/>
          <p:cNvSpPr txBox="1"/>
          <p:nvPr/>
        </p:nvSpPr>
        <p:spPr>
          <a:xfrm>
            <a:off x="5715000" y="3877056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B05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➜</a:t>
            </a:r>
            <a:endParaRPr lang="en-US" sz="2000" dirty="0"/>
          </a:p>
        </p:txBody>
      </p:sp>
      <p:sp>
        <p:nvSpPr>
          <p:cNvPr id="21" name="Shape 18"/>
          <p:cNvSpPr/>
          <p:nvPr/>
        </p:nvSpPr>
        <p:spPr>
          <a:xfrm>
            <a:off x="6492240" y="3877056"/>
            <a:ext cx="5166360" cy="5486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DD6C6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3000"/>
              </a:srgbClr>
            </a:outerShdw>
          </a:effectLst>
        </p:spPr>
      </p:sp>
      <p:sp>
        <p:nvSpPr>
          <p:cNvPr id="22" name="Text 19"/>
          <p:cNvSpPr txBox="1"/>
          <p:nvPr/>
        </p:nvSpPr>
        <p:spPr>
          <a:xfrm>
            <a:off x="6675120" y="3877056"/>
            <a:ext cx="4892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Plantas, cortes e elevações cotados, em escala</a:t>
            </a:r>
            <a:endParaRPr lang="en-US" sz="1400" dirty="0"/>
          </a:p>
        </p:txBody>
      </p:sp>
      <p:sp>
        <p:nvSpPr>
          <p:cNvPr id="23" name="Shape 20"/>
          <p:cNvSpPr/>
          <p:nvPr/>
        </p:nvSpPr>
        <p:spPr>
          <a:xfrm>
            <a:off x="548640" y="4535424"/>
            <a:ext cx="5120640" cy="548640"/>
          </a:xfrm>
          <a:prstGeom prst="roundRect">
            <a:avLst>
              <a:gd name="adj" fmla="val 16667"/>
            </a:avLst>
          </a:prstGeom>
          <a:solidFill>
            <a:srgbClr val="EFEBE0"/>
          </a:solidFill>
          <a:ln w="12700">
            <a:solidFill>
              <a:srgbClr val="EFEBE0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731520" y="4535424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E6A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Moodboard de referências</a:t>
            </a:r>
            <a:endParaRPr lang="en-US" sz="1400" dirty="0"/>
          </a:p>
        </p:txBody>
      </p:sp>
      <p:sp>
        <p:nvSpPr>
          <p:cNvPr id="25" name="Text 22"/>
          <p:cNvSpPr txBox="1"/>
          <p:nvPr/>
        </p:nvSpPr>
        <p:spPr>
          <a:xfrm>
            <a:off x="5715000" y="4535424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B05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➜</a:t>
            </a:r>
            <a:endParaRPr lang="en-US" sz="2000" dirty="0"/>
          </a:p>
        </p:txBody>
      </p:sp>
      <p:sp>
        <p:nvSpPr>
          <p:cNvPr id="26" name="Shape 23"/>
          <p:cNvSpPr/>
          <p:nvPr/>
        </p:nvSpPr>
        <p:spPr>
          <a:xfrm>
            <a:off x="6492240" y="4535424"/>
            <a:ext cx="5166360" cy="5486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DD6C6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3000"/>
              </a:srgbClr>
            </a:outerShdw>
          </a:effectLst>
        </p:spPr>
      </p:sp>
      <p:sp>
        <p:nvSpPr>
          <p:cNvPr id="27" name="Text 24"/>
          <p:cNvSpPr txBox="1"/>
          <p:nvPr/>
        </p:nvSpPr>
        <p:spPr>
          <a:xfrm>
            <a:off x="6675120" y="4535424"/>
            <a:ext cx="4892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Materiais especificados, com brises e cobogós posicionados</a:t>
            </a:r>
            <a:endParaRPr lang="en-US" sz="1400" dirty="0"/>
          </a:p>
        </p:txBody>
      </p:sp>
      <p:pic>
        <p:nvPicPr>
          <p:cNvPr id="28" name="Image 1" descr="Materiais do moodboar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5230368"/>
            <a:ext cx="5120640" cy="912520"/>
          </a:xfrm>
          <a:prstGeom prst="rect">
            <a:avLst/>
          </a:prstGeom>
        </p:spPr>
      </p:pic>
      <p:sp>
        <p:nvSpPr>
          <p:cNvPr id="29" name="Shape 25"/>
          <p:cNvSpPr/>
          <p:nvPr/>
        </p:nvSpPr>
        <p:spPr>
          <a:xfrm>
            <a:off x="6492240" y="5458968"/>
            <a:ext cx="5166360" cy="438912"/>
          </a:xfrm>
          <a:prstGeom prst="roundRect">
            <a:avLst>
              <a:gd name="adj" fmla="val 50000"/>
            </a:avLst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sp>
        <p:nvSpPr>
          <p:cNvPr id="30" name="Text 26"/>
          <p:cNvSpPr txBox="1"/>
          <p:nvPr/>
        </p:nvSpPr>
        <p:spPr>
          <a:xfrm>
            <a:off x="6766560" y="5458968"/>
            <a:ext cx="4617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E9CD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BASTÃO PASSADO  ▸ 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do projeto legal (PL)</a:t>
            </a:r>
            <a:endParaRPr lang="en-US" sz="1200" dirty="0"/>
          </a:p>
        </p:txBody>
      </p:sp>
      <p:sp>
        <p:nvSpPr>
          <p:cNvPr id="31" name="Shape 27"/>
          <p:cNvSpPr/>
          <p:nvPr/>
        </p:nvSpPr>
        <p:spPr>
          <a:xfrm>
            <a:off x="0" y="6263640"/>
            <a:ext cx="12191695" cy="594360"/>
          </a:xfrm>
          <a:prstGeom prst="rect">
            <a:avLst/>
          </a:prstGeom>
          <a:solidFill>
            <a:srgbClr val="B85A40"/>
          </a:solidFill>
          <a:ln w="12700">
            <a:solidFill>
              <a:srgbClr val="B85A40"/>
            </a:solidFill>
            <a:prstDash val="solid"/>
          </a:ln>
        </p:spPr>
      </p:sp>
      <p:sp>
        <p:nvSpPr>
          <p:cNvPr id="32" name="Shape 28"/>
          <p:cNvSpPr/>
          <p:nvPr/>
        </p:nvSpPr>
        <p:spPr>
          <a:xfrm>
            <a:off x="548640" y="6382512"/>
            <a:ext cx="365760" cy="365760"/>
          </a:xfrm>
          <a:prstGeom prst="ellipse">
            <a:avLst/>
          </a:prstGeom>
          <a:solidFill>
            <a:srgbClr val="E9CDB8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3" name="Text 29"/>
          <p:cNvSpPr txBox="1"/>
          <p:nvPr/>
        </p:nvSpPr>
        <p:spPr>
          <a:xfrm>
            <a:off x="548640" y="638251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34" name="Text 30"/>
          <p:cNvSpPr txBox="1"/>
          <p:nvPr/>
        </p:nvSpPr>
        <p:spPr>
          <a:xfrm>
            <a:off x="1005840" y="6382512"/>
            <a:ext cx="22249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LV  ·  Onde estou?</a:t>
            </a:r>
            <a:endParaRPr lang="en-US" sz="1200" dirty="0"/>
          </a:p>
        </p:txBody>
      </p:sp>
      <p:sp>
        <p:nvSpPr>
          <p:cNvPr id="35" name="Shape 31"/>
          <p:cNvSpPr/>
          <p:nvPr/>
        </p:nvSpPr>
        <p:spPr>
          <a:xfrm>
            <a:off x="3322244" y="6382512"/>
            <a:ext cx="365760" cy="365760"/>
          </a:xfrm>
          <a:prstGeom prst="ellipse">
            <a:avLst/>
          </a:prstGeom>
          <a:solidFill>
            <a:srgbClr val="E9CDB8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6" name="Text 32"/>
          <p:cNvSpPr txBox="1"/>
          <p:nvPr/>
        </p:nvSpPr>
        <p:spPr>
          <a:xfrm>
            <a:off x="3322244" y="638251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37" name="Text 33"/>
          <p:cNvSpPr txBox="1"/>
          <p:nvPr/>
        </p:nvSpPr>
        <p:spPr>
          <a:xfrm>
            <a:off x="3779444" y="6382512"/>
            <a:ext cx="22249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PN  ·  O que preciso?</a:t>
            </a:r>
            <a:endParaRPr lang="en-US" sz="1200" dirty="0"/>
          </a:p>
        </p:txBody>
      </p:sp>
      <p:sp>
        <p:nvSpPr>
          <p:cNvPr id="38" name="Shape 34"/>
          <p:cNvSpPr/>
          <p:nvPr/>
        </p:nvSpPr>
        <p:spPr>
          <a:xfrm>
            <a:off x="6095848" y="6382512"/>
            <a:ext cx="365760" cy="365760"/>
          </a:xfrm>
          <a:prstGeom prst="ellipse">
            <a:avLst/>
          </a:prstGeom>
          <a:solidFill>
            <a:srgbClr val="E9CDB8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9" name="Text 35"/>
          <p:cNvSpPr txBox="1"/>
          <p:nvPr/>
        </p:nvSpPr>
        <p:spPr>
          <a:xfrm>
            <a:off x="6095848" y="638251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40" name="Text 36"/>
          <p:cNvSpPr txBox="1"/>
          <p:nvPr/>
        </p:nvSpPr>
        <p:spPr>
          <a:xfrm>
            <a:off x="6553048" y="6382512"/>
            <a:ext cx="22249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  ·  Qual é a ideia?</a:t>
            </a:r>
            <a:endParaRPr lang="en-US" sz="1200" dirty="0"/>
          </a:p>
        </p:txBody>
      </p:sp>
      <p:sp>
        <p:nvSpPr>
          <p:cNvPr id="41" name="Shape 37"/>
          <p:cNvSpPr/>
          <p:nvPr/>
        </p:nvSpPr>
        <p:spPr>
          <a:xfrm>
            <a:off x="8869451" y="6382512"/>
            <a:ext cx="365760" cy="365760"/>
          </a:xfrm>
          <a:prstGeom prst="ellipse">
            <a:avLst/>
          </a:prstGeom>
          <a:solidFill>
            <a:srgbClr val="1F2A44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42" name="Text 38"/>
          <p:cNvSpPr txBox="1"/>
          <p:nvPr/>
        </p:nvSpPr>
        <p:spPr>
          <a:xfrm>
            <a:off x="8869451" y="638251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200" dirty="0"/>
          </a:p>
        </p:txBody>
      </p:sp>
      <p:sp>
        <p:nvSpPr>
          <p:cNvPr id="43" name="Text 39"/>
          <p:cNvSpPr txBox="1"/>
          <p:nvPr/>
        </p:nvSpPr>
        <p:spPr>
          <a:xfrm>
            <a:off x="9326651" y="6382512"/>
            <a:ext cx="22249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  ·  Como fica de verdade?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F2A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LINHA DE CHEGADA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2588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BFA5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Quatro perguntas para lembrar das etapas iniciais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2606040" cy="2606040"/>
          </a:xfrm>
          <a:prstGeom prst="roundRect">
            <a:avLst>
              <a:gd name="adj" fmla="val 5263"/>
            </a:avLst>
          </a:prstGeom>
          <a:solidFill>
            <a:srgbClr val="2C3A5C"/>
          </a:solidFill>
          <a:ln w="12700">
            <a:solidFill>
              <a:srgbClr val="3A4A7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210312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i="1" dirty="0">
                <a:solidFill>
                  <a:srgbClr val="E9CD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LV</a:t>
            </a:r>
            <a:endParaRPr lang="en-US" sz="40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83464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Onde estou?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3657600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DCDC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mapas do lugar + índices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383280" y="1965960"/>
            <a:ext cx="2606040" cy="2606040"/>
          </a:xfrm>
          <a:prstGeom prst="roundRect">
            <a:avLst>
              <a:gd name="adj" fmla="val 5263"/>
            </a:avLst>
          </a:prstGeom>
          <a:solidFill>
            <a:srgbClr val="2C3A5C"/>
          </a:solidFill>
          <a:ln w="12700">
            <a:solidFill>
              <a:srgbClr val="3A4A7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611880" y="210312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i="1" dirty="0">
                <a:solidFill>
                  <a:srgbClr val="E9CD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PN</a:t>
            </a:r>
            <a:endParaRPr lang="en-US" sz="4000" dirty="0"/>
          </a:p>
        </p:txBody>
      </p:sp>
      <p:sp>
        <p:nvSpPr>
          <p:cNvPr id="10" name="Text 8"/>
          <p:cNvSpPr txBox="1"/>
          <p:nvPr/>
        </p:nvSpPr>
        <p:spPr>
          <a:xfrm>
            <a:off x="3611880" y="283464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que preciso?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3611880" y="3657600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DCDC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setores, 10.936 m²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217920" y="1965960"/>
            <a:ext cx="2606040" cy="2606040"/>
          </a:xfrm>
          <a:prstGeom prst="roundRect">
            <a:avLst>
              <a:gd name="adj" fmla="val 5263"/>
            </a:avLst>
          </a:prstGeom>
          <a:solidFill>
            <a:srgbClr val="2C3A5C"/>
          </a:solidFill>
          <a:ln w="12700">
            <a:solidFill>
              <a:srgbClr val="3A4A70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446520" y="210312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i="1" dirty="0">
                <a:solidFill>
                  <a:srgbClr val="E9CD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</a:t>
            </a:r>
            <a:endParaRPr lang="en-US" sz="4000" dirty="0"/>
          </a:p>
        </p:txBody>
      </p:sp>
      <p:sp>
        <p:nvSpPr>
          <p:cNvPr id="14" name="Text 12"/>
          <p:cNvSpPr txBox="1"/>
          <p:nvPr/>
        </p:nvSpPr>
        <p:spPr>
          <a:xfrm>
            <a:off x="6446520" y="283464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 é a ideia?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6446520" y="3657600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DCDC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conceito, partido, fluxograma e croqui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9052560" y="1965960"/>
            <a:ext cx="2606040" cy="2606040"/>
          </a:xfrm>
          <a:prstGeom prst="roundRect">
            <a:avLst>
              <a:gd name="adj" fmla="val 5263"/>
            </a:avLst>
          </a:prstGeom>
          <a:solidFill>
            <a:srgbClr val="B0573F"/>
          </a:solidFill>
          <a:ln w="12700">
            <a:solidFill>
              <a:srgbClr val="B0573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9281160" y="210312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</a:t>
            </a:r>
            <a:endParaRPr lang="en-US" sz="4000" dirty="0"/>
          </a:p>
        </p:txBody>
      </p:sp>
      <p:sp>
        <p:nvSpPr>
          <p:cNvPr id="18" name="Text 16"/>
          <p:cNvSpPr txBox="1"/>
          <p:nvPr/>
        </p:nvSpPr>
        <p:spPr>
          <a:xfrm>
            <a:off x="9281160" y="283464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Como fica de verdade?</a:t>
            </a:r>
            <a:endParaRPr lang="en-US" sz="1800" dirty="0"/>
          </a:p>
        </p:txBody>
      </p:sp>
      <p:sp>
        <p:nvSpPr>
          <p:cNvPr id="19" name="Text 17"/>
          <p:cNvSpPr txBox="1"/>
          <p:nvPr/>
        </p:nvSpPr>
        <p:spPr>
          <a:xfrm>
            <a:off x="9281160" y="3657600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DCDC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plantas cotadas e volumetria definida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0" y="4892040"/>
            <a:ext cx="12191695" cy="685800"/>
          </a:xfrm>
          <a:prstGeom prst="rect">
            <a:avLst/>
          </a:prstGeom>
          <a:solidFill>
            <a:srgbClr val="B85A40"/>
          </a:solidFill>
          <a:ln w="12700">
            <a:solidFill>
              <a:srgbClr val="B85A40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548640" y="48920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Seguir a ordem da norma = menos retrabalho, mais clareza para quem projeta, aprova e constrói.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548640" y="589788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EB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Referências: ABNT NBR 16636-1:2017. Elaboração e desenvolvimento de serviços técnicos especializados de projetos arquitetônicos e urbanísticos, Parte 1: Diretrizes e terminologia (itens 1, 3.4, 3.54, 3.67, 3.87, 3.91, 5.2.2).  ·  OLIVEIRA JÚNIOR, C. C. Centro Esportivo Arena Poty. TCC II, Arquitetura e Urbanismo, Teresina, 2026.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NBR 16636-1 — Etapas Iniciais do Projeto</dc:title>
  <dc:subject>PptxGenJS Presentation</dc:subject>
  <dc:creator>Cláudio Castro de Oliveira Júnior</dc:creator>
  <cp:lastModifiedBy>Cláudio Castro de Oliveira Júnior</cp:lastModifiedBy>
  <cp:revision>1</cp:revision>
  <dcterms:created xsi:type="dcterms:W3CDTF">2026-09-29T01:40:30Z</dcterms:created>
  <dcterms:modified xsi:type="dcterms:W3CDTF">2026-09-29T01:40:30Z</dcterms:modified>
</cp:coreProperties>
</file>