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Meu trabalho é o 07: a NBR 16636-1 e as etapas iniciais do projeto de arquitetura. Vou mostrar cada etapa com o que a norma diz e o que ela entregou no meu TCC, o Centro Esportivo Arena Poty.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NBR 16636-1 estabelece os procedimentos gerais e as diretrizes para produzir as principais etapas dos projetos de arquitetura e urbanismo, de edificações e espaços abertos, públicos ou privados. Serviço técnico é a atividade de um profissional habilitado, feita em etapas em sequência. A tabela resume cada etapa; hoje o foco são as iniciais. E pelo item 5.2.2, uma etapa só começa depois que a anterior é aceita. O estudo de caso é o meu TCC, o Arena Poty.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Levantamento de dados. A norma define como a coleta das informações das condições que já existem no lugar. No TCC isso virou seis mapas: terreno, clima, sistema viário, uso do solo, gabarito e equipamentos. O lote está vazio, então não há edificação existente para levantar.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Ainda no levantamento, o registro fotográfico. As fotos mostram o lote vazio e cercado, a avenida com ciclofaixa e, à noite, muita gente caminhando e correndo. O lugar já é usado para esporte.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legislação também faz parte do levantamento. Na ZOM-4: taxa de ocupação de 80%, índice de aproveitamento 6 e permeabilidade mínima de 7,5%. O projeto usa só 3.376 m² e tem 1.800 m² de paisagismo, então atende com folga. O desafio é o clima: o corte, que fiz a partir do partido do TCC, mostra a resposta com brise, cobogó e beiral.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Estudo preliminar. A norma define como o dimensionamento preliminar dos conceitos do projeto. No TCC: o conceito, esporte como elemento de conexão; o partido, com praça de acesso, pátios, conexão com o Rio Poti e conforto passivo; e o pré-dimensionamento: o programa de 10.936 m² cabe com folga no terreno.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produtos gráficos do estudo preliminar: o fluxograma, com a praça central ligando todos os setores, e o croqui, que na norma é um plano de massas, item 3.87. Os números mostram onde fica cada setor no terreno.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Anteprojeto. A norma define como as informações técnicas iniciais de detalhamento. É a próxima etapa do TCC: o croqui vira volumetria definida, o fluxograma vira solução funcional com rotas acessíveis, as áreas viram plantas cotadas e o moodboard vira especificação de materiais. Ele é a base do projeto legal.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levantamento, estudo preliminar e anteprojeto, cada um com a sua entrega. Seguir essa ordem evita retrabalho e deixa o projeto claro para quem projeta, aprova e constrói. Obrigado.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15875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263640"/>
            <a:ext cx="12191695" cy="0"/>
          </a:xfrm>
          <a:prstGeom prst="line">
            <a:avLst/>
          </a:prstGeom>
          <a:noFill/>
          <a:ln w="15875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566160" y="50749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Levantamento  →  diagnóstico do lugar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566928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preliminar  →  conceito, partido e croqui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62636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Anteprojeto  →  volumetria e plantas cotadas</a:t>
            </a:r>
            <a:endParaRPr lang="en-US" sz="1800" dirty="0"/>
          </a:p>
        </p:txBody>
      </p:sp>
      <p:pic>
        <p:nvPicPr>
          <p:cNvPr id="8" name="Image 0" descr="Atleta chutando bo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14600"/>
            <a:ext cx="2743200" cy="3289945"/>
          </a:xfrm>
          <a:prstGeom prst="rect">
            <a:avLst/>
          </a:prstGeom>
        </p:spPr>
      </p:pic>
      <p:pic>
        <p:nvPicPr>
          <p:cNvPr id="9" name="Image 1" descr="Atleta sacan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103120"/>
            <a:ext cx="2240280" cy="321034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291840" y="5029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07  ·  NBR 16636-1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463040" y="914400"/>
            <a:ext cx="9235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54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TERRENO</a:t>
            </a:r>
            <a:endParaRPr lang="en-US" sz="5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54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ANTEPROJETO</a:t>
            </a:r>
            <a:endParaRPr lang="en-US" sz="5400" dirty="0"/>
          </a:p>
        </p:txBody>
      </p:sp>
      <p:sp>
        <p:nvSpPr>
          <p:cNvPr id="12" name="Text 8"/>
          <p:cNvSpPr txBox="1"/>
          <p:nvPr/>
        </p:nvSpPr>
        <p:spPr>
          <a:xfrm>
            <a:off x="3429000" y="278892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etapas iniciais do projeto de arquitetura, aplicadas ao meu TCC: o Centro Esportivo Arena Poty.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384048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Cláudio Castro de Oliveira Júnior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 Urbanismo  ·  Prof. Danilo Sérvio  ·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NORMA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DIZ A NBR 16636-1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731520" cy="73152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116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8105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21945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as diretrizes e os termos para produzir as etapas do projeto de arquitetura e urbanismo.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3154680"/>
            <a:ext cx="731520" cy="73152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3375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63040" y="3136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Campo de abrangência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463040" y="352044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Edifícios e espaços abertos, públicos ou privados.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48640" y="4480560"/>
            <a:ext cx="731520" cy="73152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66344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44622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Serviço técnico de projeto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463040" y="48463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de um profissional habilitado, feito em etapas, uma depois da outra.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5989320" y="16459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etapas do projeto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2011680"/>
          <a:ext cx="566928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310896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Sigla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entrega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LV-ARQ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Levantamento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 do terreno e do entorno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 de ambientes e áreas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Viabilidade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escolha entre alternativas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preliminar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primeira ideia, com medidas aproximadas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57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Anteprojeto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ideia definida, com plantas cotadas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DF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 legal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documentos para aprovação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DF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 básico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para orçamento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PE-ARQ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DF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 executivo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E6A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detalhes para a obra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</a:tr>
            </a:tbl>
          </a:graphicData>
        </a:graphic>
      </p:graphicFrame>
      <p:sp>
        <p:nvSpPr>
          <p:cNvPr id="18" name="Text 12"/>
          <p:cNvSpPr txBox="1"/>
          <p:nvPr/>
        </p:nvSpPr>
        <p:spPr>
          <a:xfrm>
            <a:off x="5989320" y="56235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iniciais: tema de hoje   </a:t>
            </a:r>
            <a:pPr indent="0" marL="0">
              <a:buNone/>
            </a:pPr>
            <a:r>
              <a:rPr lang="en-US" sz="1100" dirty="0">
                <a:solidFill>
                  <a:srgbClr val="E4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1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finais (Trab. 08)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LV-ARQ  ·  LEVANTAMENTO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LEVANTAMENTO DE DADOS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o lugar como ele é hoje, antes de desenhar.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48640" cy="5486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03704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20391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Topográfico cadastral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232257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limites, medidas e área: 14.762,06 m²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916936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275234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Físico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1234440" y="30358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poente a oeste, vento leste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630168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34440" y="346557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Arquitetônico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1234440" y="3749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vazio: nada construído a levantar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343400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417880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Fotográfico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1234440" y="446227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do lote e das visadas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056632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234440" y="48920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 imediato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1234440" y="51755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vias, usos, gabaritos e equipamentos</a:t>
            </a:r>
            <a:endParaRPr lang="en-US" sz="1200" dirty="0"/>
          </a:p>
        </p:txBody>
      </p:sp>
      <p:pic>
        <p:nvPicPr>
          <p:cNvPr id="25" name="Image 5" descr="Terren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3208" y="2011680"/>
            <a:ext cx="1280160" cy="128016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4617720" y="331927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Terreno</a:t>
            </a:r>
            <a:endParaRPr lang="en-US" sz="1100" dirty="0"/>
          </a:p>
        </p:txBody>
      </p:sp>
      <p:sp>
        <p:nvSpPr>
          <p:cNvPr id="27" name="Text 19"/>
          <p:cNvSpPr txBox="1"/>
          <p:nvPr/>
        </p:nvSpPr>
        <p:spPr>
          <a:xfrm>
            <a:off x="4617720" y="35387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medidas e área</a:t>
            </a:r>
            <a:endParaRPr lang="en-US" sz="1000" dirty="0"/>
          </a:p>
        </p:txBody>
      </p:sp>
      <p:pic>
        <p:nvPicPr>
          <p:cNvPr id="28" name="Image 6" descr="Clim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0648" y="2011680"/>
            <a:ext cx="1280160" cy="128016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6995160" y="331927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</a:t>
            </a:r>
            <a:endParaRPr lang="en-US" sz="1100" dirty="0"/>
          </a:p>
        </p:txBody>
      </p:sp>
      <p:sp>
        <p:nvSpPr>
          <p:cNvPr id="30" name="Text 21"/>
          <p:cNvSpPr txBox="1"/>
          <p:nvPr/>
        </p:nvSpPr>
        <p:spPr>
          <a:xfrm>
            <a:off x="6995160" y="35387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e ventos</a:t>
            </a:r>
            <a:endParaRPr lang="en-US" sz="1000" dirty="0"/>
          </a:p>
        </p:txBody>
      </p:sp>
      <p:pic>
        <p:nvPicPr>
          <p:cNvPr id="31" name="Image 7" descr="Sistema viário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48088" y="2011680"/>
            <a:ext cx="1280160" cy="128016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9372600" y="331927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viário</a:t>
            </a:r>
            <a:endParaRPr lang="en-US" sz="1100" dirty="0"/>
          </a:p>
        </p:txBody>
      </p:sp>
      <p:sp>
        <p:nvSpPr>
          <p:cNvPr id="33" name="Text 23"/>
          <p:cNvSpPr txBox="1"/>
          <p:nvPr/>
        </p:nvSpPr>
        <p:spPr>
          <a:xfrm>
            <a:off x="9372600" y="35387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Raul Lopes: via rápida</a:t>
            </a:r>
            <a:endParaRPr lang="en-US" sz="1000" dirty="0"/>
          </a:p>
        </p:txBody>
      </p:sp>
      <p:pic>
        <p:nvPicPr>
          <p:cNvPr id="34" name="Image 8" descr="Uso do sol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93208" y="3794760"/>
            <a:ext cx="1280160" cy="128016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4617720" y="510235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do solo</a:t>
            </a:r>
            <a:endParaRPr lang="en-US" sz="1100" dirty="0"/>
          </a:p>
        </p:txBody>
      </p:sp>
      <p:sp>
        <p:nvSpPr>
          <p:cNvPr id="36" name="Text 25"/>
          <p:cNvSpPr txBox="1"/>
          <p:nvPr/>
        </p:nvSpPr>
        <p:spPr>
          <a:xfrm>
            <a:off x="4617720" y="53218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residência, serviço, comércio</a:t>
            </a:r>
            <a:endParaRPr lang="en-US" sz="1000" dirty="0"/>
          </a:p>
        </p:txBody>
      </p:sp>
      <p:pic>
        <p:nvPicPr>
          <p:cNvPr id="37" name="Image 9" descr="Gabarito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70648" y="3794760"/>
            <a:ext cx="1280160" cy="1280160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995160" y="510235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</a:t>
            </a:r>
            <a:endParaRPr lang="en-US" sz="1100" dirty="0"/>
          </a:p>
        </p:txBody>
      </p:sp>
      <p:sp>
        <p:nvSpPr>
          <p:cNvPr id="39" name="Text 27"/>
          <p:cNvSpPr txBox="1"/>
          <p:nvPr/>
        </p:nvSpPr>
        <p:spPr>
          <a:xfrm>
            <a:off x="6995160" y="53218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térreo a 5+ pavimentos</a:t>
            </a:r>
            <a:endParaRPr lang="en-US" sz="1000" dirty="0"/>
          </a:p>
        </p:txBody>
      </p:sp>
      <p:pic>
        <p:nvPicPr>
          <p:cNvPr id="40" name="Image 10" descr="Equipamento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48088" y="3794760"/>
            <a:ext cx="1280160" cy="1280160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372600" y="510235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Equipamentos</a:t>
            </a:r>
            <a:endParaRPr lang="en-US" sz="1100" dirty="0"/>
          </a:p>
        </p:txBody>
      </p:sp>
      <p:sp>
        <p:nvSpPr>
          <p:cNvPr id="42" name="Text 29"/>
          <p:cNvSpPr txBox="1"/>
          <p:nvPr/>
        </p:nvSpPr>
        <p:spPr>
          <a:xfrm>
            <a:off x="9372600" y="53218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escolas e esporte perto</a:t>
            </a:r>
            <a:endParaRPr lang="en-US" sz="1000" dirty="0"/>
          </a:p>
        </p:txBody>
      </p:sp>
      <p:sp>
        <p:nvSpPr>
          <p:cNvPr id="43" name="Shape 30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44" name="Shape 31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Text 32"/>
          <p:cNvSpPr txBox="1"/>
          <p:nvPr/>
        </p:nvSpPr>
        <p:spPr>
          <a:xfrm>
            <a:off x="502920" y="63825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</a:t>
            </a:r>
            <a:endParaRPr lang="en-US" sz="1000" dirty="0"/>
          </a:p>
        </p:txBody>
      </p:sp>
      <p:sp>
        <p:nvSpPr>
          <p:cNvPr id="46" name="Text 33"/>
          <p:cNvSpPr txBox="1"/>
          <p:nvPr/>
        </p:nvSpPr>
        <p:spPr>
          <a:xfrm>
            <a:off x="1005840" y="6382512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Levantamento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4246778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4201058" y="63825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</a:t>
            </a:r>
            <a:endParaRPr lang="en-US" sz="1000" dirty="0"/>
          </a:p>
        </p:txBody>
      </p:sp>
      <p:sp>
        <p:nvSpPr>
          <p:cNvPr id="49" name="Text 36"/>
          <p:cNvSpPr txBox="1"/>
          <p:nvPr/>
        </p:nvSpPr>
        <p:spPr>
          <a:xfrm>
            <a:off x="4703978" y="6382512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preliminar</a:t>
            </a:r>
            <a:endParaRPr lang="en-US" sz="1200" dirty="0"/>
          </a:p>
        </p:txBody>
      </p:sp>
      <p:sp>
        <p:nvSpPr>
          <p:cNvPr id="50" name="Shape 37"/>
          <p:cNvSpPr/>
          <p:nvPr/>
        </p:nvSpPr>
        <p:spPr>
          <a:xfrm>
            <a:off x="7944917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1" name="Text 38"/>
          <p:cNvSpPr txBox="1"/>
          <p:nvPr/>
        </p:nvSpPr>
        <p:spPr>
          <a:xfrm>
            <a:off x="7899197" y="63825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endParaRPr lang="en-US" sz="1000" dirty="0"/>
          </a:p>
        </p:txBody>
      </p:sp>
      <p:sp>
        <p:nvSpPr>
          <p:cNvPr id="52" name="Text 39"/>
          <p:cNvSpPr txBox="1"/>
          <p:nvPr/>
        </p:nvSpPr>
        <p:spPr>
          <a:xfrm>
            <a:off x="8402117" y="6382512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Anteprojeto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LV-ARQ  ·  LEVANTAMENTO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LEVANTAMENTO FOTOGRÁFICO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do lote e do entorno.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606040" cy="1956816"/>
          </a:xfrm>
          <a:prstGeom prst="roundRect">
            <a:avLst>
              <a:gd name="adj" fmla="val 3738"/>
            </a:avLst>
          </a:prstGeom>
          <a:solidFill>
            <a:srgbClr val="EFEBE0"/>
          </a:solidFill>
          <a:ln w="15875">
            <a:solidFill>
              <a:srgbClr val="BFA58E"/>
            </a:solidFill>
            <a:prstDash val="dash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3060" y="26060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1546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BFA5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 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08736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vazio visto da avenida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364992" y="2057400"/>
            <a:ext cx="2606040" cy="1956816"/>
          </a:xfrm>
          <a:prstGeom prst="roundRect">
            <a:avLst>
              <a:gd name="adj" fmla="val 3738"/>
            </a:avLst>
          </a:prstGeom>
          <a:solidFill>
            <a:srgbClr val="EFEBE0"/>
          </a:solidFill>
          <a:ln w="15875">
            <a:solidFill>
              <a:srgbClr val="BFA58E"/>
            </a:solidFill>
            <a:prstDash val="dash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412" y="260604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64992" y="31546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BFA5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 2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3364992" y="408736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Ciclofaixa e iluminação pública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181344" y="2057400"/>
            <a:ext cx="2606040" cy="1956816"/>
          </a:xfrm>
          <a:prstGeom prst="roundRect">
            <a:avLst>
              <a:gd name="adj" fmla="val 3738"/>
            </a:avLst>
          </a:prstGeom>
          <a:solidFill>
            <a:srgbClr val="EFEBE0"/>
          </a:solidFill>
          <a:ln w="15875">
            <a:solidFill>
              <a:srgbClr val="BFA58E"/>
            </a:solidFill>
            <a:prstDash val="dash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5764" y="260604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181344" y="31546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BFA5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 3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181344" y="408736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Pedestres e corredores à noite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8997696" y="2057400"/>
            <a:ext cx="2606040" cy="1956816"/>
          </a:xfrm>
          <a:prstGeom prst="roundRect">
            <a:avLst>
              <a:gd name="adj" fmla="val 3738"/>
            </a:avLst>
          </a:prstGeom>
          <a:solidFill>
            <a:srgbClr val="EFEBE0"/>
          </a:solidFill>
          <a:ln w="15875">
            <a:solidFill>
              <a:srgbClr val="BFA58E"/>
            </a:solidFill>
            <a:prstDash val="dash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2116" y="2606040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997696" y="31546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BFA5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 4</a:t>
            </a:r>
            <a:endParaRPr lang="en-US" sz="1100" dirty="0"/>
          </a:p>
        </p:txBody>
      </p:sp>
      <p:sp>
        <p:nvSpPr>
          <p:cNvPr id="20" name="Text 14"/>
          <p:cNvSpPr txBox="1"/>
          <p:nvPr/>
        </p:nvSpPr>
        <p:spPr>
          <a:xfrm>
            <a:off x="8997696" y="408736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via já é usada para esporte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48640" y="452628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822960" y="452628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lote está vazio, e a avenida já é usada para caminhar, correr e pedalar: </a:t>
            </a:r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lugar já tem vocação esportiva.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02920" y="63825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1005840" y="6382512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Levantamento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4246778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4201058" y="63825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4703978" y="6382512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preliminar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7944917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899197" y="63825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8402117" y="6382512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Anteprojeto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LV-ARQ  ·  LEVANTAMENTO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LEGISLAÇÃO DO TERRENO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lei permite no terreno (zona ZOM-4, 14.762,06 m²):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3657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Parâmetro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de ocupação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11.809,65 m² de projeção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Índice de aproveitamento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88.572,36 m² construídos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de permeabilidade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mínimo 1.107,15 m² permeáveis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343400"/>
            <a:ext cx="6949440" cy="1097280"/>
          </a:xfrm>
          <a:prstGeom prst="roundRect">
            <a:avLst>
              <a:gd name="adj" fmla="val 10000"/>
            </a:avLst>
          </a:prstGeom>
          <a:solidFill>
            <a:srgbClr val="1F2A44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434340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Arena Poty: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projeto usa muito menos do que a lei permite. O desafio é o calor, não a área.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818120" y="1600200"/>
            <a:ext cx="3840480" cy="3886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001000" y="171907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esquemático: resposta ao clima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1975104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elaborado para esta apresentação, a partir do partido do TCC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046720" y="2331720"/>
            <a:ext cx="384048" cy="384048"/>
          </a:xfrm>
          <a:prstGeom prst="ellipse">
            <a:avLst/>
          </a:prstGeom>
          <a:solidFill>
            <a:srgbClr val="E3A857"/>
          </a:solidFill>
          <a:ln w="12700">
            <a:solidFill>
              <a:srgbClr val="E3A85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366760" y="2697480"/>
            <a:ext cx="274320" cy="731520"/>
          </a:xfrm>
          <a:prstGeom prst="line">
            <a:avLst/>
          </a:prstGeom>
          <a:noFill/>
          <a:ln w="15875">
            <a:solidFill>
              <a:srgbClr val="E3A857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8389620" y="2743200"/>
            <a:ext cx="274320" cy="731520"/>
          </a:xfrm>
          <a:prstGeom prst="line">
            <a:avLst/>
          </a:prstGeom>
          <a:noFill/>
          <a:ln w="15875">
            <a:solidFill>
              <a:srgbClr val="E3A857"/>
            </a:solidFill>
            <a:prstDash val="dash"/>
          </a:ln>
        </p:spPr>
      </p:sp>
      <p:sp>
        <p:nvSpPr>
          <p:cNvPr id="14" name="Shape 11"/>
          <p:cNvSpPr/>
          <p:nvPr/>
        </p:nvSpPr>
        <p:spPr>
          <a:xfrm>
            <a:off x="8412480" y="2788920"/>
            <a:ext cx="274320" cy="731520"/>
          </a:xfrm>
          <a:prstGeom prst="line">
            <a:avLst/>
          </a:prstGeom>
          <a:noFill/>
          <a:ln w="15875">
            <a:solidFill>
              <a:srgbClr val="E3A857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8503920" y="2377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da tarde (oeste)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961120" y="3429000"/>
            <a:ext cx="1600200" cy="1325880"/>
          </a:xfrm>
          <a:prstGeom prst="rect">
            <a:avLst/>
          </a:prstGeom>
          <a:solidFill>
            <a:srgbClr val="EFEBE0"/>
          </a:solidFill>
          <a:ln w="15875">
            <a:solidFill>
              <a:srgbClr val="1F2A4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458200" y="3291840"/>
            <a:ext cx="2606040" cy="13716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326880" y="29992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cobertura com beiral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595360" y="3520440"/>
            <a:ext cx="41148" cy="1097280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686800" y="3520440"/>
            <a:ext cx="41148" cy="1097280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778240" y="3520440"/>
            <a:ext cx="41148" cy="1097280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869680" y="3520440"/>
            <a:ext cx="41148" cy="1097280"/>
          </a:xfrm>
          <a:prstGeom prst="rect">
            <a:avLst/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424160" y="3611880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515600" y="3611880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424160" y="3785616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515600" y="3785616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424160" y="3959352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515600" y="3959352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424160" y="4133088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515600" y="4133088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424160" y="4306824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515600" y="4306824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0424160" y="4480560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515600" y="4480560"/>
            <a:ext cx="64008" cy="118872"/>
          </a:xfrm>
          <a:prstGeom prst="rect">
            <a:avLst/>
          </a:prstGeom>
          <a:solidFill>
            <a:srgbClr val="BFA58E"/>
          </a:solidFill>
          <a:ln w="6350">
            <a:solidFill>
              <a:srgbClr val="B0573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458200" y="4069080"/>
            <a:ext cx="2971800" cy="0"/>
          </a:xfrm>
          <a:prstGeom prst="line">
            <a:avLst/>
          </a:prstGeom>
          <a:noFill/>
          <a:ln w="25400">
            <a:solidFill>
              <a:srgbClr val="2F6592"/>
            </a:solidFill>
            <a:prstDash val="solid"/>
            <a:headEnd type="triangle"/>
          </a:ln>
        </p:spPr>
      </p:sp>
      <p:sp>
        <p:nvSpPr>
          <p:cNvPr id="36" name="Text 33"/>
          <p:cNvSpPr txBox="1"/>
          <p:nvPr/>
        </p:nvSpPr>
        <p:spPr>
          <a:xfrm>
            <a:off x="10744200" y="374904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6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vento leste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11247120" y="4434840"/>
            <a:ext cx="45720" cy="320040"/>
          </a:xfrm>
          <a:prstGeom prst="rect">
            <a:avLst/>
          </a:prstGeom>
          <a:solidFill>
            <a:srgbClr val="7A5C3E"/>
          </a:solidFill>
          <a:ln w="12700">
            <a:solidFill>
              <a:srgbClr val="7A5C3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1064240" y="4206240"/>
            <a:ext cx="411480" cy="365760"/>
          </a:xfrm>
          <a:prstGeom prst="ellipse">
            <a:avLst/>
          </a:prstGeom>
          <a:solidFill>
            <a:srgbClr val="6B7751"/>
          </a:solidFill>
          <a:ln w="12700">
            <a:solidFill>
              <a:srgbClr val="6B7751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001000" y="4754880"/>
            <a:ext cx="3520440" cy="0"/>
          </a:xfrm>
          <a:prstGeom prst="line">
            <a:avLst/>
          </a:prstGeom>
          <a:noFill/>
          <a:ln w="19050">
            <a:solidFill>
              <a:srgbClr val="1F2A44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001000" y="48463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brise </a:t>
            </a:r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o sol da tarde  ·  </a:t>
            </a:r>
            <a:pPr indent="0" marL="0">
              <a:buNone/>
            </a:pPr>
            <a:r>
              <a:rPr lang="en-US" sz="1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cobogó </a:t>
            </a:r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deixa o vento passar  ·  </a:t>
            </a:r>
            <a:pPr indent="0" marL="0">
              <a:buNone/>
            </a:pPr>
            <a:r>
              <a:rPr lang="en-US" sz="1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beiral </a:t>
            </a:r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sombreia as fachadas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02920" y="63825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1005840" y="6382512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Levantamento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4246778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201058" y="63825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</a:t>
            </a:r>
            <a:endParaRPr lang="en-US" sz="1000" dirty="0"/>
          </a:p>
        </p:txBody>
      </p:sp>
      <p:sp>
        <p:nvSpPr>
          <p:cNvPr id="47" name="Text 44"/>
          <p:cNvSpPr txBox="1"/>
          <p:nvPr/>
        </p:nvSpPr>
        <p:spPr>
          <a:xfrm>
            <a:off x="4703978" y="6382512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preliminar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7944917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7899197" y="63825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8402117" y="6382512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Anteprojeto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EP-ARQ  ·  ESTUDO PRELIMINAR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PRELIMINAR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primeira ideia do projeto, já com medidas aproximadas.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377440"/>
            <a:ext cx="868680" cy="86868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596896"/>
            <a:ext cx="429768" cy="4297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926080" y="23317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383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7307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ideia-força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11480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“Esporte como elemento de conexão.”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023360" y="34747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43400" y="214884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17720" y="2377440"/>
            <a:ext cx="868680" cy="868680"/>
          </a:xfrm>
          <a:prstGeom prst="ellipse">
            <a:avLst/>
          </a:prstGeom>
          <a:solidFill>
            <a:srgbClr val="B0573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596896"/>
            <a:ext cx="429768" cy="42976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720840" y="23317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3383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PARTIDO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37307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vira decisão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617720" y="411480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Praça de acesso, pátios, ligação com o Rio Poti e proteção contra o sol.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7818120" y="34747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8138160" y="214884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412480" y="2377440"/>
            <a:ext cx="868680" cy="86868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36" y="2596896"/>
            <a:ext cx="429768" cy="4297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0515600" y="23317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25" name="Text 20"/>
          <p:cNvSpPr txBox="1"/>
          <p:nvPr/>
        </p:nvSpPr>
        <p:spPr>
          <a:xfrm>
            <a:off x="8412480" y="3383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DIMENSIONAMENTO PRÉVIO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8412480" y="373075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no terreno?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8412480" y="411480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10.936 m² do programa cabem com folga no terreno.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02920" y="63825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>
            <a:off x="1005840" y="6382512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Levantamento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4246778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4201058" y="63825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</a:t>
            </a:r>
            <a:endParaRPr lang="en-US" sz="1000" dirty="0"/>
          </a:p>
        </p:txBody>
      </p:sp>
      <p:sp>
        <p:nvSpPr>
          <p:cNvPr id="34" name="Text 29"/>
          <p:cNvSpPr txBox="1"/>
          <p:nvPr/>
        </p:nvSpPr>
        <p:spPr>
          <a:xfrm>
            <a:off x="4703978" y="6382512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preliminar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7944917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899197" y="63825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endParaRPr lang="en-US" sz="1000" dirty="0"/>
          </a:p>
        </p:txBody>
      </p:sp>
      <p:sp>
        <p:nvSpPr>
          <p:cNvPr id="37" name="Text 32"/>
          <p:cNvSpPr txBox="1"/>
          <p:nvPr/>
        </p:nvSpPr>
        <p:spPr>
          <a:xfrm>
            <a:off x="8402117" y="6382512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Anteprojeto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EP-ARQ  ·  ESTUDO PRELIMINAR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FLUXOGRAMA E CROQUI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2062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9525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Fluxogram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783080"/>
            <a:ext cx="3931920" cy="2971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9834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Fluxograma  </a:t>
            </a:r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setores se ligam pela praça central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983480" y="1554480"/>
            <a:ext cx="6766560" cy="3360975"/>
          </a:xfrm>
          <a:prstGeom prst="roundRect">
            <a:avLst>
              <a:gd name="adj" fmla="val 2721"/>
            </a:avLst>
          </a:prstGeom>
          <a:solidFill>
            <a:srgbClr val="F3E6DC"/>
          </a:solidFill>
          <a:ln w="12700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pic>
        <p:nvPicPr>
          <p:cNvPr id="8" name="Image 1" descr="Croqui de implantaçã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645920"/>
            <a:ext cx="6583680" cy="317809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104534" y="3111301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104534" y="311130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684618" y="2634586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84618" y="26345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7882128" y="3174862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82128" y="31748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9725558" y="2634586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725558" y="26345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935517" y="3238424"/>
            <a:ext cx="310896" cy="310896"/>
          </a:xfrm>
          <a:prstGeom prst="ellipse">
            <a:avLst/>
          </a:prstGeom>
          <a:solidFill>
            <a:srgbClr val="B0573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935517" y="3238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5074920" y="496117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Praça de acesso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7269480" y="496117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Blocos construídos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9464040" y="496117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Comedoria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5074920" y="523549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society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7269480" y="5235495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 de tênis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55778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━  </a:t>
            </a:r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vermelha: pista de corrida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5184648" y="1755648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184648" y="175564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CROQUI (PLANO DE MASSAS)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02920" y="63825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1005840" y="6382512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Levantamento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4246778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201058" y="63825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4703978" y="6382512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preliminar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7944917" y="6382512"/>
            <a:ext cx="365760" cy="365760"/>
          </a:xfrm>
          <a:prstGeom prst="ellipse">
            <a:avLst/>
          </a:prstGeom>
          <a:solidFill>
            <a:srgbClr val="B85A4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899197" y="63825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8402117" y="6382512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7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Anteprojeto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AP-ARQ  ·  ANTEPROJETO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i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ANTEPROJETO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72768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ganha medidas exatas. É a próxima etapa do TCC:</a:t>
            </a:r>
            <a:endParaRPr lang="en-US" sz="1600" dirty="0"/>
          </a:p>
        </p:txBody>
      </p:sp>
      <p:pic>
        <p:nvPicPr>
          <p:cNvPr id="5" name="Image 0" descr="Golei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320040"/>
            <a:ext cx="2377440" cy="161231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1488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6A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ESTUDO PRELIMINAR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92240" y="2148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5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ANTEPROJETO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5120640" cy="685800"/>
          </a:xfrm>
          <a:prstGeom prst="roundRect">
            <a:avLst>
              <a:gd name="adj" fmla="val 13333"/>
            </a:avLst>
          </a:prstGeom>
          <a:solidFill>
            <a:srgbClr val="EFEBE0"/>
          </a:solidFill>
          <a:ln w="12700">
            <a:solidFill>
              <a:srgbClr val="EFEB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65176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Croqui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5715000" y="265176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492240" y="2651760"/>
            <a:ext cx="51663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675120" y="265176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Volumetria definida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566160"/>
            <a:ext cx="5120640" cy="685800"/>
          </a:xfrm>
          <a:prstGeom prst="roundRect">
            <a:avLst>
              <a:gd name="adj" fmla="val 13333"/>
            </a:avLst>
          </a:prstGeom>
          <a:solidFill>
            <a:srgbClr val="EFEBE0"/>
          </a:solidFill>
          <a:ln w="12700">
            <a:solidFill>
              <a:srgbClr val="EFEBE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56616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Fluxograma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715000" y="356616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92240" y="3566160"/>
            <a:ext cx="51663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675120" y="356616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funcional definitiva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4480560"/>
            <a:ext cx="5120640" cy="685800"/>
          </a:xfrm>
          <a:prstGeom prst="roundRect">
            <a:avLst>
              <a:gd name="adj" fmla="val 13333"/>
            </a:avLst>
          </a:prstGeom>
          <a:solidFill>
            <a:srgbClr val="EFEBE0"/>
          </a:solidFill>
          <a:ln w="12700">
            <a:solidFill>
              <a:srgbClr val="EFEB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448056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6A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aproximadas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715000" y="448056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492240" y="4480560"/>
            <a:ext cx="51663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DD6C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3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675120" y="448056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Plantas cotadas, em escala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532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anteprojeto: </a:t>
            </a:r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legal, básico e executivo (Trabalho 08).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48640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2920" y="63825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1005840" y="6382512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Levantamento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46778" y="6382512"/>
            <a:ext cx="365760" cy="365760"/>
          </a:xfrm>
          <a:prstGeom prst="ellipse">
            <a:avLst/>
          </a:prstGeom>
          <a:solidFill>
            <a:srgbClr val="E9CD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201058" y="63825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4703978" y="6382512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preliminar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44917" y="6382512"/>
            <a:ext cx="365760" cy="365760"/>
          </a:xfrm>
          <a:prstGeom prst="ellipse">
            <a:avLst/>
          </a:prstGeom>
          <a:solidFill>
            <a:srgbClr val="1F2A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899197" y="63825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402117" y="6382512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Anteprojeto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 DAS ETAPAS INICIAIS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F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cada etapa entregou no Arena Poty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2606040"/>
          </a:xfrm>
          <a:prstGeom prst="roundRect">
            <a:avLst>
              <a:gd name="adj" fmla="val 5263"/>
            </a:avLst>
          </a:prstGeom>
          <a:solidFill>
            <a:srgbClr val="2C3A5C"/>
          </a:solidFill>
          <a:ln w="12700">
            <a:solidFill>
              <a:srgbClr val="3A4A7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8346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Levantamento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657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mapas, fotos e índices do terreno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97680" y="1965960"/>
            <a:ext cx="3520440" cy="2606040"/>
          </a:xfrm>
          <a:prstGeom prst="roundRect">
            <a:avLst>
              <a:gd name="adj" fmla="val 5263"/>
            </a:avLst>
          </a:prstGeom>
          <a:solidFill>
            <a:srgbClr val="2C3A5C"/>
          </a:solidFill>
          <a:ln w="12700">
            <a:solidFill>
              <a:srgbClr val="3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E9C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8346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preliminar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3657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conceito, partido, fluxograma e croqui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1965960"/>
            <a:ext cx="3520440" cy="2606040"/>
          </a:xfrm>
          <a:prstGeom prst="roundRect">
            <a:avLst>
              <a:gd name="adj" fmla="val 5263"/>
            </a:avLst>
          </a:prstGeom>
          <a:solidFill>
            <a:srgbClr val="B0573F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7532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8346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Anteprojeto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3657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DC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plantas cotadas e volumetria definida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0" y="4892040"/>
            <a:ext cx="12191695" cy="685800"/>
          </a:xfrm>
          <a:prstGeom prst="rect">
            <a:avLst/>
          </a:prstGeom>
          <a:solidFill>
            <a:srgbClr val="B85A40"/>
          </a:solidFill>
          <a:ln w="12700">
            <a:solidFill>
              <a:srgbClr val="B85A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892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Seguir a ordem da norma = menos retrabalho, mais clareza para quem projeta, aprova e constrói.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Referências: ABNT NBR 16636-1:2017. Elaboração e desenvolvimento de serviços técnicos especializados de projetos arquitetônicos e urbanísticos, Parte 1: Diretrizes e terminologia (itens 1, 3.4, 3.54, 3.67, 3.87, 3.91, 5.2.2).  ·  OLIVEIRA JÚNIOR, C. C. Centro Esportivo Arena Poty. TCC II, Arquitetura e Urbanismo, Teresina, 2026.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NBR 16636-1 — Etapas Iniciais do Projeto</dc:title>
  <dc:subject>PptxGenJS Presentation</dc:subject>
  <dc:creator>Cláudio Castro de Oliveira Júnior</dc:creator>
  <cp:lastModifiedBy>Cláudio Castro de Oliveira Júnior</cp:lastModifiedBy>
  <cp:revision>1</cp:revision>
  <dcterms:created xsi:type="dcterms:W3CDTF">2026-09-29T02:39:55Z</dcterms:created>
  <dcterms:modified xsi:type="dcterms:W3CDTF">2026-09-29T02:39:55Z</dcterms:modified>
</cp:coreProperties>
</file>